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700" b="0" i="0" u="none" strike="noStrike">
                <a:solidFill>
                  <a:srgbClr val="0038BF"/>
                </a:solidFill>
                <a:latin typeface="Noto Sans KR"/>
              </a:defRPr>
            </a:pPr>
            <a:r>
              <a:rPr sz="1700" b="0" i="0" u="none" strike="noStrike">
                <a:solidFill>
                  <a:srgbClr val="0038BF"/>
                </a:solidFill>
                <a:latin typeface="Noto Sans KR"/>
              </a:rPr>
              <a:t>3개년 방문객 목표 (만명)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방문객 목표</c:v>
                </c:pt>
              </c:strCache>
            </c:strRef>
          </c:tx>
          <c:spPr>
            <a:solidFill>
              <a:srgbClr val="5587C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2000" u="none">
                    <a:solidFill>
                      <a:srgbClr val="222222"/>
                    </a:solidFill>
                    <a:latin typeface="Noto Sans K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587C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38B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10B7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2028 · 1년차</c:v>
                  </c:pt>
                  <c:pt idx="1">
                    <c:v>2029 · 2년차</c:v>
                  </c:pt>
                  <c:pt idx="2">
                    <c:v>2030 · 3년차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25</c:v>
                </c:pt>
                <c:pt idx="2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2000" u="none">
                  <a:solidFill>
                    <a:srgbClr val="222222"/>
                  </a:solidFill>
                  <a:latin typeface="Noto Sans K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222222"/>
                </a:solidFill>
                <a:latin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9525" cap="flat">
              <a:solidFill>
                <a:srgbClr val="DDE5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45454"/>
                </a:solidFill>
                <a:latin typeface="Noto Sans KR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jpg"/><Relationship Id="rId4" Type="http://schemas.openxmlformats.org/officeDocument/2006/relationships/image" Target="../media/image1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0B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0_cov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0"/>
            <a:ext cx="8778240" cy="1028700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0" y="0"/>
            <a:ext cx="10241280" cy="10287000"/>
          </a:xfrm>
          <a:prstGeom prst="rect">
            <a:avLst/>
          </a:prstGeom>
          <a:solidFill>
            <a:srgbClr val="110B79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0" y="-2743200"/>
            <a:ext cx="5486400" cy="16459200"/>
          </a:xfrm>
          <a:prstGeom prst="roundRect">
            <a:avLst>
              <a:gd name="adj" fmla="val 20000"/>
            </a:avLst>
          </a:prstGeom>
          <a:solidFill>
            <a:srgbClr val="110B79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0" y="2331720"/>
            <a:ext cx="2377440" cy="0"/>
          </a:xfrm>
          <a:prstGeom prst="line">
            <a:avLst/>
          </a:prstGeom>
          <a:noFill/>
          <a:ln w="44450">
            <a:solidFill>
              <a:srgbClr val="5CE1E6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spc="400" kern="0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K-CHICKEN BELT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</a:t>
            </a:r>
            <a:endParaRPr lang="en-US" sz="8400" dirty="0"/>
          </a:p>
        </p:txBody>
      </p:sp>
      <p:sp>
        <p:nvSpPr>
          <p:cNvPr id="9" name="Text 7"/>
          <p:cNvSpPr/>
          <p:nvPr/>
        </p:nvSpPr>
        <p:spPr>
          <a:xfrm>
            <a:off x="914400" y="46177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 제안서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914400" y="5806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 치킨벨트를 완성하는 마지막 한 조각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914400" y="7772400"/>
            <a:ext cx="7680960" cy="0"/>
          </a:xfrm>
          <a:prstGeom prst="line">
            <a:avLst/>
          </a:prstGeom>
          <a:noFill/>
          <a:ln w="15875">
            <a:solidFill>
              <a:srgbClr val="3A3AA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800100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제출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103120" y="800100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 · 전북특별자치도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847648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103120" y="8476488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2026. 07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14400" y="895197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103120" y="8951976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제1회 2028년 10월 개최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100" kern="0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0" y="60350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  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80160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종합제안서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72768"/>
            <a:ext cx="1645920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883664"/>
            <a:ext cx="1645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</a:t>
            </a:r>
            <a:pPr algn="ctr" indent="0" marL="0">
              <a:buNone/>
            </a:pPr>
            <a:r>
              <a:rPr lang="en-US" sz="42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ndex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377440" y="2688336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지금 부안인가에서 시작해, 재원과 일정으로 끝맺습니다.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621024"/>
            <a:ext cx="16459200" cy="969264"/>
          </a:xfrm>
          <a:prstGeom prst="roundRect">
            <a:avLst>
              <a:gd name="adj" fmla="val 11321"/>
            </a:avLst>
          </a:prstGeom>
          <a:solidFill>
            <a:srgbClr val="D7EC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225296" y="3803904"/>
            <a:ext cx="914400" cy="603504"/>
          </a:xfrm>
          <a:prstGeom prst="roundRect">
            <a:avLst>
              <a:gd name="adj" fmla="val 15152"/>
            </a:avLst>
          </a:prstGeom>
          <a:solidFill>
            <a:srgbClr val="0038BF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225296" y="3803904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32304" y="374904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지금, 왜 부안인가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32304" y="4151376"/>
            <a:ext cx="1408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 연계 · 전북 치킨벨트 · 시장의 빈칸 · 부안의 자산 · 생활인구 · 지역브랜드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4718304"/>
            <a:ext cx="16459200" cy="969264"/>
          </a:xfrm>
          <a:prstGeom prst="roundRect">
            <a:avLst>
              <a:gd name="adj" fmla="val 11321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225296" y="4901184"/>
            <a:ext cx="914400" cy="603504"/>
          </a:xfrm>
          <a:prstGeom prst="roundRect">
            <a:avLst>
              <a:gd name="adj" fmla="val 15152"/>
            </a:avLst>
          </a:prstGeom>
          <a:solidFill>
            <a:srgbClr val="5587C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225296" y="4901184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432304" y="484632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닭, 그 이름의 역사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432304" y="5248656"/>
            <a:ext cx="1408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계림 설화 · 상징의 회복 · K-Chicken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400" y="5815584"/>
            <a:ext cx="16459200" cy="969264"/>
          </a:xfrm>
          <a:prstGeom prst="roundRect">
            <a:avLst>
              <a:gd name="adj" fmla="val 11321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225296" y="5998464"/>
            <a:ext cx="914400" cy="603504"/>
          </a:xfrm>
          <a:prstGeom prst="roundRect">
            <a:avLst>
              <a:gd name="adj" fmla="val 15152"/>
            </a:avLst>
          </a:prstGeom>
          <a:solidFill>
            <a:srgbClr val="5587C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225296" y="5998464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432304" y="594360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 계획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432304" y="6345936"/>
            <a:ext cx="1408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사계절 전략 · 사업 개요 · 공간 구성 · 시그니처 프로그램 · 동물복지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14400" y="6912864"/>
            <a:ext cx="16459200" cy="969264"/>
          </a:xfrm>
          <a:prstGeom prst="roundRect">
            <a:avLst>
              <a:gd name="adj" fmla="val 11321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225296" y="7095744"/>
            <a:ext cx="914400" cy="603504"/>
          </a:xfrm>
          <a:prstGeom prst="roundRect">
            <a:avLst>
              <a:gd name="adj" fmla="val 15152"/>
            </a:avLst>
          </a:prstGeom>
          <a:solidFill>
            <a:srgbClr val="5587CB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225296" y="7095744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432304" y="704088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검증과 리스크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2432304" y="7443216"/>
            <a:ext cx="1408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 분석 · 단계 목표 · 방역 리스크 대응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14400" y="8010144"/>
            <a:ext cx="16459200" cy="969264"/>
          </a:xfrm>
          <a:prstGeom prst="roundRect">
            <a:avLst>
              <a:gd name="adj" fmla="val 11321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225296" y="8193024"/>
            <a:ext cx="914400" cy="603504"/>
          </a:xfrm>
          <a:prstGeom prst="roundRect">
            <a:avLst>
              <a:gd name="adj" fmla="val 15152"/>
            </a:avLst>
          </a:prstGeom>
          <a:solidFill>
            <a:srgbClr val="5587CB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225296" y="8193024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2432304" y="813816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재원과 추진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2432304" y="8540496"/>
            <a:ext cx="1408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재원 조달 · 추진 일정 · 기대효과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0B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38560" y="-2011680"/>
            <a:ext cx="10058400" cy="10058400"/>
          </a:xfrm>
          <a:prstGeom prst="roundRect">
            <a:avLst>
              <a:gd name="adj" fmla="val 18182"/>
            </a:avLst>
          </a:prstGeom>
          <a:solidFill>
            <a:srgbClr val="0038B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3716000" y="5120640"/>
            <a:ext cx="7315200" cy="7315200"/>
          </a:xfrm>
          <a:prstGeom prst="roundRect">
            <a:avLst>
              <a:gd name="adj" fmla="val 20000"/>
            </a:avLst>
          </a:prstGeom>
          <a:solidFill>
            <a:srgbClr val="1A1490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14400" y="320040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914400" y="5394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지금, 왜 부안인가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6492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spc="300" kern="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 BUAN, WHY NOW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5230368"/>
            <a:ext cx="2926080" cy="0"/>
          </a:xfrm>
          <a:prstGeom prst="line">
            <a:avLst/>
          </a:prstGeom>
          <a:noFill/>
          <a:ln w="38100">
            <a:solidFill>
              <a:srgbClr val="5CE1E6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100" kern="0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0" y="60350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 요약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80160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종합제안서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72768"/>
            <a:ext cx="1645920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883664"/>
            <a:ext cx="1645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</a:t>
            </a:r>
            <a:pPr algn="ctr" indent="0" marL="0">
              <a:buNone/>
            </a:pPr>
            <a:r>
              <a:rPr lang="en-US" sz="42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xecutive Summary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377440" y="2688336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익산에 「치킨로드」가 있습니다. 부안에는 「치킨 페스티벌」이 필요합니다.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29584"/>
            <a:ext cx="5212080" cy="4663440"/>
          </a:xfrm>
          <a:prstGeom prst="roundRect">
            <a:avLst>
              <a:gd name="adj" fmla="val 2353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298448" y="3895344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545454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298448" y="389534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PROBLEM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82112" y="389534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98448" y="4498848"/>
            <a:ext cx="4443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견학뿐</a:t>
            </a:r>
            <a:endParaRPr lang="en-US" sz="5400" dirty="0"/>
          </a:p>
        </p:txBody>
      </p:sp>
      <p:sp>
        <p:nvSpPr>
          <p:cNvPr id="13" name="Shape 11"/>
          <p:cNvSpPr/>
          <p:nvPr/>
        </p:nvSpPr>
        <p:spPr>
          <a:xfrm>
            <a:off x="1554480" y="5650992"/>
            <a:ext cx="393192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335024" y="5998464"/>
            <a:ext cx="118872" cy="118872"/>
          </a:xfrm>
          <a:prstGeom prst="ellipse">
            <a:avLst/>
          </a:prstGeom>
          <a:solidFill>
            <a:srgbClr val="545454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627632" y="5870448"/>
            <a:ext cx="4078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전북의 닭 산업 관광은 평일 · 개인 중심의</a:t>
            </a:r>
            <a:endParaRPr lang="en-US" sz="18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상설 견학에 머물러 있습니다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335024" y="6784848"/>
            <a:ext cx="118872" cy="118872"/>
          </a:xfrm>
          <a:prstGeom prst="ellipse">
            <a:avLst/>
          </a:prstGeom>
          <a:solidFill>
            <a:srgbClr val="545454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627632" y="6656832"/>
            <a:ext cx="4078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주말 · 가족 단위 유입 장치가 없습니다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335024" y="7571232"/>
            <a:ext cx="118872" cy="118872"/>
          </a:xfrm>
          <a:prstGeom prst="ellipse">
            <a:avLst/>
          </a:prstGeom>
          <a:solidFill>
            <a:srgbClr val="545454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627632" y="7443216"/>
            <a:ext cx="4078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= 닭이라는 연상이 형성되지 않았습니다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537960" y="3529584"/>
            <a:ext cx="5212080" cy="4663440"/>
          </a:xfrm>
          <a:prstGeom prst="roundRect">
            <a:avLst>
              <a:gd name="adj" fmla="val 2353"/>
            </a:avLst>
          </a:prstGeom>
          <a:solidFill>
            <a:srgbClr val="D7ECFF"/>
          </a:solidFill>
          <a:ln/>
          <a:effectLst>
            <a:outerShdw sx="100000" sy="100000" kx="0" ky="0" algn="bl" rotWithShape="0" blurRad="177800" dist="25400" dir="5400000">
              <a:srgbClr val="0038BF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922008" y="3895344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0038BF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922008" y="389534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SOLUTION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805672" y="389534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해법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922008" y="4498848"/>
            <a:ext cx="4443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축제</a:t>
            </a:r>
            <a:endParaRPr lang="en-US" sz="5400" dirty="0"/>
          </a:p>
        </p:txBody>
      </p:sp>
      <p:sp>
        <p:nvSpPr>
          <p:cNvPr id="25" name="Shape 23"/>
          <p:cNvSpPr/>
          <p:nvPr/>
        </p:nvSpPr>
        <p:spPr>
          <a:xfrm>
            <a:off x="7178040" y="5650992"/>
            <a:ext cx="393192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958584" y="5998464"/>
            <a:ext cx="118872" cy="118872"/>
          </a:xfrm>
          <a:prstGeom prst="ellipse">
            <a:avLst/>
          </a:prstGeom>
          <a:solidFill>
            <a:srgbClr val="0038BF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251192" y="5870448"/>
            <a:ext cx="4078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익산은 상설 산업관광, 부안은 연례 미식축제로</a:t>
            </a:r>
            <a:endParaRPr lang="en-US" sz="18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역할을 나눕니다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958584" y="6784848"/>
            <a:ext cx="118872" cy="118872"/>
          </a:xfrm>
          <a:prstGeom prst="ellipse">
            <a:avLst/>
          </a:prstGeom>
          <a:solidFill>
            <a:srgbClr val="0038BF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251192" y="6656832"/>
            <a:ext cx="4078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참프레 견학관과 변산 관광을 결합합니다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958584" y="7571232"/>
            <a:ext cx="118872" cy="118872"/>
          </a:xfrm>
          <a:prstGeom prst="ellipse">
            <a:avLst/>
          </a:prstGeom>
          <a:solidFill>
            <a:srgbClr val="0038BF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251192" y="7443216"/>
            <a:ext cx="4078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마실축제(봄)와 계절을 분담합니다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2161520" y="3529584"/>
            <a:ext cx="5212080" cy="4663440"/>
          </a:xfrm>
          <a:prstGeom prst="roundRect">
            <a:avLst>
              <a:gd name="adj" fmla="val 2353"/>
            </a:avLst>
          </a:prstGeom>
          <a:solidFill>
            <a:srgbClr val="EAF0F6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2545568" y="3895344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5CE1E6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12545568" y="389534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REQUEST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4429232" y="389534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12545568" y="4498848"/>
            <a:ext cx="4443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</a:t>
            </a:r>
            <a:endParaRPr lang="en-US" sz="5400" dirty="0"/>
          </a:p>
        </p:txBody>
      </p:sp>
      <p:sp>
        <p:nvSpPr>
          <p:cNvPr id="37" name="Shape 35"/>
          <p:cNvSpPr/>
          <p:nvPr/>
        </p:nvSpPr>
        <p:spPr>
          <a:xfrm>
            <a:off x="12801600" y="5650992"/>
            <a:ext cx="393192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2582144" y="5998464"/>
            <a:ext cx="118872" cy="118872"/>
          </a:xfrm>
          <a:prstGeom prst="ellipse">
            <a:avLst/>
          </a:prstGeom>
          <a:solidFill>
            <a:srgbClr val="5CE1E6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2874752" y="5870448"/>
            <a:ext cx="4078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제1회 개최까지 준비기간 24개월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2582144" y="6784848"/>
            <a:ext cx="118872" cy="118872"/>
          </a:xfrm>
          <a:prstGeom prst="ellipse">
            <a:avLst/>
          </a:prstGeom>
          <a:solidFill>
            <a:srgbClr val="5CE1E6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12874752" y="6656832"/>
            <a:ext cx="4078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2028년도 지방소멸대응기금 투자계획 반영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2582144" y="7571232"/>
            <a:ext cx="118872" cy="118872"/>
          </a:xfrm>
          <a:prstGeom prst="ellipse">
            <a:avLst/>
          </a:prstGeom>
          <a:solidFill>
            <a:srgbClr val="5CE1E6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2874752" y="7443216"/>
            <a:ext cx="4078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 차원 예산 매칭과 K-치킨벨트 거점 등재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914400" y="8540496"/>
            <a:ext cx="16459200" cy="749808"/>
          </a:xfrm>
          <a:prstGeom prst="roundRect">
            <a:avLst>
              <a:gd name="adj" fmla="val 14634"/>
            </a:avLst>
          </a:prstGeom>
          <a:solidFill>
            <a:srgbClr val="110B79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1371600" y="8540496"/>
            <a:ext cx="1554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전북은 이미 절반을 가졌습니다. 나머지 절반이 부안에 있습니다.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914400" y="9582912"/>
            <a:ext cx="1645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농림축산식품부(2026.3.19 / 6.29) · 하림 · 참프레 · 부안군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100" kern="0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0" y="60350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 연계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80160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종합제안서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72768"/>
            <a:ext cx="1645920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883664"/>
            <a:ext cx="1645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</a:t>
            </a:r>
            <a:pPr algn="ctr" indent="0" marL="0">
              <a:buNone/>
            </a:pPr>
            <a:r>
              <a:rPr lang="en-US" sz="42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olicy Alignment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377440" y="2688336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농림축산식품부는 「K-푸드 세계화의 전진기지, 농생명수도 전북」을 통해 4대 약속을 제시했습니다.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29584"/>
            <a:ext cx="5212080" cy="1572768"/>
          </a:xfrm>
          <a:prstGeom prst="roundRect">
            <a:avLst>
              <a:gd name="adj" fmla="val 6977"/>
            </a:avLst>
          </a:prstGeom>
          <a:solidFill>
            <a:srgbClr val="5587C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188720" y="371246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국정과제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4059936"/>
            <a:ext cx="4663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국민 먹거리를 지키는</a:t>
            </a:r>
            <a:endParaRPr lang="en-US" sz="190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국가전략산업으로 농업 육성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181344" y="4169664"/>
            <a:ext cx="301752" cy="292608"/>
          </a:xfrm>
          <a:prstGeom prst="rightArrow">
            <a:avLst/>
          </a:prstGeom>
          <a:solidFill>
            <a:srgbClr val="DDE5F3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537960" y="3529584"/>
            <a:ext cx="5212080" cy="1572768"/>
          </a:xfrm>
          <a:prstGeom prst="roundRect">
            <a:avLst>
              <a:gd name="adj" fmla="val 6977"/>
            </a:avLst>
          </a:prstGeom>
          <a:solidFill>
            <a:srgbClr val="0038BF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812280" y="371246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5대 국정목표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12280" y="4059936"/>
            <a:ext cx="4663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모두가 잘사는</a:t>
            </a:r>
            <a:endParaRPr lang="en-US" sz="190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균형성장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11804904" y="4169664"/>
            <a:ext cx="301752" cy="292608"/>
          </a:xfrm>
          <a:prstGeom prst="rightArrow">
            <a:avLst/>
          </a:prstGeom>
          <a:solidFill>
            <a:srgbClr val="DDE5F3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2161520" y="3529584"/>
            <a:ext cx="5212080" cy="1572768"/>
          </a:xfrm>
          <a:prstGeom prst="roundRect">
            <a:avLst>
              <a:gd name="adj" fmla="val 6977"/>
            </a:avLst>
          </a:prstGeom>
          <a:solidFill>
            <a:srgbClr val="110B79"/>
          </a:solidFill>
          <a:ln/>
          <a:effectLst>
            <a:outerShdw sx="100000" sy="100000" kx="0" ky="0" algn="bl" rotWithShape="0" blurRad="177800" dist="25400" dir="5400000">
              <a:srgbClr val="0038BF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2435840" y="371246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 지역공약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435840" y="4059936"/>
            <a:ext cx="4663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전북을 농생명산업</a:t>
            </a:r>
            <a:endParaRPr lang="en-US" sz="190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수도로 육성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914400" y="5413248"/>
            <a:ext cx="3877056" cy="1335024"/>
          </a:xfrm>
          <a:prstGeom prst="roundRect">
            <a:avLst>
              <a:gd name="adj" fmla="val 8219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170432" y="55778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70432" y="5907024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국가식품클러스터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170432" y="6291072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K-푸드 수출과 혁신의 중심지로 육성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084064" y="5413248"/>
            <a:ext cx="3877056" cy="1335024"/>
          </a:xfrm>
          <a:prstGeom prst="roundRect">
            <a:avLst>
              <a:gd name="adj" fmla="val 8219"/>
            </a:avLst>
          </a:prstGeom>
          <a:solidFill>
            <a:srgbClr val="D7ECFF"/>
          </a:solidFill>
          <a:ln w="25400">
            <a:solidFill>
              <a:srgbClr val="0038B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340096" y="55778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40096" y="5907024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음식 · 문화자원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5340096" y="6291072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수출 · 관광상품으로 전환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253728" y="5413248"/>
            <a:ext cx="3877056" cy="1335024"/>
          </a:xfrm>
          <a:prstGeom prst="roundRect">
            <a:avLst>
              <a:gd name="adj" fmla="val 8219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509760" y="55778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509760" y="5907024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스마트농업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9509760" y="6291072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전북형 재생에너지 모델 구축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3423392" y="5413248"/>
            <a:ext cx="3877056" cy="1335024"/>
          </a:xfrm>
          <a:prstGeom prst="roundRect">
            <a:avLst>
              <a:gd name="adj" fmla="val 8219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3679424" y="55778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3679424" y="5907024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농생명 전후방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13679424" y="6291072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종자 · 지능형 농기계 혁신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914400" y="6949440"/>
            <a:ext cx="16459200" cy="1280160"/>
          </a:xfrm>
          <a:prstGeom prst="roundRect">
            <a:avLst>
              <a:gd name="adj" fmla="val 8571"/>
            </a:avLst>
          </a:prstGeom>
          <a:solidFill>
            <a:srgbClr val="110B79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1371600" y="709574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「4.2 지역의 맛을 수출 · 관광 브랜드로」 원문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371600" y="7424928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"지역 음식과 관광자원을 결합한 K-미식벨트 '30년까지 25개 조성"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509760" y="7424928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"치킨로드, 스타마을 등 지역 음식관광 상품과 시너지 창출"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914400" y="8540496"/>
            <a:ext cx="16459200" cy="749808"/>
          </a:xfrm>
          <a:prstGeom prst="roundRect">
            <a:avLst>
              <a:gd name="adj" fmla="val 14634"/>
            </a:avLst>
          </a:prstGeom>
          <a:solidFill>
            <a:srgbClr val="110B79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1371600" y="8540496"/>
            <a:ext cx="1554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닭축제는 새로운 요청이 아니라, 이미 발표된 정책의 이행입니다.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914400" y="9582912"/>
            <a:ext cx="1645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농림축산식품부 「K-푸드 세계화의 전진기지, 농생명수도 전북」 정책 발표자료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100" kern="0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0" y="60350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 치킨벨트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80160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종합제안서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72768"/>
            <a:ext cx="1645920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883664"/>
            <a:ext cx="1645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</a:t>
            </a:r>
            <a:pPr algn="ctr" indent="0" marL="0">
              <a:buNone/>
            </a:pPr>
            <a:r>
              <a:rPr lang="en-US" sz="42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eonbuk Chicken Belt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377440" y="2688336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닭고기 계열화 대기업 두 곳을 동시에 보유한 시 · 도는 전국에서 전북이 유일합니다.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29584"/>
            <a:ext cx="8028432" cy="4059936"/>
          </a:xfrm>
          <a:prstGeom prst="roundRect">
            <a:avLst>
              <a:gd name="adj" fmla="val 2703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16736" y="378561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익산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017520" y="391363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하림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08192" y="3877056"/>
            <a:ext cx="2432304" cy="475488"/>
          </a:xfrm>
          <a:prstGeom prst="roundRect">
            <a:avLst>
              <a:gd name="adj" fmla="val 17308"/>
            </a:avLst>
          </a:prstGeom>
          <a:solidFill>
            <a:srgbClr val="5587C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08192" y="3877056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상설 산업관광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16736" y="4590288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2,600억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754880" y="4718304"/>
            <a:ext cx="3785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2020년 도계장 리모델링 투자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316736" y="5504688"/>
            <a:ext cx="722376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353312" y="5833872"/>
            <a:ext cx="109728" cy="109728"/>
          </a:xfrm>
          <a:prstGeom prst="ellipse">
            <a:avLst/>
          </a:prstGeom>
          <a:solidFill>
            <a:srgbClr val="5587C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645920" y="5687568"/>
            <a:ext cx="6894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하림 치킨로드(HCR) — 견학로 · 투어창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353312" y="6327648"/>
            <a:ext cx="109728" cy="109728"/>
          </a:xfrm>
          <a:prstGeom prst="ellipse">
            <a:avLst/>
          </a:prstGeom>
          <a:solidFill>
            <a:srgbClr val="5587C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645920" y="6181344"/>
            <a:ext cx="6894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발골쇼 · 시식키친 · 미디어 체험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353312" y="6821424"/>
            <a:ext cx="109728" cy="109728"/>
          </a:xfrm>
          <a:prstGeom prst="ellipse">
            <a:avLst/>
          </a:prstGeom>
          <a:solidFill>
            <a:srgbClr val="5587CB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645920" y="6675120"/>
            <a:ext cx="6894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HKR · 하림 푸드로드로 확장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16736" y="7168896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농식품부 K-치킨벨트 체험형 콘텐츠로 명시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345168" y="3529584"/>
            <a:ext cx="8028432" cy="4059936"/>
          </a:xfrm>
          <a:prstGeom prst="roundRect">
            <a:avLst>
              <a:gd name="adj" fmla="val 2703"/>
            </a:avLst>
          </a:prstGeom>
          <a:solidFill>
            <a:srgbClr val="D7ECFF"/>
          </a:solidFill>
          <a:ln w="25400">
            <a:solidFill>
              <a:srgbClr val="0038BF"/>
            </a:solidFill>
            <a:prstDash val="solid"/>
          </a:ln>
          <a:effectLst>
            <a:outerShdw sx="100000" sy="100000" kx="0" ky="0" algn="bl" rotWithShape="0" blurRad="177800" dist="25400" dir="5400000">
              <a:srgbClr val="0038BF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747504" y="378561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11448288" y="391363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참프레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4538960" y="3877056"/>
            <a:ext cx="2432304" cy="475488"/>
          </a:xfrm>
          <a:prstGeom prst="roundRect">
            <a:avLst>
              <a:gd name="adj" fmla="val 17308"/>
            </a:avLst>
          </a:prstGeom>
          <a:solidFill>
            <a:srgbClr val="0038BF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4538960" y="3877056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연례 미식축제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747504" y="4590288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2,310억</a:t>
            </a:r>
            <a:endParaRPr lang="en-US" sz="4400" dirty="0"/>
          </a:p>
        </p:txBody>
      </p:sp>
      <p:sp>
        <p:nvSpPr>
          <p:cNvPr id="29" name="Text 27"/>
          <p:cNvSpPr/>
          <p:nvPr/>
        </p:nvSpPr>
        <p:spPr>
          <a:xfrm>
            <a:off x="13185648" y="4718304"/>
            <a:ext cx="3785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2013년 공장 완공 투자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747504" y="5504688"/>
            <a:ext cx="722376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9784080" y="5833872"/>
            <a:ext cx="109728" cy="109728"/>
          </a:xfrm>
          <a:prstGeom prst="ellipse">
            <a:avLst/>
          </a:prstGeom>
          <a:solidFill>
            <a:srgbClr val="0038BF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0076688" y="5687568"/>
            <a:ext cx="6894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최초 동물복지 육용계 인증(2015)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784080" y="6327648"/>
            <a:ext cx="109728" cy="109728"/>
          </a:xfrm>
          <a:prstGeom prst="ellipse">
            <a:avLst/>
          </a:prstGeom>
          <a:solidFill>
            <a:srgbClr val="0038BF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10076688" y="6181344"/>
            <a:ext cx="6894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동물복지 도축장 지정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9784080" y="6821424"/>
            <a:ext cx="109728" cy="109728"/>
          </a:xfrm>
          <a:prstGeom prst="ellipse">
            <a:avLst/>
          </a:prstGeom>
          <a:solidFill>
            <a:srgbClr val="0038BF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10076688" y="6675120"/>
            <a:ext cx="6894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견학관 상시 운영 · 전북 공식 관광콘텐츠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747504" y="7168896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변산반도 국립공원을 낀 유일한 닭 산업 도시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14400" y="77906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 치킨벨트 순환 코스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914400" y="8211312"/>
            <a:ext cx="2962656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587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914400" y="8211312"/>
            <a:ext cx="2962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익산 하림 치킨로드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904488" y="8375904"/>
            <a:ext cx="219456" cy="182880"/>
          </a:xfrm>
          <a:prstGeom prst="rightArrow">
            <a:avLst/>
          </a:prstGeom>
          <a:solidFill>
            <a:srgbClr val="DDE5F3"/>
          </a:solidFill>
          <a:ln/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4151376" y="8211312"/>
            <a:ext cx="2962656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587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151376" y="8211312"/>
            <a:ext cx="2962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국가식품클러스터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141464" y="8375904"/>
            <a:ext cx="219456" cy="182880"/>
          </a:xfrm>
          <a:prstGeom prst="rightArrow">
            <a:avLst/>
          </a:prstGeom>
          <a:solidFill>
            <a:srgbClr val="DDE5F3"/>
          </a:solidFill>
          <a:ln/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7388352" y="8211312"/>
            <a:ext cx="2962656" cy="512064"/>
          </a:xfrm>
          <a:prstGeom prst="roundRect">
            <a:avLst>
              <a:gd name="adj" fmla="val 16071"/>
            </a:avLst>
          </a:prstGeom>
          <a:solidFill>
            <a:srgbClr val="0038BF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7388352" y="8211312"/>
            <a:ext cx="2962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참프레 견학관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10378440" y="8375904"/>
            <a:ext cx="219456" cy="182880"/>
          </a:xfrm>
          <a:prstGeom prst="rightArrow">
            <a:avLst/>
          </a:prstGeom>
          <a:solidFill>
            <a:srgbClr val="DDE5F3"/>
          </a:solidFill>
          <a:ln/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10625328" y="8211312"/>
            <a:ext cx="2962656" cy="512064"/>
          </a:xfrm>
          <a:prstGeom prst="roundRect">
            <a:avLst>
              <a:gd name="adj" fmla="val 16071"/>
            </a:avLst>
          </a:prstGeom>
          <a:solidFill>
            <a:srgbClr val="0038BF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0625328" y="8211312"/>
            <a:ext cx="2962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13615416" y="8375904"/>
            <a:ext cx="219456" cy="182880"/>
          </a:xfrm>
          <a:prstGeom prst="rightArrow">
            <a:avLst/>
          </a:prstGeom>
          <a:solidFill>
            <a:srgbClr val="DDE5F3"/>
          </a:solidFill>
          <a:ln/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13862304" y="8211312"/>
            <a:ext cx="2962656" cy="512064"/>
          </a:xfrm>
          <a:prstGeom prst="roundRect">
            <a:avLst>
              <a:gd name="adj" fmla="val 16071"/>
            </a:avLst>
          </a:prstGeom>
          <a:solidFill>
            <a:srgbClr val="0038BF"/>
          </a:solidFill>
          <a:ln/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13862304" y="8211312"/>
            <a:ext cx="2962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변산반도 · 새만금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914400" y="9582912"/>
            <a:ext cx="1645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하림 보도자료(2022) · 참프레 · 농림축산식품부 K-치킨벨트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100" kern="0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0" y="60350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시장의 빈칸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80160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종합제안서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72768"/>
            <a:ext cx="1645920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883664"/>
            <a:ext cx="1645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</a:t>
            </a:r>
            <a:pPr algn="ctr" indent="0" marL="0">
              <a:buNone/>
            </a:pPr>
            <a:r>
              <a:rPr lang="en-US" sz="42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 Empty Quadrant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377440" y="2688336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전국의 닭 관광은 「맛집」과 「견학」 둘뿐입니다. 산업 기반 위의 가족형 축제는 없습니다.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542032" y="3694176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· 평일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269480" y="3694176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가족 · 주말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4206240"/>
            <a:ext cx="148132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  비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(맛집)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6300216"/>
            <a:ext cx="148132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  산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(산업)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542032" y="4206240"/>
            <a:ext cx="4617720" cy="1984248"/>
          </a:xfrm>
          <a:prstGeom prst="roundRect">
            <a:avLst>
              <a:gd name="adj" fmla="val 5530"/>
            </a:avLst>
          </a:prstGeom>
          <a:solidFill>
            <a:srgbClr val="F5F8FC"/>
          </a:solidFill>
          <a:ln w="12700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816352" y="4590288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 닭요리 맛집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816352" y="5138928"/>
            <a:ext cx="4069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춘천 닭갈비 · 안동 찜닭 · 속초 닭강정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소비 거점이나 생산 기반이 없습니다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269480" y="4206240"/>
            <a:ext cx="4617720" cy="1984248"/>
          </a:xfrm>
          <a:prstGeom prst="roundRect">
            <a:avLst>
              <a:gd name="adj" fmla="val 5530"/>
            </a:avLst>
          </a:prstGeom>
          <a:solidFill>
            <a:srgbClr val="F5F8FC"/>
          </a:solidFill>
          <a:ln w="12700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543800" y="4590288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대형 소비 축제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543800" y="5138928"/>
            <a:ext cx="4069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대구 치맥페스티벌 115만명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규모는 크지만 생산 서사가 없습니다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542032" y="6300216"/>
            <a:ext cx="4617720" cy="1984248"/>
          </a:xfrm>
          <a:prstGeom prst="roundRect">
            <a:avLst>
              <a:gd name="adj" fmla="val 5530"/>
            </a:avLst>
          </a:prstGeom>
          <a:solidFill>
            <a:srgbClr val="F5F8FC"/>
          </a:solidFill>
          <a:ln w="12700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816352" y="6684264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견학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816352" y="7232904"/>
            <a:ext cx="4069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익산 하림 · 부안 참프레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주말 가족 유입에 한계가 있습니다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269480" y="6300216"/>
            <a:ext cx="4617720" cy="1984248"/>
          </a:xfrm>
          <a:prstGeom prst="roundRect">
            <a:avLst>
              <a:gd name="adj" fmla="val 5530"/>
            </a:avLst>
          </a:prstGeom>
          <a:solidFill>
            <a:srgbClr val="0038BF"/>
          </a:solidFill>
          <a:ln w="31750">
            <a:solidFill>
              <a:srgbClr val="5C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0038BF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543800" y="6684264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비어 있는 칸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543800" y="7232904"/>
            <a:ext cx="4069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 기반 위에 세워진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가족형 미식 축제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2289536" y="3529584"/>
            <a:ext cx="5084064" cy="4754880"/>
          </a:xfrm>
          <a:prstGeom prst="roundRect">
            <a:avLst>
              <a:gd name="adj" fmla="val 2308"/>
            </a:avLst>
          </a:prstGeom>
          <a:solidFill>
            <a:srgbClr val="110B79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2673584" y="3840480"/>
            <a:ext cx="4315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이 칸이 비어 있나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2710160" y="4590288"/>
            <a:ext cx="118872" cy="118872"/>
          </a:xfrm>
          <a:prstGeom prst="ellipse">
            <a:avLst/>
          </a:prstGeom>
          <a:solidFill>
            <a:srgbClr val="5CE1E6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3021056" y="4443984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맛집 거점은 산업 기반이 없다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2710160" y="5248656"/>
            <a:ext cx="118872" cy="118872"/>
          </a:xfrm>
          <a:prstGeom prst="ellipse">
            <a:avLst/>
          </a:prstGeom>
          <a:solidFill>
            <a:srgbClr val="5CE1E6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3021056" y="5102352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견학은 주말 · 가족 유입에 한계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2710160" y="5907024"/>
            <a:ext cx="118872" cy="118872"/>
          </a:xfrm>
          <a:prstGeom prst="ellipse">
            <a:avLst/>
          </a:prstGeom>
          <a:solidFill>
            <a:srgbClr val="5CE1E6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3021056" y="5760720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대형 축제는 생산 서사가 없다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2673584" y="6492240"/>
            <a:ext cx="4315968" cy="0"/>
          </a:xfrm>
          <a:prstGeom prst="line">
            <a:avLst/>
          </a:prstGeom>
          <a:noFill/>
          <a:ln w="15875">
            <a:solidFill>
              <a:srgbClr val="3A3AA8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2673584" y="6656832"/>
            <a:ext cx="4315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부안만 세 조건을 모두 충족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12673584" y="7132320"/>
            <a:ext cx="4315968" cy="310896"/>
          </a:xfrm>
          <a:prstGeom prst="roundRect">
            <a:avLst>
              <a:gd name="adj" fmla="val 17647"/>
            </a:avLst>
          </a:prstGeom>
          <a:solidFill>
            <a:srgbClr val="0038BF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2819888" y="71323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 · 가공 기반 (참프레)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12673584" y="7516368"/>
            <a:ext cx="4315968" cy="310896"/>
          </a:xfrm>
          <a:prstGeom prst="roundRect">
            <a:avLst>
              <a:gd name="adj" fmla="val 17647"/>
            </a:avLst>
          </a:prstGeom>
          <a:solidFill>
            <a:srgbClr val="0038BF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2819888" y="751636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관광 자원 (변산 · 새만금)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12673584" y="7900416"/>
            <a:ext cx="4315968" cy="310896"/>
          </a:xfrm>
          <a:prstGeom prst="roundRect">
            <a:avLst>
              <a:gd name="adj" fmla="val 17647"/>
            </a:avLst>
          </a:prstGeom>
          <a:solidFill>
            <a:srgbClr val="0038BF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2819888" y="790041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축제 운영 역량 (마실축제)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914400" y="8540496"/>
            <a:ext cx="16459200" cy="749808"/>
          </a:xfrm>
          <a:prstGeom prst="roundRect">
            <a:avLst>
              <a:gd name="adj" fmla="val 14634"/>
            </a:avLst>
          </a:prstGeom>
          <a:solidFill>
            <a:srgbClr val="110B79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1371600" y="8540496"/>
            <a:ext cx="1554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전국에서 이 칸을 채울 수 있는 곳은 부안뿐입니다.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100" kern="0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0" y="60350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부안의 자산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80160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종합제안서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72768"/>
            <a:ext cx="1645920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883664"/>
            <a:ext cx="1645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pPr algn="ctr" indent="0" marL="0">
              <a:buNone/>
            </a:pPr>
            <a:r>
              <a:rPr lang="en-US" sz="42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ssets in Place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377440" y="2688336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축제를 위해 새 건물을 짓지 않습니다. 이미 문을 연 시설을 연결합니다.</a:t>
            </a:r>
            <a:endParaRPr lang="en-US" sz="2000" dirty="0"/>
          </a:p>
        </p:txBody>
      </p:sp>
      <p:pic>
        <p:nvPicPr>
          <p:cNvPr id="30" name="Picture 29" descr="1_charmf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529584"/>
            <a:ext cx="7680960" cy="3291840"/>
          </a:xfrm>
          <a:prstGeom prst="rect">
            <a:avLst/>
          </a:prstGeom>
        </p:spPr>
      </p:pic>
      <p:pic>
        <p:nvPicPr>
          <p:cNvPr id="31" name="Picture 30" descr="2_buan_far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6967728"/>
            <a:ext cx="3703320" cy="1316736"/>
          </a:xfrm>
          <a:prstGeom prst="rect">
            <a:avLst/>
          </a:prstGeom>
        </p:spPr>
      </p:pic>
      <p:sp>
        <p:nvSpPr>
          <p:cNvPr id="12" name="Shape 10"/>
          <p:cNvSpPr/>
          <p:nvPr/>
        </p:nvSpPr>
        <p:spPr>
          <a:xfrm>
            <a:off x="4892040" y="6967728"/>
            <a:ext cx="3703320" cy="1316736"/>
          </a:xfrm>
          <a:prstGeom prst="roundRect">
            <a:avLst>
              <a:gd name="adj" fmla="val 8333"/>
            </a:avLst>
          </a:prstGeom>
          <a:solidFill>
            <a:srgbClr val="110B79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120640" y="71140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참프레 견학관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120640" y="751636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발골쇼 · 참프레 파크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시식 프로그램 상시 운영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997696" y="3529584"/>
            <a:ext cx="8375904" cy="1115568"/>
          </a:xfrm>
          <a:prstGeom prst="roundRect">
            <a:avLst>
              <a:gd name="adj" fmla="val 9836"/>
            </a:avLst>
          </a:prstGeom>
          <a:solidFill>
            <a:srgbClr val="D7EC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400032" y="3529584"/>
            <a:ext cx="3657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2,310억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13203936" y="3529584"/>
            <a:ext cx="376732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공장 투자액 · 2013년 완공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997696" y="4828032"/>
            <a:ext cx="8375904" cy="1115568"/>
          </a:xfrm>
          <a:prstGeom prst="roundRect">
            <a:avLst>
              <a:gd name="adj" fmla="val 9836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400032" y="4828032"/>
            <a:ext cx="3657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787명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13203936" y="4828032"/>
            <a:ext cx="376732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고용 규모 · 2019년 기준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997696" y="6126480"/>
            <a:ext cx="8375904" cy="1115568"/>
          </a:xfrm>
          <a:prstGeom prst="roundRect">
            <a:avLst>
              <a:gd name="adj" fmla="val 9836"/>
            </a:avLst>
          </a:prstGeom>
          <a:solidFill>
            <a:srgbClr val="D7ECFF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400032" y="6126480"/>
            <a:ext cx="3657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2015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13203936" y="6126480"/>
            <a:ext cx="376732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최초 동물복지 육용계 인증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997696" y="7424928"/>
            <a:ext cx="8375904" cy="1115568"/>
          </a:xfrm>
          <a:prstGeom prst="roundRect">
            <a:avLst>
              <a:gd name="adj" fmla="val 9836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400032" y="7424928"/>
            <a:ext cx="3657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최초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13203936" y="7424928"/>
            <a:ext cx="376732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동물복지 도축장 지정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14400" y="8540496"/>
            <a:ext cx="16459200" cy="749808"/>
          </a:xfrm>
          <a:prstGeom prst="roundRect">
            <a:avLst>
              <a:gd name="adj" fmla="val 14634"/>
            </a:avLst>
          </a:prstGeom>
          <a:solidFill>
            <a:srgbClr val="110B79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371600" y="8540496"/>
            <a:ext cx="1554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필요한 것은 건물이 아니라, 그 건물에 사람을 부를 이유입니다.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914400" y="9582912"/>
            <a:ext cx="1645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디지털부안문화대전 · 참프레 공식 · 투어전북 · 전북특별자치도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100" kern="0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0" y="60350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생활인구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80160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종합제안서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72768"/>
            <a:ext cx="1645920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883664"/>
            <a:ext cx="1645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</a:t>
            </a:r>
            <a:pPr algn="ctr" indent="0" marL="0">
              <a:buNone/>
            </a:pPr>
            <a:r>
              <a:rPr lang="en-US" sz="42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eal Population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377440" y="2688336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부안에는 이미 사람이 옵니다. 다만 그 방문에 아직 이름이 없습니다.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29584"/>
            <a:ext cx="9692640" cy="4754880"/>
          </a:xfrm>
          <a:prstGeom prst="roundRect">
            <a:avLst>
              <a:gd name="adj" fmla="val 2308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651760" y="7095834"/>
            <a:ext cx="1920240" cy="365670"/>
          </a:xfrm>
          <a:prstGeom prst="rect">
            <a:avLst/>
          </a:prstGeom>
          <a:solidFill>
            <a:srgbClr val="5587CB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949440" y="4626864"/>
            <a:ext cx="1920240" cy="2834640"/>
          </a:xfrm>
          <a:prstGeom prst="rect">
            <a:avLst/>
          </a:prstGeom>
          <a:solidFill>
            <a:srgbClr val="0038B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011680" y="649233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46,946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309360" y="3968496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363,921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1554480" y="7461504"/>
            <a:ext cx="8412480" cy="0"/>
          </a:xfrm>
          <a:prstGeom prst="line">
            <a:avLst/>
          </a:prstGeom>
          <a:noFill/>
          <a:ln w="19050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011680" y="760780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등록인구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 6 기준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760780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생활인구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 4Q 평균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82896" y="5541264"/>
            <a:ext cx="1773936" cy="822960"/>
          </a:xfrm>
          <a:prstGeom prst="roundRect">
            <a:avLst>
              <a:gd name="adj" fmla="val 13333"/>
            </a:avLst>
          </a:prstGeom>
          <a:solidFill>
            <a:srgbClr val="5CE1E6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882896" y="5541264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110B7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 7.7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11009376" y="3529584"/>
            <a:ext cx="6364224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9050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1411712" y="3840480"/>
            <a:ext cx="5559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 인구감소지역</a:t>
            </a:r>
            <a:endParaRPr lang="en-US" sz="2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체류인구 순위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1411712" y="4773168"/>
            <a:ext cx="5559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 월평균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1411712" y="5212080"/>
            <a:ext cx="5559552" cy="694944"/>
          </a:xfrm>
          <a:prstGeom prst="roundRect">
            <a:avLst>
              <a:gd name="adj" fmla="val 15789"/>
            </a:avLst>
          </a:prstGeom>
          <a:solidFill>
            <a:srgbClr val="D7ECFF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1612880" y="5212080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2198096" y="5212080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118336" y="5212080"/>
            <a:ext cx="2761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292,141명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1411712" y="6053328"/>
            <a:ext cx="5559552" cy="694944"/>
          </a:xfrm>
          <a:prstGeom prst="roundRect">
            <a:avLst>
              <a:gd name="adj" fmla="val 15789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1612880" y="6053328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2198096" y="6053328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필요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118336" y="6053328"/>
            <a:ext cx="2761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1411712" y="6894576"/>
            <a:ext cx="5559552" cy="694944"/>
          </a:xfrm>
          <a:prstGeom prst="roundRect">
            <a:avLst>
              <a:gd name="adj" fmla="val 15789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1612880" y="6894576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2198096" y="6894576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필요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4118336" y="6894576"/>
            <a:ext cx="2761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1411712" y="7589520"/>
            <a:ext cx="5559552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11411712" y="7754112"/>
            <a:ext cx="5559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생활인구 도내 2위 · 341,104명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14400" y="8540496"/>
            <a:ext cx="16459200" cy="749808"/>
          </a:xfrm>
          <a:prstGeom prst="roundRect">
            <a:avLst>
              <a:gd name="adj" fmla="val 14634"/>
            </a:avLst>
          </a:prstGeom>
          <a:solidFill>
            <a:srgbClr val="110B79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1371600" y="8540496"/>
            <a:ext cx="1554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행안부는 2026년부터 시설이 아니라 인구유입 효과로 기금을 평가합니다.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4400" y="9582912"/>
            <a:ext cx="1645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부안군 · 행정안전부 · 국가데이터처 2025년 4분기 생활인구 산정결과 · 전북일보(2026.6.3)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100" kern="0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0" y="60350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지역브랜드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80160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종합제안서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72768"/>
            <a:ext cx="1645920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883664"/>
            <a:ext cx="1645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</a:t>
            </a:r>
            <a:pPr algn="ctr" indent="0" marL="0">
              <a:buNone/>
            </a:pPr>
            <a:r>
              <a:rPr lang="en-US" sz="42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lace &amp; Product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377440" y="2688336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지역의 이름과 하나의 상품이 결합할 때 브랜드가 됩니다. 영광 하면 굴비, 부안 하면 닭입니다.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29584"/>
            <a:ext cx="3877056" cy="4754880"/>
          </a:xfrm>
          <a:prstGeom prst="roundRect">
            <a:avLst>
              <a:gd name="adj" fmla="val 2830"/>
            </a:avLst>
          </a:prstGeom>
          <a:solidFill>
            <a:srgbClr val="F5F8FC"/>
          </a:solidFill>
          <a:ln/>
        </p:spPr>
        <p:txBody>
          <a:bodyPr/>
          <a:p/>
        </p:txBody>
      </p:sp>
      <p:pic>
        <p:nvPicPr>
          <p:cNvPr id="45" name="Picture 44" descr="3_gulb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314" y="3530498"/>
            <a:ext cx="3877056" cy="1920240"/>
          </a:xfrm>
          <a:prstGeom prst="rect">
            <a:avLst/>
          </a:prstGeom>
        </p:spPr>
      </p:pic>
      <p:sp>
        <p:nvSpPr>
          <p:cNvPr id="11" name="Text 9"/>
          <p:cNvSpPr/>
          <p:nvPr/>
        </p:nvSpPr>
        <p:spPr>
          <a:xfrm>
            <a:off x="1188720" y="56144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영광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487168" y="561441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926080" y="561441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굴비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1188720" y="6327648"/>
            <a:ext cx="3328416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188720" y="6492240"/>
            <a:ext cx="33284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법성포 조기를 천일염에 절여 말린 굴비. 지역명이 곧 품질 보증이 되어 프리미엄 수산물 브랜드로 자리잡았습니다.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84064" y="3529584"/>
            <a:ext cx="3877056" cy="4754880"/>
          </a:xfrm>
          <a:prstGeom prst="roundRect">
            <a:avLst>
              <a:gd name="adj" fmla="val 2830"/>
            </a:avLst>
          </a:prstGeom>
          <a:solidFill>
            <a:srgbClr val="F5F8FC"/>
          </a:solidFill>
          <a:ln/>
        </p:spPr>
        <p:txBody>
          <a:bodyPr/>
          <a:p/>
        </p:txBody>
      </p:sp>
      <p:pic>
        <p:nvPicPr>
          <p:cNvPr id="46" name="Picture 45" descr="4_insa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978" y="3530498"/>
            <a:ext cx="3877056" cy="1920240"/>
          </a:xfrm>
          <a:prstGeom prst="rect">
            <a:avLst/>
          </a:prstGeom>
        </p:spPr>
      </p:pic>
      <p:sp>
        <p:nvSpPr>
          <p:cNvPr id="19" name="Text 17"/>
          <p:cNvSpPr/>
          <p:nvPr/>
        </p:nvSpPr>
        <p:spPr>
          <a:xfrm>
            <a:off x="5358384" y="56144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금산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656832" y="561441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095744" y="561441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인삼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5358384" y="6327648"/>
            <a:ext cx="3328416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358384" y="6492240"/>
            <a:ext cx="33284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국제인삼축제와 인삼시장을 축으로 생산 · 유통 · 관광을 묶어 세계 인삼 거래의 중심지가 되었습니다.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253728" y="3529584"/>
            <a:ext cx="3877056" cy="4754880"/>
          </a:xfrm>
          <a:prstGeom prst="roundRect">
            <a:avLst>
              <a:gd name="adj" fmla="val 2830"/>
            </a:avLst>
          </a:prstGeom>
          <a:solidFill>
            <a:srgbClr val="F5F8FC"/>
          </a:solidFill>
          <a:ln/>
        </p:spPr>
        <p:txBody>
          <a:bodyPr/>
          <a:p/>
        </p:txBody>
      </p:sp>
      <p:pic>
        <p:nvPicPr>
          <p:cNvPr id="47" name="Picture 46" descr="5_jangryu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4642" y="3530498"/>
            <a:ext cx="3877056" cy="1920240"/>
          </a:xfrm>
          <a:prstGeom prst="rect">
            <a:avLst/>
          </a:prstGeom>
        </p:spPr>
      </p:pic>
      <p:sp>
        <p:nvSpPr>
          <p:cNvPr id="27" name="Text 25"/>
          <p:cNvSpPr/>
          <p:nvPr/>
        </p:nvSpPr>
        <p:spPr>
          <a:xfrm>
            <a:off x="9528048" y="56144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순창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10826496" y="561441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1265408" y="561441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장류</a:t>
            </a:r>
            <a:endParaRPr lang="en-US" sz="3000" dirty="0"/>
          </a:p>
        </p:txBody>
      </p:sp>
      <p:sp>
        <p:nvSpPr>
          <p:cNvPr id="30" name="Shape 28"/>
          <p:cNvSpPr/>
          <p:nvPr/>
        </p:nvSpPr>
        <p:spPr>
          <a:xfrm>
            <a:off x="9528048" y="6291072"/>
            <a:ext cx="1517904" cy="347472"/>
          </a:xfrm>
          <a:prstGeom prst="roundRect">
            <a:avLst>
              <a:gd name="adj" fmla="val 15789"/>
            </a:avLst>
          </a:prstGeom>
          <a:solidFill>
            <a:srgbClr val="5587CB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9528048" y="6291072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 선례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528048" y="6784848"/>
            <a:ext cx="3328416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9528048" y="6949440"/>
            <a:ext cx="33284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고추장민속마을과 장류 클러스터. 2024년 농식품부 K-미식벨트 첫 주제 거점으로 선정된 전북의 성공 사례입니다.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3423392" y="3529584"/>
            <a:ext cx="3877056" cy="4754880"/>
          </a:xfrm>
          <a:prstGeom prst="roundRect">
            <a:avLst>
              <a:gd name="adj" fmla="val 2830"/>
            </a:avLst>
          </a:prstGeom>
          <a:solidFill>
            <a:srgbClr val="0038BF"/>
          </a:solidFill>
          <a:ln w="31750">
            <a:solidFill>
              <a:srgbClr val="5C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0038BF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48" name="Picture 47" descr="6_buan_chicken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24306" y="3530498"/>
            <a:ext cx="3877056" cy="1920240"/>
          </a:xfrm>
          <a:prstGeom prst="rect">
            <a:avLst/>
          </a:prstGeom>
        </p:spPr>
      </p:pic>
      <p:sp>
        <p:nvSpPr>
          <p:cNvPr id="37" name="Text 35"/>
          <p:cNvSpPr/>
          <p:nvPr/>
        </p:nvSpPr>
        <p:spPr>
          <a:xfrm>
            <a:off x="13697712" y="56144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14996160" y="561441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15435072" y="561441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닭</a:t>
            </a:r>
            <a:endParaRPr lang="en-US" sz="3000" dirty="0"/>
          </a:p>
        </p:txBody>
      </p:sp>
      <p:sp>
        <p:nvSpPr>
          <p:cNvPr id="40" name="Shape 38"/>
          <p:cNvSpPr/>
          <p:nvPr/>
        </p:nvSpPr>
        <p:spPr>
          <a:xfrm>
            <a:off x="13697712" y="6327648"/>
            <a:ext cx="3328416" cy="0"/>
          </a:xfrm>
          <a:prstGeom prst="line">
            <a:avLst/>
          </a:prstGeom>
          <a:noFill/>
          <a:ln w="15875">
            <a:solidFill>
              <a:srgbClr val="4A6FD8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13697712" y="6492240"/>
            <a:ext cx="33284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생산(참프레) · 문화(계림) · 관광(변산)이 이미 한 곳에 있습니다. 남은 것은 이름을 붙이는 일뿐입니다.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14400" y="8540496"/>
            <a:ext cx="16459200" cy="749808"/>
          </a:xfrm>
          <a:prstGeom prst="roundRect">
            <a:avLst>
              <a:gd name="adj" fmla="val 14634"/>
            </a:avLst>
          </a:prstGeom>
          <a:solidFill>
            <a:srgbClr val="110B79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371600" y="8540496"/>
            <a:ext cx="1554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순창은 이미 해냈습니다. 같은 방식으로 부안이 다음 차례입니다.</a:t>
            </a:r>
            <a:endParaRPr lang="en-US" sz="2100" dirty="0"/>
          </a:p>
        </p:txBody>
      </p:sp>
      <p:sp>
        <p:nvSpPr>
          <p:cNvPr id="44" name="Text 42"/>
          <p:cNvSpPr/>
          <p:nvPr/>
        </p:nvSpPr>
        <p:spPr>
          <a:xfrm>
            <a:off x="914400" y="9582912"/>
            <a:ext cx="1645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농림축산식품부 K-미식벨트 · 각 지자체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0B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38560" y="-2011680"/>
            <a:ext cx="10058400" cy="10058400"/>
          </a:xfrm>
          <a:prstGeom prst="roundRect">
            <a:avLst>
              <a:gd name="adj" fmla="val 18182"/>
            </a:avLst>
          </a:prstGeom>
          <a:solidFill>
            <a:srgbClr val="0038B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3716000" y="5120640"/>
            <a:ext cx="7315200" cy="7315200"/>
          </a:xfrm>
          <a:prstGeom prst="roundRect">
            <a:avLst>
              <a:gd name="adj" fmla="val 20000"/>
            </a:avLst>
          </a:prstGeom>
          <a:solidFill>
            <a:srgbClr val="1A1490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14400" y="320040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914400" y="5394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닭, 그 이름의 역사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6492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spc="300" kern="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 NAME WE LOST AND FOUND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5230368"/>
            <a:ext cx="2926080" cy="0"/>
          </a:xfrm>
          <a:prstGeom prst="line">
            <a:avLst/>
          </a:prstGeom>
          <a:noFill/>
          <a:ln w="38100">
            <a:solidFill>
              <a:srgbClr val="5CE1E6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100" kern="0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0" y="60350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계림 설화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80160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종합제안서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72768"/>
            <a:ext cx="1645920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883664"/>
            <a:ext cx="1645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</a:t>
            </a:r>
            <a:pPr algn="ctr" indent="0" marL="0">
              <a:buNone/>
            </a:pPr>
            <a:r>
              <a:rPr lang="en-US" sz="42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 Origin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377440" y="2688336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건국신화에 등장하는 유일한 가축, 그것이 닭이었습니다.</a:t>
            </a:r>
            <a:endParaRPr lang="en-US" sz="2000" dirty="0"/>
          </a:p>
        </p:txBody>
      </p:sp>
      <p:pic>
        <p:nvPicPr>
          <p:cNvPr id="29" name="Picture 28" descr="7_gyeri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529584"/>
            <a:ext cx="6949440" cy="4754880"/>
          </a:xfrm>
          <a:prstGeom prst="rect">
            <a:avLst/>
          </a:prstGeom>
        </p:spPr>
      </p:pic>
      <p:sp>
        <p:nvSpPr>
          <p:cNvPr id="10" name="Shape 8"/>
          <p:cNvSpPr/>
          <p:nvPr/>
        </p:nvSpPr>
        <p:spPr>
          <a:xfrm>
            <a:off x="8266176" y="3529584"/>
            <a:ext cx="9107424" cy="2121408"/>
          </a:xfrm>
          <a:prstGeom prst="roundRect">
            <a:avLst>
              <a:gd name="adj" fmla="val 5172"/>
            </a:avLst>
          </a:prstGeom>
          <a:solidFill>
            <a:srgbClr val="110B79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723376" y="3822192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鷄  林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11832336" y="3931920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신라 국호의 기원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723376" y="4736592"/>
            <a:ext cx="8193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8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김알지가 태어난 계림(鷄林)은 신라 국호의 기원입니다.</a:t>
            </a:r>
            <a:endParaRPr lang="en-US" sz="18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8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한국사에서 닭은 가축이기 전에, 국가의 기원 서사에 등장하는 유일한 동물입니다.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66176" y="5907024"/>
            <a:ext cx="2852928" cy="2377440"/>
          </a:xfrm>
          <a:prstGeom prst="roundRect">
            <a:avLst>
              <a:gd name="adj" fmla="val 4615"/>
            </a:avLst>
          </a:prstGeom>
          <a:solidFill>
            <a:srgbClr val="D7ECFF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503920" y="621792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새벽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906256" y="6839712"/>
            <a:ext cx="1572768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503920" y="7004304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어둠을 여는 유일한 소리.</a:t>
            </a:r>
            <a:endParaRPr lang="en-US" sz="1600" dirty="0"/>
          </a:p>
          <a:p>
            <a:pPr algn="ctr" indent="0" marL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하루의 시작을 알리는 존재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393424" y="5907024"/>
            <a:ext cx="2852928" cy="2377440"/>
          </a:xfrm>
          <a:prstGeom prst="roundRect">
            <a:avLst>
              <a:gd name="adj" fmla="val 4615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1631168" y="621792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벽사(辟邪)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2033504" y="6839712"/>
            <a:ext cx="1572768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1631168" y="7004304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액운을 쫓는 수호의 상징.</a:t>
            </a:r>
            <a:endParaRPr lang="en-US" sz="1600" dirty="0"/>
          </a:p>
          <a:p>
            <a:pPr algn="ctr" indent="0" marL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제사와 혼례 의례의 중심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4520672" y="5907024"/>
            <a:ext cx="2852928" cy="2377440"/>
          </a:xfrm>
          <a:prstGeom prst="roundRect">
            <a:avLst>
              <a:gd name="adj" fmla="val 4615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4758416" y="621792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희망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15160752" y="6839712"/>
            <a:ext cx="1572768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4758416" y="7004304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해의 시작을 여는 십이지.</a:t>
            </a:r>
            <a:endParaRPr lang="en-US" sz="1600" dirty="0"/>
          </a:p>
          <a:p>
            <a:pPr algn="ctr" indent="0" marL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새로움과 재생의 표상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14400" y="8540496"/>
            <a:ext cx="16459200" cy="749808"/>
          </a:xfrm>
          <a:prstGeom prst="roundRect">
            <a:avLst>
              <a:gd name="adj" fmla="val 14634"/>
            </a:avLst>
          </a:prstGeom>
          <a:solidFill>
            <a:srgbClr val="110B79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371600" y="8540496"/>
            <a:ext cx="1554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한국인에게 닭은 음식이기 전에, 나라의 이름이었습니다.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4400" y="9582912"/>
            <a:ext cx="1645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『삼국사기』· 『삼국유사』 김알지 탄생설화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100" kern="0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0" y="60350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상징의 회복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80160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종합제안서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72768"/>
            <a:ext cx="1645920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883664"/>
            <a:ext cx="1645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</a:t>
            </a:r>
            <a:pPr algn="ctr" indent="0" marL="0">
              <a:buNone/>
            </a:pPr>
            <a:r>
              <a:rPr lang="en-US" sz="42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eclaiming the Name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377440" y="2688336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20세기 초 조선은 「닭」으로 그려졌습니다. 그 이름을 되찾는 일에서 축제가 시작됩니다.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29584"/>
            <a:ext cx="5212080" cy="4133088"/>
          </a:xfrm>
          <a:prstGeom prst="roundRect">
            <a:avLst>
              <a:gd name="adj" fmla="val 2655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298448" y="3822192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048256" y="3858768"/>
            <a:ext cx="3694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1900 ~ 1945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8448" y="4443984"/>
            <a:ext cx="4443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왜곡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298448" y="5212080"/>
            <a:ext cx="4443984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335024" y="5577840"/>
            <a:ext cx="118872" cy="118872"/>
          </a:xfrm>
          <a:prstGeom prst="ellipse">
            <a:avLst/>
          </a:prstGeom>
          <a:solidFill>
            <a:srgbClr val="5587C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645920" y="5431536"/>
            <a:ext cx="4078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일본 시사만화 속 조선의 도상화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35024" y="6291072"/>
            <a:ext cx="118872" cy="118872"/>
          </a:xfrm>
          <a:prstGeom prst="ellipse">
            <a:avLst/>
          </a:prstGeom>
          <a:solidFill>
            <a:srgbClr val="5587C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645920" y="6144768"/>
            <a:ext cx="4078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새장에 갇힌 닭 — 자립 불능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335024" y="7004304"/>
            <a:ext cx="118872" cy="118872"/>
          </a:xfrm>
          <a:prstGeom prst="ellipse">
            <a:avLst/>
          </a:prstGeom>
          <a:solidFill>
            <a:srgbClr val="5587C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645920" y="6858000"/>
            <a:ext cx="4078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서로 싸우는 닭 — 무지와 내분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181344" y="5449824"/>
            <a:ext cx="301752" cy="292608"/>
          </a:xfrm>
          <a:prstGeom prst="rightArrow">
            <a:avLst/>
          </a:prstGeom>
          <a:solidFill>
            <a:srgbClr val="DDE5F3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537960" y="3529584"/>
            <a:ext cx="5212080" cy="4133088"/>
          </a:xfrm>
          <a:prstGeom prst="roundRect">
            <a:avLst>
              <a:gd name="adj" fmla="val 2655"/>
            </a:avLst>
          </a:prstGeom>
          <a:solidFill>
            <a:srgbClr val="EAF0F6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922008" y="3822192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671816" y="3858768"/>
            <a:ext cx="3694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작동 구조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22008" y="4443984"/>
            <a:ext cx="4443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시선의 정치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6922008" y="5212080"/>
            <a:ext cx="4443984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958584" y="5577840"/>
            <a:ext cx="118872" cy="118872"/>
          </a:xfrm>
          <a:prstGeom prst="ellipse">
            <a:avLst/>
          </a:prstGeom>
          <a:solidFill>
            <a:srgbClr val="5587CB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269480" y="5431536"/>
            <a:ext cx="4078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반복된 이미지가 인식을 규율한다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958584" y="6291072"/>
            <a:ext cx="118872" cy="118872"/>
          </a:xfrm>
          <a:prstGeom prst="ellipse">
            <a:avLst/>
          </a:prstGeom>
          <a:solidFill>
            <a:srgbClr val="5587CB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269480" y="6144768"/>
            <a:ext cx="4078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침략을 시혜로 포장하는 서사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958584" y="7004304"/>
            <a:ext cx="118872" cy="118872"/>
          </a:xfrm>
          <a:prstGeom prst="ellipse">
            <a:avLst/>
          </a:prstGeom>
          <a:solidFill>
            <a:srgbClr val="5587CB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269480" y="6858000"/>
            <a:ext cx="4078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자기비하의 내면화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1804904" y="5449824"/>
            <a:ext cx="301752" cy="292608"/>
          </a:xfrm>
          <a:prstGeom prst="rightArrow">
            <a:avLst/>
          </a:prstGeom>
          <a:solidFill>
            <a:srgbClr val="DDE5F3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2161520" y="3529584"/>
            <a:ext cx="5212080" cy="4133088"/>
          </a:xfrm>
          <a:prstGeom prst="roundRect">
            <a:avLst>
              <a:gd name="adj" fmla="val 2655"/>
            </a:avLst>
          </a:prstGeom>
          <a:solidFill>
            <a:srgbClr val="110B79"/>
          </a:solidFill>
          <a:ln/>
          <a:effectLst>
            <a:outerShdw sx="100000" sy="100000" kx="0" ky="0" algn="bl" rotWithShape="0" blurRad="177800" dist="25400" dir="5400000">
              <a:srgbClr val="0038BF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2545568" y="3822192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13295376" y="3858768"/>
            <a:ext cx="3694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 ~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2545568" y="4443984"/>
            <a:ext cx="4443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회복</a:t>
            </a:r>
            <a:endParaRPr lang="en-US" sz="3000" dirty="0"/>
          </a:p>
        </p:txBody>
      </p:sp>
      <p:sp>
        <p:nvSpPr>
          <p:cNvPr id="36" name="Shape 34"/>
          <p:cNvSpPr/>
          <p:nvPr/>
        </p:nvSpPr>
        <p:spPr>
          <a:xfrm>
            <a:off x="12545568" y="5212080"/>
            <a:ext cx="4443984" cy="0"/>
          </a:xfrm>
          <a:prstGeom prst="line">
            <a:avLst/>
          </a:prstGeom>
          <a:noFill/>
          <a:ln w="15875">
            <a:solidFill>
              <a:srgbClr val="3A3AA8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2582144" y="5577840"/>
            <a:ext cx="118872" cy="118872"/>
          </a:xfrm>
          <a:prstGeom prst="ellipse">
            <a:avLst/>
          </a:prstGeom>
          <a:solidFill>
            <a:srgbClr val="5CE1E6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12893040" y="5431536"/>
            <a:ext cx="4078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K-Chicken, 세계가 사랑하는 한식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2582144" y="6291072"/>
            <a:ext cx="118872" cy="118872"/>
          </a:xfrm>
          <a:prstGeom prst="ellipse">
            <a:avLst/>
          </a:prstGeom>
          <a:solidFill>
            <a:srgbClr val="5CE1E6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12893040" y="6144768"/>
            <a:ext cx="4078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상징의 주체를 되찾는 일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2582144" y="7004304"/>
            <a:ext cx="118872" cy="118872"/>
          </a:xfrm>
          <a:prstGeom prst="ellipse">
            <a:avLst/>
          </a:prstGeom>
          <a:solidFill>
            <a:srgbClr val="5CE1E6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12893040" y="6858000"/>
            <a:ext cx="4078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부안이 그 선언의 장소가 된다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914400" y="7845552"/>
            <a:ext cx="16459200" cy="603504"/>
          </a:xfrm>
          <a:prstGeom prst="roundRect">
            <a:avLst>
              <a:gd name="adj" fmla="val 18182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1316736" y="7845552"/>
            <a:ext cx="15654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학술 근거 · 한상일 · 한정선, 『일본, 만화로 제국을 그리다 — 조선병탄과 시선의 정치』, 일조각, 2006 (2008 대한민국학술원 우수학술도서 / 2010 일본어판 출간)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914400" y="8540496"/>
            <a:ext cx="16459200" cy="749808"/>
          </a:xfrm>
          <a:prstGeom prst="roundRect">
            <a:avLst>
              <a:gd name="adj" fmla="val 14634"/>
            </a:avLst>
          </a:prstGeom>
          <a:solidFill>
            <a:srgbClr val="110B79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1371600" y="8540496"/>
            <a:ext cx="1554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닭은 원래 새벽이었습니다. 부안이 그 이름을 되찾습니다.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100" kern="0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0" y="60350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K-Chicken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80160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종합제안서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72768"/>
            <a:ext cx="1645920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883664"/>
            <a:ext cx="1645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</a:t>
            </a:r>
            <a:pPr algn="ctr" indent="0" marL="0">
              <a:buNone/>
            </a:pPr>
            <a:r>
              <a:rPr lang="en-US" sz="42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 Name Today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377440" y="2688336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치킨은 해외 한식 소비자가 가장 선호하는 메뉴입니다. 그 뿌리를 부안에 세웁니다.</a:t>
            </a:r>
            <a:endParaRPr lang="en-US" sz="2000" dirty="0"/>
          </a:p>
        </p:txBody>
      </p:sp>
      <p:pic>
        <p:nvPicPr>
          <p:cNvPr id="46" name="Picture 45" descr="8_kchick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529584"/>
            <a:ext cx="11521440" cy="2103120"/>
          </a:xfrm>
          <a:prstGeom prst="rect">
            <a:avLst/>
          </a:prstGeom>
        </p:spPr>
      </p:pic>
      <p:sp>
        <p:nvSpPr>
          <p:cNvPr id="10" name="Shape 8"/>
          <p:cNvSpPr/>
          <p:nvPr/>
        </p:nvSpPr>
        <p:spPr>
          <a:xfrm>
            <a:off x="12838176" y="3529584"/>
            <a:ext cx="4535424" cy="987552"/>
          </a:xfrm>
          <a:prstGeom prst="roundRect">
            <a:avLst>
              <a:gd name="adj" fmla="val 11111"/>
            </a:avLst>
          </a:prstGeom>
          <a:solidFill>
            <a:srgbClr val="0038B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3167360" y="3529584"/>
            <a:ext cx="1828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1위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5069312" y="3529584"/>
            <a:ext cx="19751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해외 한식 소비자</a:t>
            </a:r>
            <a:endParaRPr lang="en-US" sz="15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선호 메뉴 (14%)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2838176" y="4645152"/>
            <a:ext cx="4535424" cy="987552"/>
          </a:xfrm>
          <a:prstGeom prst="roundRect">
            <a:avLst>
              <a:gd name="adj" fmla="val 11111"/>
            </a:avLst>
          </a:prstGeom>
          <a:solidFill>
            <a:srgbClr val="110B79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3167360" y="4645152"/>
            <a:ext cx="1828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61.7%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5069312" y="4645152"/>
            <a:ext cx="19751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방한 희망활동 1위 식도락</a:t>
            </a:r>
            <a:endParaRPr lang="en-US" sz="15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(쇼핑 57.3%)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194560" y="6583680"/>
            <a:ext cx="13898880" cy="0"/>
          </a:xfrm>
          <a:prstGeom prst="line">
            <a:avLst/>
          </a:prstGeom>
          <a:noFill/>
          <a:ln w="25400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2359152" y="6492240"/>
            <a:ext cx="182880" cy="182880"/>
          </a:xfrm>
          <a:prstGeom prst="ellipse">
            <a:avLst/>
          </a:prstGeom>
          <a:solidFill>
            <a:srgbClr val="5587CB"/>
          </a:solidFill>
          <a:ln w="381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4400" y="6089904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삼국시대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4400" y="6986016"/>
            <a:ext cx="3072384" cy="1316736"/>
          </a:xfrm>
          <a:prstGeom prst="roundRect">
            <a:avLst>
              <a:gd name="adj" fmla="val 8333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14400" y="7168896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계림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14400" y="7717536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나라의 이름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705856" y="6492240"/>
            <a:ext cx="182880" cy="182880"/>
          </a:xfrm>
          <a:prstGeom prst="ellipse">
            <a:avLst/>
          </a:prstGeom>
          <a:solidFill>
            <a:srgbClr val="5587CB"/>
          </a:solidFill>
          <a:ln w="381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261104" y="6089904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조선 ~ 근대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261104" y="6986016"/>
            <a:ext cx="3072384" cy="1316736"/>
          </a:xfrm>
          <a:prstGeom prst="roundRect">
            <a:avLst>
              <a:gd name="adj" fmla="val 8333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261104" y="7168896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삼계탕 · 백숙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261104" y="7717536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민족의 보양식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052560" y="6492240"/>
            <a:ext cx="182880" cy="182880"/>
          </a:xfrm>
          <a:prstGeom prst="ellipse">
            <a:avLst/>
          </a:prstGeom>
          <a:solidFill>
            <a:srgbClr val="5587CB"/>
          </a:solidFill>
          <a:ln w="381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607808" y="6089904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1970 ~ 2000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607808" y="6986016"/>
            <a:ext cx="3072384" cy="1316736"/>
          </a:xfrm>
          <a:prstGeom prst="roundRect">
            <a:avLst>
              <a:gd name="adj" fmla="val 8333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607808" y="7168896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치킨 문화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607808" y="7717536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국민 야식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2399264" y="6492240"/>
            <a:ext cx="182880" cy="182880"/>
          </a:xfrm>
          <a:prstGeom prst="ellipse">
            <a:avLst/>
          </a:prstGeom>
          <a:solidFill>
            <a:srgbClr val="5587CB"/>
          </a:solidFill>
          <a:ln w="381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0954512" y="6089904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2000 ~ 현재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0954512" y="6986016"/>
            <a:ext cx="3072384" cy="1316736"/>
          </a:xfrm>
          <a:prstGeom prst="roundRect">
            <a:avLst>
              <a:gd name="adj" fmla="val 8333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0954512" y="7168896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K-Chicken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0954512" y="7717536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세계의 미식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15691104" y="6437376"/>
            <a:ext cx="292608" cy="292608"/>
          </a:xfrm>
          <a:prstGeom prst="ellipse">
            <a:avLst/>
          </a:prstGeom>
          <a:solidFill>
            <a:srgbClr val="5CE1E6"/>
          </a:solidFill>
          <a:ln w="381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14301216" y="6089904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 ~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14301216" y="6986016"/>
            <a:ext cx="3072384" cy="1316736"/>
          </a:xfrm>
          <a:prstGeom prst="roundRect">
            <a:avLst>
              <a:gd name="adj" fmla="val 8333"/>
            </a:avLst>
          </a:prstGeom>
          <a:solidFill>
            <a:srgbClr val="0038BF"/>
          </a:solidFill>
          <a:ln/>
          <a:effectLst>
            <a:outerShdw sx="100000" sy="100000" kx="0" ky="0" algn="bl" rotWithShape="0" blurRad="177800" dist="25400" dir="5400000">
              <a:srgbClr val="0038BF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14301216" y="7168896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  안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14301216" y="7717536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이름의 뿌리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914400" y="7973568"/>
            <a:ext cx="1645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농림축산식품부는 치킨을 「외국인이 가장 선호하는 한식 메뉴」로 규정하고 2026년 K-미식벨트의 주제로 선정했습니다.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914400" y="8540496"/>
            <a:ext cx="16459200" cy="749808"/>
          </a:xfrm>
          <a:prstGeom prst="roundRect">
            <a:avLst>
              <a:gd name="adj" fmla="val 14634"/>
            </a:avLst>
          </a:prstGeom>
          <a:solidFill>
            <a:srgbClr val="110B79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1371600" y="8540496"/>
            <a:ext cx="1554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2,000년의 이름이 지금 세계로 갑니다. 그 출발점을 부안에 둡니다.</a:t>
            </a:r>
            <a:endParaRPr lang="en-US" sz="2100" dirty="0"/>
          </a:p>
        </p:txBody>
      </p:sp>
      <p:sp>
        <p:nvSpPr>
          <p:cNvPr id="45" name="Text 43"/>
          <p:cNvSpPr/>
          <p:nvPr/>
        </p:nvSpPr>
        <p:spPr>
          <a:xfrm>
            <a:off x="914400" y="9582912"/>
            <a:ext cx="1645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농림축산식품부(2026.3.19 / 6.29) · 해외 한식 소비자 조사 · 외래관광객 조사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0B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38560" y="-2011680"/>
            <a:ext cx="10058400" cy="10058400"/>
          </a:xfrm>
          <a:prstGeom prst="roundRect">
            <a:avLst>
              <a:gd name="adj" fmla="val 18182"/>
            </a:avLst>
          </a:prstGeom>
          <a:solidFill>
            <a:srgbClr val="0038B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3716000" y="5120640"/>
            <a:ext cx="7315200" cy="7315200"/>
          </a:xfrm>
          <a:prstGeom prst="roundRect">
            <a:avLst>
              <a:gd name="adj" fmla="val 20000"/>
            </a:avLst>
          </a:prstGeom>
          <a:solidFill>
            <a:srgbClr val="1A1490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14400" y="320040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914400" y="5394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 계획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6492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spc="300" kern="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 PLAN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5230368"/>
            <a:ext cx="2926080" cy="0"/>
          </a:xfrm>
          <a:prstGeom prst="line">
            <a:avLst/>
          </a:prstGeom>
          <a:noFill/>
          <a:ln w="38100">
            <a:solidFill>
              <a:srgbClr val="5CE1E6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100" kern="0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0" y="60350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사계절 전략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80160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종합제안서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72768"/>
            <a:ext cx="1645920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883664"/>
            <a:ext cx="1645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</a:t>
            </a:r>
            <a:pPr algn="ctr" indent="0" marL="0">
              <a:buNone/>
            </a:pPr>
            <a:r>
              <a:rPr lang="en-US" sz="42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 Seasons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377440" y="2688336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축제를 만드는 것이 아니라, 비어 있는 계절을 채웁니다.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29584"/>
            <a:ext cx="8028432" cy="3602736"/>
          </a:xfrm>
          <a:prstGeom prst="roundRect">
            <a:avLst>
              <a:gd name="adj" fmla="val 3046"/>
            </a:avLst>
          </a:prstGeom>
          <a:solidFill>
            <a:srgbClr val="F5F8FC"/>
          </a:solidFill>
          <a:ln/>
        </p:spPr>
        <p:txBody>
          <a:bodyPr/>
          <a:p/>
        </p:txBody>
      </p:sp>
      <p:pic>
        <p:nvPicPr>
          <p:cNvPr id="51" name="Picture 50" descr="9_masi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3840480"/>
            <a:ext cx="3108960" cy="2340864"/>
          </a:xfrm>
          <a:prstGeom prst="rect">
            <a:avLst/>
          </a:prstGeom>
        </p:spPr>
      </p:pic>
      <p:sp>
        <p:nvSpPr>
          <p:cNvPr id="11" name="Shape 9"/>
          <p:cNvSpPr/>
          <p:nvPr/>
        </p:nvSpPr>
        <p:spPr>
          <a:xfrm>
            <a:off x="4535424" y="384048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5587C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35424" y="3840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5월 · 봄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35424" y="4407408"/>
            <a:ext cx="4096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부안마실축제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35424" y="50109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04688" y="5010912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제13회 (2026)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35424" y="5413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04688" y="5413248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5월 2일 ~ 5일 · 4일간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35424" y="581558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장소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04688" y="58155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부안해뜰마루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35424" y="6217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성격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504688" y="621792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가족 · 정원 · 체험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25296" y="658368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개막 첫날 약 59,000명 방문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9345168" y="3529584"/>
            <a:ext cx="8028432" cy="3602736"/>
          </a:xfrm>
          <a:prstGeom prst="roundRect">
            <a:avLst>
              <a:gd name="adj" fmla="val 3046"/>
            </a:avLst>
          </a:prstGeom>
          <a:solidFill>
            <a:srgbClr val="D7ECFF"/>
          </a:solidFill>
          <a:ln w="25400">
            <a:solidFill>
              <a:srgbClr val="0038BF"/>
            </a:solidFill>
            <a:prstDash val="solid"/>
          </a:ln>
          <a:effectLst>
            <a:outerShdw sx="100000" sy="100000" kx="0" ky="0" algn="bl" rotWithShape="0" blurRad="177800" dist="25400" dir="5400000">
              <a:srgbClr val="0038BF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52" name="Picture 51" descr="10_autum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4" y="3840480"/>
            <a:ext cx="3108960" cy="2340864"/>
          </a:xfrm>
          <a:prstGeom prst="rect">
            <a:avLst/>
          </a:prstGeom>
        </p:spPr>
      </p:pic>
      <p:sp>
        <p:nvSpPr>
          <p:cNvPr id="26" name="Shape 24"/>
          <p:cNvSpPr/>
          <p:nvPr/>
        </p:nvSpPr>
        <p:spPr>
          <a:xfrm>
            <a:off x="12966192" y="384048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0038BF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2966192" y="3840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10월 · 가을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966192" y="4407408"/>
            <a:ext cx="4096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(신설)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2966192" y="50109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회차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3935456" y="5010912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제1회 (2028 목표)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966192" y="5413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935456" y="5413248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10월 중 · 3일간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966192" y="581558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장소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3935456" y="58155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변산반도 · 새만금 연계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966192" y="6217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성격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3935456" y="621792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 · 미식 · 문화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656064" y="658368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15만명 → 3년차 40만명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914400" y="733348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축제가 공유하는 것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914400" y="7754112"/>
            <a:ext cx="52120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1225296" y="7808976"/>
            <a:ext cx="4590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공유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1225296" y="8138160"/>
            <a:ext cx="4590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부안군대표축제추진위원회 운영 노하우 승계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6537960" y="7754112"/>
            <a:ext cx="52120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848856" y="7808976"/>
            <a:ext cx="4590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인프라 공유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6848856" y="8138160"/>
            <a:ext cx="4590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부안해뜰마루 등 기존 축제장 인프라 활용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12161520" y="7754112"/>
            <a:ext cx="52120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12472416" y="7808976"/>
            <a:ext cx="4590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 공유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12472416" y="8138160"/>
            <a:ext cx="4590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축제 운영 인력 · 자원봉사 풀 연중 가동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914400" y="8540496"/>
            <a:ext cx="16459200" cy="749808"/>
          </a:xfrm>
          <a:prstGeom prst="roundRect">
            <a:avLst>
              <a:gd name="adj" fmla="val 14634"/>
            </a:avLst>
          </a:prstGeom>
          <a:solidFill>
            <a:srgbClr val="110B79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371600" y="8540496"/>
            <a:ext cx="1554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마실축제가 '봄의 부안'을 만들었다면, 닭축제는 '가을의 부안'을 만듭니다.</a:t>
            </a:r>
            <a:endParaRPr lang="en-US" sz="2100" dirty="0"/>
          </a:p>
        </p:txBody>
      </p:sp>
      <p:sp>
        <p:nvSpPr>
          <p:cNvPr id="50" name="Text 48"/>
          <p:cNvSpPr/>
          <p:nvPr/>
        </p:nvSpPr>
        <p:spPr>
          <a:xfrm>
            <a:off x="914400" y="9582912"/>
            <a:ext cx="1645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부안군 · 부안마실축제 공식 · 다음뉴스(2026.5.3)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100" kern="0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0" y="60350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 개요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80160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종합제안서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72768"/>
            <a:ext cx="1645920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883664"/>
            <a:ext cx="1645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</a:t>
            </a:r>
            <a:pPr algn="ctr" indent="0" marL="0">
              <a:buNone/>
            </a:pPr>
            <a:r>
              <a:rPr lang="en-US" sz="42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roject Overview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377440" y="2688336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3일의 행사가 아니라, 365일 브랜드의 출발점입니다.</a:t>
            </a:r>
            <a:endParaRPr lang="en-US" sz="2000" dirty="0"/>
          </a:p>
        </p:txBody>
      </p:sp>
      <p:pic>
        <p:nvPicPr>
          <p:cNvPr id="45" name="Picture 44" descr="11_venu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529584"/>
            <a:ext cx="16459200" cy="1920240"/>
          </a:xfrm>
          <a:prstGeom prst="rect">
            <a:avLst/>
          </a:prstGeom>
        </p:spPr>
      </p:pic>
      <p:sp>
        <p:nvSpPr>
          <p:cNvPr id="10" name="Shape 8"/>
          <p:cNvSpPr/>
          <p:nvPr/>
        </p:nvSpPr>
        <p:spPr>
          <a:xfrm>
            <a:off x="914400" y="5687568"/>
            <a:ext cx="16459200" cy="566928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188720" y="568756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명칭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432304" y="5687568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(가칭)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595360" y="568756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주최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838944" y="5687568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 · 전북특별자치도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625449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432304" y="6254496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매년 10월 중 3일간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95360" y="625449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주관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838944" y="6254496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부안군대표축제추진위원회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4400" y="6821424"/>
            <a:ext cx="16459200" cy="566928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188720" y="682142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장소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432304" y="6821424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변산반도 · 새만금 연계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595360" y="682142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협력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838944" y="6821424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참프레 · 농식품부 · 문체부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88720" y="738835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성격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432304" y="7388352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산업연계형 문화관광축제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595360" y="738835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838944" y="7388352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1년차 15만 → 3년차 40만명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14400" y="7955280"/>
            <a:ext cx="16459200" cy="566928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188720" y="795528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개최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2432304" y="7955280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2028년 제1회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595360" y="795528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재원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838944" y="795528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지방소멸대응기금 · 국비 · 기업협찬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14400" y="86868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3개년 방문객 목표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14400" y="9144000"/>
            <a:ext cx="5212080" cy="841248"/>
          </a:xfrm>
          <a:prstGeom prst="roundRect">
            <a:avLst>
              <a:gd name="adj" fmla="val 13043"/>
            </a:avLst>
          </a:prstGeom>
          <a:solidFill>
            <a:srgbClr val="5587CB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280160" y="9144000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1년차 2028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383280" y="9144000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15만명</a:t>
            </a:r>
            <a:endParaRPr lang="en-US" sz="2800" dirty="0"/>
          </a:p>
        </p:txBody>
      </p:sp>
      <p:sp>
        <p:nvSpPr>
          <p:cNvPr id="37" name="Shape 35"/>
          <p:cNvSpPr/>
          <p:nvPr/>
        </p:nvSpPr>
        <p:spPr>
          <a:xfrm>
            <a:off x="6537960" y="9144000"/>
            <a:ext cx="5212080" cy="841248"/>
          </a:xfrm>
          <a:prstGeom prst="roundRect">
            <a:avLst>
              <a:gd name="adj" fmla="val 13043"/>
            </a:avLst>
          </a:prstGeom>
          <a:solidFill>
            <a:srgbClr val="0038BF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903720" y="9144000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2년차 2029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006840" y="9144000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25만명</a:t>
            </a:r>
            <a:endParaRPr lang="en-US" sz="2800" dirty="0"/>
          </a:p>
        </p:txBody>
      </p:sp>
      <p:sp>
        <p:nvSpPr>
          <p:cNvPr id="40" name="Shape 38"/>
          <p:cNvSpPr/>
          <p:nvPr/>
        </p:nvSpPr>
        <p:spPr>
          <a:xfrm>
            <a:off x="12161520" y="9144000"/>
            <a:ext cx="5212080" cy="841248"/>
          </a:xfrm>
          <a:prstGeom prst="roundRect">
            <a:avLst>
              <a:gd name="adj" fmla="val 13043"/>
            </a:avLst>
          </a:prstGeom>
          <a:solidFill>
            <a:srgbClr val="110B79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12527280" y="9144000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3년차 2030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4630400" y="9144000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40만명</a:t>
            </a:r>
            <a:endParaRPr lang="en-US" sz="2800" dirty="0"/>
          </a:p>
        </p:txBody>
      </p:sp>
      <p:sp>
        <p:nvSpPr>
          <p:cNvPr id="43" name="Shape 41"/>
          <p:cNvSpPr/>
          <p:nvPr/>
        </p:nvSpPr>
        <p:spPr>
          <a:xfrm>
            <a:off x="914400" y="8540496"/>
            <a:ext cx="16459200" cy="749808"/>
          </a:xfrm>
          <a:prstGeom prst="roundRect">
            <a:avLst>
              <a:gd name="adj" fmla="val 14634"/>
            </a:avLst>
          </a:prstGeom>
          <a:solidFill>
            <a:srgbClr val="110B79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1371600" y="8540496"/>
            <a:ext cx="1554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첫해 15만은 지킬 수 있는 숫자입니다. 지킨 숫자만이 다음 예산을 부릅니다.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100" kern="0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0" y="60350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공간 구성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80160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종합제안서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72768"/>
            <a:ext cx="1645920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883664"/>
            <a:ext cx="1645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</a:t>
            </a:r>
            <a:pPr algn="ctr" indent="0" marL="0">
              <a:buNone/>
            </a:pPr>
            <a:r>
              <a:rPr lang="en-US" sz="42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hree Zones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377440" y="2688336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뿌리에서 시작해 맛으로 이어지고 문화로 끝납니다.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29584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110B79"/>
          </a:solidFill>
          <a:ln/>
          <a:effectLst>
            <a:outerShdw sx="100000" sy="100000" kx="0" ky="0" algn="bl" rotWithShape="0" blurRad="177800" dist="25400" dir="5400000">
              <a:srgbClr val="0038BF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16736" y="3840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468880" y="38587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spc="200" kern="0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ORIGIN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16736" y="4443984"/>
            <a:ext cx="4407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뿌리존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1316736" y="5321808"/>
            <a:ext cx="4407408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353312" y="5705856"/>
            <a:ext cx="118872" cy="118872"/>
          </a:xfrm>
          <a:prstGeom prst="ellipse">
            <a:avLst/>
          </a:prstGeom>
          <a:solidFill>
            <a:srgbClr val="5CE1E6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664208" y="5541264"/>
            <a:ext cx="4059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참프레 견학 연계 셔틀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53312" y="6437376"/>
            <a:ext cx="118872" cy="118872"/>
          </a:xfrm>
          <a:prstGeom prst="ellipse">
            <a:avLst/>
          </a:prstGeom>
          <a:solidFill>
            <a:srgbClr val="5CE1E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664208" y="6272784"/>
            <a:ext cx="4059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익산 치킨로드 연계 패스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353312" y="7168896"/>
            <a:ext cx="118872" cy="118872"/>
          </a:xfrm>
          <a:prstGeom prst="ellipse">
            <a:avLst/>
          </a:prstGeom>
          <a:solidFill>
            <a:srgbClr val="5CE1E6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664208" y="7004304"/>
            <a:ext cx="4059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동물복지 인증 현장 체험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316736" y="7571232"/>
            <a:ext cx="440740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316736" y="7571232"/>
            <a:ext cx="4407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i="1" dirty="0">
                <a:solidFill>
                  <a:srgbClr val="110B7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"어디서 왔나"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181344" y="5669280"/>
            <a:ext cx="301752" cy="292608"/>
          </a:xfrm>
          <a:prstGeom prst="rightArrow">
            <a:avLst/>
          </a:prstGeom>
          <a:solidFill>
            <a:srgbClr val="DDE5F3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537960" y="3529584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0038BF"/>
          </a:solidFill>
          <a:ln/>
          <a:effectLst>
            <a:outerShdw sx="100000" sy="100000" kx="0" ky="0" algn="bl" rotWithShape="0" blurRad="177800" dist="25400" dir="5400000">
              <a:srgbClr val="0038BF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940296" y="3840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E9C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092440" y="38587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spc="200" kern="0" dirty="0">
                <a:solidFill>
                  <a:srgbClr val="FFE9C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TASTE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40296" y="4443984"/>
            <a:ext cx="4407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미식존</a:t>
            </a:r>
            <a:endParaRPr lang="en-US" sz="3400" dirty="0"/>
          </a:p>
        </p:txBody>
      </p:sp>
      <p:sp>
        <p:nvSpPr>
          <p:cNvPr id="26" name="Shape 24"/>
          <p:cNvSpPr/>
          <p:nvPr/>
        </p:nvSpPr>
        <p:spPr>
          <a:xfrm>
            <a:off x="6940296" y="5321808"/>
            <a:ext cx="4407408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976872" y="5705856"/>
            <a:ext cx="118872" cy="118872"/>
          </a:xfrm>
          <a:prstGeom prst="ellipse">
            <a:avLst/>
          </a:prstGeom>
          <a:solidFill>
            <a:srgbClr val="FFE9C9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287768" y="5541264"/>
            <a:ext cx="4059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K-치킨벨트 30선 초청 부스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976872" y="6437376"/>
            <a:ext cx="118872" cy="118872"/>
          </a:xfrm>
          <a:prstGeom prst="ellipse">
            <a:avLst/>
          </a:prstGeom>
          <a:solidFill>
            <a:srgbClr val="FFE9C9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287768" y="6272784"/>
            <a:ext cx="4059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전국 닭요리 명인전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976872" y="7168896"/>
            <a:ext cx="118872" cy="118872"/>
          </a:xfrm>
          <a:prstGeom prst="ellipse">
            <a:avLst/>
          </a:prstGeom>
          <a:solidFill>
            <a:srgbClr val="FFE9C9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287768" y="7004304"/>
            <a:ext cx="4059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농특산물 직거래장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940296" y="7571232"/>
            <a:ext cx="440740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940296" y="7571232"/>
            <a:ext cx="4407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i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"어떤 맛인가"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11804904" y="5669280"/>
            <a:ext cx="301752" cy="292608"/>
          </a:xfrm>
          <a:prstGeom prst="rightArrow">
            <a:avLst/>
          </a:prstGeom>
          <a:solidFill>
            <a:srgbClr val="DDE5F3"/>
          </a:soli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2161520" y="3529584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5587CB"/>
          </a:solidFill>
          <a:ln/>
          <a:effectLst>
            <a:outerShdw sx="100000" sy="100000" kx="0" ky="0" algn="bl" rotWithShape="0" blurRad="177800" dist="25400" dir="5400000">
              <a:srgbClr val="0038BF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2563856" y="3840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13716000" y="38587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spc="200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CULTURE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2563856" y="4443984"/>
            <a:ext cx="4407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문화존</a:t>
            </a:r>
            <a:endParaRPr lang="en-US" sz="3400" dirty="0"/>
          </a:p>
        </p:txBody>
      </p:sp>
      <p:sp>
        <p:nvSpPr>
          <p:cNvPr id="40" name="Shape 38"/>
          <p:cNvSpPr/>
          <p:nvPr/>
        </p:nvSpPr>
        <p:spPr>
          <a:xfrm>
            <a:off x="12563856" y="5321808"/>
            <a:ext cx="4407408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2600432" y="5705856"/>
            <a:ext cx="118872" cy="11887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12911328" y="5541264"/>
            <a:ext cx="4059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계림 서사관 · 닭 문화 전시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2600432" y="6437376"/>
            <a:ext cx="118872" cy="11887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12911328" y="6272784"/>
            <a:ext cx="4059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야간 문화공연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2600432" y="7168896"/>
            <a:ext cx="118872" cy="11887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12911328" y="7004304"/>
            <a:ext cx="4059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변산 해안 불꽃 피날레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2563856" y="7571232"/>
            <a:ext cx="440740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12563856" y="7571232"/>
            <a:ext cx="4407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i="1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"왜 소중한가"</a:t>
            </a:r>
            <a:endParaRPr lang="en-US" sz="1700" dirty="0"/>
          </a:p>
        </p:txBody>
      </p:sp>
      <p:sp>
        <p:nvSpPr>
          <p:cNvPr id="49" name="Shape 47"/>
          <p:cNvSpPr/>
          <p:nvPr/>
        </p:nvSpPr>
        <p:spPr>
          <a:xfrm>
            <a:off x="914400" y="8540496"/>
            <a:ext cx="16459200" cy="749808"/>
          </a:xfrm>
          <a:prstGeom prst="roundRect">
            <a:avLst>
              <a:gd name="adj" fmla="val 14634"/>
            </a:avLst>
          </a:prstGeom>
          <a:solidFill>
            <a:srgbClr val="110B79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1371600" y="8540496"/>
            <a:ext cx="1554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먹고 끝나는 축제가 아니라, 알고 먹는 축제입니다.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100" kern="0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0" y="60350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시그니처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80160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종합제안서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72768"/>
            <a:ext cx="1645920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883664"/>
            <a:ext cx="1645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</a:t>
            </a:r>
            <a:pPr algn="ctr" indent="0" marL="0">
              <a:buNone/>
            </a:pPr>
            <a:r>
              <a:rPr lang="en-US" sz="42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ignature Programs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377440" y="2688336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 개의 프로그램보다, 사진 한 장으로 기억되는 세 개가 낫습니다.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29584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9050">
            <a:solidFill>
              <a:srgbClr val="DDE5F3"/>
            </a:solidFill>
            <a:prstDash val="solid"/>
          </a:ln>
          <a:effectLst>
            <a:outerShdw sx="100000" sy="100000" kx="0" ky="0" algn="bl" rotWithShape="0" blurRad="177800" dist="25400" dir="5400000">
              <a:srgbClr val="0038BF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46" name="Picture 45" descr="12_sig_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314" y="3530498"/>
            <a:ext cx="5212080" cy="2231136"/>
          </a:xfrm>
          <a:prstGeom prst="rect">
            <a:avLst/>
          </a:prstGeom>
        </p:spPr>
      </p:pic>
      <p:sp>
        <p:nvSpPr>
          <p:cNvPr id="11" name="Shape 9"/>
          <p:cNvSpPr/>
          <p:nvPr/>
        </p:nvSpPr>
        <p:spPr>
          <a:xfrm>
            <a:off x="1280160" y="5961888"/>
            <a:ext cx="786384" cy="457200"/>
          </a:xfrm>
          <a:prstGeom prst="roundRect">
            <a:avLst>
              <a:gd name="adj" fmla="val 16000"/>
            </a:avLst>
          </a:prstGeom>
          <a:solidFill>
            <a:srgbClr val="0038BF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280160" y="5961888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280160" y="6528816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새벽 계명식 (鷄鳴式)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316736" y="7278624"/>
            <a:ext cx="100584" cy="100584"/>
          </a:xfrm>
          <a:prstGeom prst="ellipse">
            <a:avLst/>
          </a:prstGeom>
          <a:solidFill>
            <a:srgbClr val="5587C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591056" y="7150608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축제 첫날 일출 · 변산 해안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316736" y="7662672"/>
            <a:ext cx="100584" cy="100584"/>
          </a:xfrm>
          <a:prstGeom prst="ellipse">
            <a:avLst/>
          </a:prstGeom>
          <a:solidFill>
            <a:srgbClr val="5587C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591056" y="7534656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계림 설화 재현 · 액운 물리기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316736" y="8046720"/>
            <a:ext cx="100584" cy="100584"/>
          </a:xfrm>
          <a:prstGeom prst="ellipse">
            <a:avLst/>
          </a:prstGeom>
          <a:solidFill>
            <a:srgbClr val="5587C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591056" y="7918704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부안에서만 가능한 의식 콘텐츠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37960" y="3529584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9050">
            <a:solidFill>
              <a:srgbClr val="DDE5F3"/>
            </a:solidFill>
            <a:prstDash val="solid"/>
          </a:ln>
          <a:effectLst>
            <a:outerShdw sx="100000" sy="100000" kx="0" ky="0" algn="bl" rotWithShape="0" blurRad="177800" dist="25400" dir="5400000">
              <a:srgbClr val="0038BF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47" name="Picture 46" descr="13_sig_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8874" y="3530498"/>
            <a:ext cx="5212080" cy="2231136"/>
          </a:xfrm>
          <a:prstGeom prst="rect">
            <a:avLst/>
          </a:prstGeom>
        </p:spPr>
      </p:pic>
      <p:sp>
        <p:nvSpPr>
          <p:cNvPr id="23" name="Shape 21"/>
          <p:cNvSpPr/>
          <p:nvPr/>
        </p:nvSpPr>
        <p:spPr>
          <a:xfrm>
            <a:off x="6903720" y="5961888"/>
            <a:ext cx="786384" cy="457200"/>
          </a:xfrm>
          <a:prstGeom prst="roundRect">
            <a:avLst>
              <a:gd name="adj" fmla="val 16000"/>
            </a:avLst>
          </a:prstGeom>
          <a:solidFill>
            <a:srgbClr val="0038BF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903720" y="5961888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903720" y="6528816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전국 닭요리 명인전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940296" y="7278624"/>
            <a:ext cx="100584" cy="100584"/>
          </a:xfrm>
          <a:prstGeom prst="ellipse">
            <a:avLst/>
          </a:prstGeom>
          <a:solidFill>
            <a:srgbClr val="5587CB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214616" y="7150608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K-치킨벨트 30선 지역 대표 초청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940296" y="7662672"/>
            <a:ext cx="100584" cy="100584"/>
          </a:xfrm>
          <a:prstGeom prst="ellipse">
            <a:avLst/>
          </a:prstGeom>
          <a:solidFill>
            <a:srgbClr val="5587CB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214616" y="7534656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춘천 · 안동 · 속초 · 수원 · 목포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940296" y="8046720"/>
            <a:ext cx="100584" cy="100584"/>
          </a:xfrm>
          <a:prstGeom prst="ellipse">
            <a:avLst/>
          </a:prstGeom>
          <a:solidFill>
            <a:srgbClr val="5587CB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214616" y="7918704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관람객 투표 + 레시피 아카이빙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2161520" y="3529584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9050">
            <a:solidFill>
              <a:srgbClr val="DDE5F3"/>
            </a:solidFill>
            <a:prstDash val="solid"/>
          </a:ln>
          <a:effectLst>
            <a:outerShdw sx="100000" sy="100000" kx="0" ky="0" algn="bl" rotWithShape="0" blurRad="177800" dist="25400" dir="5400000">
              <a:srgbClr val="0038BF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48" name="Picture 47" descr="14_sig_c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62434" y="3530498"/>
            <a:ext cx="5212080" cy="2231136"/>
          </a:xfrm>
          <a:prstGeom prst="rect">
            <a:avLst/>
          </a:prstGeom>
        </p:spPr>
      </p:pic>
      <p:sp>
        <p:nvSpPr>
          <p:cNvPr id="35" name="Shape 33"/>
          <p:cNvSpPr/>
          <p:nvPr/>
        </p:nvSpPr>
        <p:spPr>
          <a:xfrm>
            <a:off x="12527280" y="5961888"/>
            <a:ext cx="786384" cy="457200"/>
          </a:xfrm>
          <a:prstGeom prst="roundRect">
            <a:avLst>
              <a:gd name="adj" fmla="val 16000"/>
            </a:avLst>
          </a:prstGeom>
          <a:solidFill>
            <a:srgbClr val="0038BF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12527280" y="5961888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12527280" y="6528816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변산 불꽃 피날레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12563856" y="7278624"/>
            <a:ext cx="100584" cy="100584"/>
          </a:xfrm>
          <a:prstGeom prst="ellipse">
            <a:avLst/>
          </a:prstGeom>
          <a:solidFill>
            <a:srgbClr val="5587CB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2838176" y="7150608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폐막일 해안 배경 불꽃쇼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2563856" y="7662672"/>
            <a:ext cx="100584" cy="100584"/>
          </a:xfrm>
          <a:prstGeom prst="ellipse">
            <a:avLst/>
          </a:prstGeom>
          <a:solidFill>
            <a:srgbClr val="5587CB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12838176" y="7534656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체류시간 연장 → 숙박 유도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2563856" y="8046720"/>
            <a:ext cx="100584" cy="100584"/>
          </a:xfrm>
          <a:prstGeom prst="ellipse">
            <a:avLst/>
          </a:prstGeom>
          <a:solidFill>
            <a:srgbClr val="5587CB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2838176" y="7918704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안전관리계획 의무 대상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14400" y="8540496"/>
            <a:ext cx="16459200" cy="749808"/>
          </a:xfrm>
          <a:prstGeom prst="roundRect">
            <a:avLst>
              <a:gd name="adj" fmla="val 14634"/>
            </a:avLst>
          </a:prstGeom>
          <a:solidFill>
            <a:srgbClr val="110B79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1371600" y="8540496"/>
            <a:ext cx="1554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축제의 성패는 프로그램 수가 아니라, 기억되는 한 장면에서 갈립니다.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100" kern="0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0" y="60350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동물복지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80160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종합제안서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72768"/>
            <a:ext cx="1645920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883664"/>
            <a:ext cx="1645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pPr algn="ctr" indent="0" marL="0">
              <a:buNone/>
            </a:pPr>
            <a:r>
              <a:rPr lang="en-US" sz="42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nimal Welfare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377440" y="2688336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닭을 먹는 축제이기에, 더 정직해야 합니다. 피하지 않고 정면으로 다룹니다.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29584"/>
            <a:ext cx="16459200" cy="1078992"/>
          </a:xfrm>
          <a:prstGeom prst="roundRect">
            <a:avLst>
              <a:gd name="adj" fmla="val 10169"/>
            </a:avLst>
          </a:prstGeom>
          <a:solidFill>
            <a:srgbClr val="FBEAE8"/>
          </a:solidFill>
          <a:ln w="22225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16736" y="367588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예상되는 문제 제기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16736" y="4041648"/>
            <a:ext cx="15654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"동물을 소비하는 축제가 생명존중을 말할 수 있는가"</a:t>
            </a:r>
            <a:endParaRPr lang="en-US" sz="2200" dirty="0"/>
          </a:p>
        </p:txBody>
      </p:sp>
      <p:pic>
        <p:nvPicPr>
          <p:cNvPr id="31" name="Picture 30" descr="15_welfa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846320"/>
            <a:ext cx="5486400" cy="3438144"/>
          </a:xfrm>
          <a:prstGeom prst="rect">
            <a:avLst/>
          </a:prstGeom>
        </p:spPr>
      </p:pic>
      <p:sp>
        <p:nvSpPr>
          <p:cNvPr id="13" name="Shape 11"/>
          <p:cNvSpPr/>
          <p:nvPr/>
        </p:nvSpPr>
        <p:spPr>
          <a:xfrm>
            <a:off x="6803136" y="4846320"/>
            <a:ext cx="10570464" cy="1060704"/>
          </a:xfrm>
          <a:prstGeom prst="roundRect">
            <a:avLst>
              <a:gd name="adj" fmla="val 10345"/>
            </a:avLst>
          </a:prstGeom>
          <a:solidFill>
            <a:srgbClr val="D7ECFF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114032" y="5120640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0038BF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114032" y="5120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808976" y="4974336"/>
            <a:ext cx="9198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인증된 사실로 답한다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808976" y="5358384"/>
            <a:ext cx="9198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참프레는 2015년 국내 최초 동물복지 육용계 인증과 동물복지 도축장 지정을 받았습니다. 부안은 한국에서 동물복지 축산을 가장 먼저 시작한 곳입니다.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03136" y="6035040"/>
            <a:ext cx="10570464" cy="1060704"/>
          </a:xfrm>
          <a:prstGeom prst="roundRect">
            <a:avLst>
              <a:gd name="adj" fmla="val 10345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114032" y="6309360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0038BF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114032" y="6309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808976" y="6163056"/>
            <a:ext cx="9198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감추지 않고 보여준다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808976" y="6547104"/>
            <a:ext cx="9198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사육 · 운송 · 도계 전 과정을 공개 견학합니다. 알고 먹는 것이 윤리의 출발점입니다.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803136" y="7223760"/>
            <a:ext cx="10570464" cy="1060704"/>
          </a:xfrm>
          <a:prstGeom prst="roundRect">
            <a:avLst>
              <a:gd name="adj" fmla="val 10345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114032" y="7498080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0038BF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114032" y="7498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808976" y="7351776"/>
            <a:ext cx="9198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세대에 가르친다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7808976" y="7735824"/>
            <a:ext cx="9198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어린이 생명존중 교육 프로그램을 축제 기간과 연중 상설로 운영합니다.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14400" y="8540496"/>
            <a:ext cx="16459200" cy="749808"/>
          </a:xfrm>
          <a:prstGeom prst="roundRect">
            <a:avLst>
              <a:gd name="adj" fmla="val 14634"/>
            </a:avLst>
          </a:prstGeom>
          <a:solidFill>
            <a:srgbClr val="110B79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371600" y="8540496"/>
            <a:ext cx="1554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부안은 동물복지를 마케팅이 아니라 이력으로 증명합니다.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914400" y="9582912"/>
            <a:ext cx="1645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참프레 · 농림축산식품부 동물복지축산농장 인증제도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0B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38560" y="-2011680"/>
            <a:ext cx="10058400" cy="10058400"/>
          </a:xfrm>
          <a:prstGeom prst="roundRect">
            <a:avLst>
              <a:gd name="adj" fmla="val 18182"/>
            </a:avLst>
          </a:prstGeom>
          <a:solidFill>
            <a:srgbClr val="0038B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3716000" y="5120640"/>
            <a:ext cx="7315200" cy="7315200"/>
          </a:xfrm>
          <a:prstGeom prst="roundRect">
            <a:avLst>
              <a:gd name="adj" fmla="val 20000"/>
            </a:avLst>
          </a:prstGeom>
          <a:solidFill>
            <a:srgbClr val="1A1490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14400" y="320040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914400" y="5394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검증과 리스크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6492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spc="300" kern="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VALIDATION &amp; RISK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5230368"/>
            <a:ext cx="2926080" cy="0"/>
          </a:xfrm>
          <a:prstGeom prst="line">
            <a:avLst/>
          </a:prstGeom>
          <a:noFill/>
          <a:ln w="38100">
            <a:solidFill>
              <a:srgbClr val="5CE1E6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100" kern="0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0" y="60350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 분석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80160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종합제안서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72768"/>
            <a:ext cx="1645920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883664"/>
            <a:ext cx="1645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pPr algn="ctr" indent="0" marL="0">
              <a:buNone/>
            </a:pPr>
            <a:r>
              <a:rPr lang="en-US" sz="42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ompetitive Position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377440" y="2688336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경쟁이 아니라 보완입니다. 누구도 「산업 기반 위의 가족형 축제」를 하고 있지 않습니다.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29584"/>
            <a:ext cx="1828800" cy="658368"/>
          </a:xfrm>
          <a:prstGeom prst="rect">
            <a:avLst/>
          </a:prstGeom>
          <a:solidFill>
            <a:srgbClr val="110B79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352958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구분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743200" y="3529584"/>
            <a:ext cx="3200400" cy="658368"/>
          </a:xfrm>
          <a:prstGeom prst="rect">
            <a:avLst/>
          </a:prstGeom>
          <a:solidFill>
            <a:srgbClr val="110B79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743200" y="352958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대구 치맥페스티벌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943600" y="3529584"/>
            <a:ext cx="2926080" cy="658368"/>
          </a:xfrm>
          <a:prstGeom prst="rect">
            <a:avLst/>
          </a:prstGeom>
          <a:solidFill>
            <a:srgbClr val="110B79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943600" y="352958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익산 치킨로드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869680" y="3529584"/>
            <a:ext cx="3200400" cy="658368"/>
          </a:xfrm>
          <a:prstGeom prst="rect">
            <a:avLst/>
          </a:prstGeom>
          <a:solidFill>
            <a:srgbClr val="0038BF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869680" y="352958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400" y="4187952"/>
            <a:ext cx="182880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42416" y="4187952"/>
            <a:ext cx="15727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주체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743200" y="4187952"/>
            <a:ext cx="320040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871216" y="4187952"/>
            <a:ext cx="29443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지자체 · 협회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943600" y="4187952"/>
            <a:ext cx="292608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071616" y="4187952"/>
            <a:ext cx="26700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(하림)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869680" y="4187952"/>
            <a:ext cx="3200400" cy="768096"/>
          </a:xfrm>
          <a:prstGeom prst="rect">
            <a:avLst/>
          </a:prstGeom>
          <a:solidFill>
            <a:srgbClr val="D7ECFF"/>
          </a:solidFill>
          <a:ln w="952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997696" y="4187952"/>
            <a:ext cx="29443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지자체 + 기업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4400" y="4956048"/>
            <a:ext cx="1828800" cy="768096"/>
          </a:xfrm>
          <a:prstGeom prst="rect">
            <a:avLst/>
          </a:prstGeom>
          <a:solidFill>
            <a:srgbClr val="F5F8FC"/>
          </a:solidFill>
          <a:ln w="952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042416" y="4956048"/>
            <a:ext cx="15727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형태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743200" y="4956048"/>
            <a:ext cx="3200400" cy="768096"/>
          </a:xfrm>
          <a:prstGeom prst="rect">
            <a:avLst/>
          </a:prstGeom>
          <a:solidFill>
            <a:srgbClr val="F5F8FC"/>
          </a:solidFill>
          <a:ln w="952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871216" y="4956048"/>
            <a:ext cx="29443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 1회 대형 축제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943600" y="4956048"/>
            <a:ext cx="2926080" cy="768096"/>
          </a:xfrm>
          <a:prstGeom prst="rect">
            <a:avLst/>
          </a:prstGeom>
          <a:solidFill>
            <a:srgbClr val="F5F8FC"/>
          </a:solidFill>
          <a:ln w="952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071616" y="4956048"/>
            <a:ext cx="26700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상설 견학 프로그램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869680" y="4956048"/>
            <a:ext cx="3200400" cy="768096"/>
          </a:xfrm>
          <a:prstGeom prst="rect">
            <a:avLst/>
          </a:prstGeom>
          <a:solidFill>
            <a:srgbClr val="D7ECFF"/>
          </a:solidFill>
          <a:ln w="952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997696" y="4956048"/>
            <a:ext cx="29443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 1회 축제 + 상설 연계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14400" y="5724144"/>
            <a:ext cx="182880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042416" y="5724144"/>
            <a:ext cx="15727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방문 단위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2743200" y="5724144"/>
            <a:ext cx="320040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2871216" y="5724144"/>
            <a:ext cx="29443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· 청년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5943600" y="5724144"/>
            <a:ext cx="292608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071616" y="5724144"/>
            <a:ext cx="26700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단체 · 학생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8869680" y="5724144"/>
            <a:ext cx="3200400" cy="768096"/>
          </a:xfrm>
          <a:prstGeom prst="rect">
            <a:avLst/>
          </a:prstGeom>
          <a:solidFill>
            <a:srgbClr val="D7ECFF"/>
          </a:solidFill>
          <a:ln w="952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997696" y="5724144"/>
            <a:ext cx="29443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가족 · 관광객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914400" y="6492240"/>
            <a:ext cx="1828800" cy="768096"/>
          </a:xfrm>
          <a:prstGeom prst="rect">
            <a:avLst/>
          </a:prstGeom>
          <a:solidFill>
            <a:srgbClr val="F5F8FC"/>
          </a:solidFill>
          <a:ln w="952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1042416" y="6492240"/>
            <a:ext cx="15727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축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2743200" y="6492240"/>
            <a:ext cx="3200400" cy="768096"/>
          </a:xfrm>
          <a:prstGeom prst="rect">
            <a:avLst/>
          </a:prstGeom>
          <a:solidFill>
            <a:srgbClr val="F5F8FC"/>
          </a:solidFill>
          <a:ln w="952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2871216" y="6492240"/>
            <a:ext cx="29443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소비 · 유흥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5943600" y="6492240"/>
            <a:ext cx="2926080" cy="768096"/>
          </a:xfrm>
          <a:prstGeom prst="rect">
            <a:avLst/>
          </a:prstGeom>
          <a:solidFill>
            <a:srgbClr val="F5F8FC"/>
          </a:solidFill>
          <a:ln w="952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071616" y="6492240"/>
            <a:ext cx="26700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 · 교육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8869680" y="6492240"/>
            <a:ext cx="3200400" cy="768096"/>
          </a:xfrm>
          <a:prstGeom prst="rect">
            <a:avLst/>
          </a:prstGeom>
          <a:solidFill>
            <a:srgbClr val="D7ECFF"/>
          </a:solidFill>
          <a:ln w="952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8997696" y="6492240"/>
            <a:ext cx="29443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 + 미식 + 관광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914400" y="7260336"/>
            <a:ext cx="182880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042416" y="7260336"/>
            <a:ext cx="15727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규모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2743200" y="7260336"/>
            <a:ext cx="320040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2871216" y="7260336"/>
            <a:ext cx="29443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115만명 (2025)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5943600" y="7260336"/>
            <a:ext cx="292608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6071616" y="7260336"/>
            <a:ext cx="26700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 수천명 규모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8869680" y="7260336"/>
            <a:ext cx="3200400" cy="768096"/>
          </a:xfrm>
          <a:prstGeom prst="rect">
            <a:avLst/>
          </a:prstGeom>
          <a:solidFill>
            <a:srgbClr val="D7ECFF"/>
          </a:solidFill>
          <a:ln w="952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8997696" y="7260336"/>
            <a:ext cx="29443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15만 → 40만 (목표)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2472416" y="3529584"/>
            <a:ext cx="4901184" cy="4498848"/>
          </a:xfrm>
          <a:prstGeom prst="roundRect">
            <a:avLst>
              <a:gd name="adj" fmla="val 2439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12838176" y="37673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포지셔닝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4923008" y="4535424"/>
            <a:ext cx="0" cy="3108960"/>
          </a:xfrm>
          <a:prstGeom prst="line">
            <a:avLst/>
          </a:prstGeom>
          <a:noFill/>
          <a:ln w="19050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12975336" y="6181344"/>
            <a:ext cx="3895344" cy="0"/>
          </a:xfrm>
          <a:prstGeom prst="line">
            <a:avLst/>
          </a:prstGeom>
          <a:noFill/>
          <a:ln w="19050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13459968" y="438912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 기반 있음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13459968" y="757123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 기반 없음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12600432" y="60167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16422624" y="60167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가족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15307056" y="4882896"/>
            <a:ext cx="1325880" cy="603504"/>
          </a:xfrm>
          <a:prstGeom prst="ellipse">
            <a:avLst/>
          </a:prstGeom>
          <a:solidFill>
            <a:srgbClr val="0038BF"/>
          </a:solidFill>
          <a:ln/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15307056" y="4882896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13185648" y="5394960"/>
            <a:ext cx="1325880" cy="603504"/>
          </a:xfrm>
          <a:prstGeom prst="ellipse">
            <a:avLst/>
          </a:prstGeom>
          <a:solidFill>
            <a:srgbClr val="5587CB"/>
          </a:solidFill>
          <a:ln/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13185648" y="5394960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익산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15425928" y="6967728"/>
            <a:ext cx="1325880" cy="603504"/>
          </a:xfrm>
          <a:prstGeom prst="ellipse">
            <a:avLst/>
          </a:prstGeom>
          <a:solidFill>
            <a:srgbClr val="545454"/>
          </a:solidFill>
          <a:ln/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15425928" y="6967728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대구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914400" y="8540496"/>
            <a:ext cx="16459200" cy="749808"/>
          </a:xfrm>
          <a:prstGeom prst="roundRect">
            <a:avLst>
              <a:gd name="adj" fmla="val 14634"/>
            </a:avLst>
          </a:prstGeom>
          <a:solidFill>
            <a:srgbClr val="110B79"/>
          </a:solidFill>
          <a:ln/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1371600" y="8540496"/>
            <a:ext cx="1554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대구는 소비의 정점, 익산은 산업의 관문. 부안은 그 둘을 잇는 다리입니다.</a:t>
            </a:r>
            <a:endParaRPr lang="en-US" sz="2100" dirty="0"/>
          </a:p>
        </p:txBody>
      </p:sp>
      <p:sp>
        <p:nvSpPr>
          <p:cNvPr id="72" name="Text 70"/>
          <p:cNvSpPr/>
          <p:nvPr/>
        </p:nvSpPr>
        <p:spPr>
          <a:xfrm>
            <a:off x="914400" y="9582912"/>
            <a:ext cx="1645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매일신문(2026.7.6) · 하림 보도자료 · 대구치맥페스티벌 공식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100" kern="0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0" y="60350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 목표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80160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종합제안서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72768"/>
            <a:ext cx="1645920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883664"/>
            <a:ext cx="1645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</a:t>
            </a:r>
            <a:pPr algn="ctr" indent="0" marL="0">
              <a:buNone/>
            </a:pPr>
            <a:r>
              <a:rPr lang="en-US" sz="42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taged Targets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377440" y="2688336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50만은 결과이지 약속이 아닙니다. 지킬 수 있는 숫자로 시작합니다.</a:t>
            </a:r>
            <a:endParaRPr lang="en-US" sz="2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914400" y="3529584"/>
          <a:ext cx="96926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11009376" y="3529584"/>
            <a:ext cx="6364224" cy="4754880"/>
          </a:xfrm>
          <a:prstGeom prst="roundRect">
            <a:avLst>
              <a:gd name="adj" fmla="val 2308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1411712" y="3822192"/>
            <a:ext cx="5559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직접소비 산출 근거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1411712" y="4389120"/>
            <a:ext cx="555955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1704320" y="43891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1인 평균 지출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118336" y="4389120"/>
            <a:ext cx="2798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35,000원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11411712" y="5504688"/>
            <a:ext cx="5559552" cy="6035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1704320" y="550468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1년차 · 15만명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4118336" y="5504688"/>
            <a:ext cx="27980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52.5억원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11411712" y="6217920"/>
            <a:ext cx="5559552" cy="6035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1704320" y="621792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2년차 · 25만명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4118336" y="6217920"/>
            <a:ext cx="27980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87.5억원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11411712" y="6931152"/>
            <a:ext cx="5559552" cy="603504"/>
          </a:xfrm>
          <a:prstGeom prst="rect">
            <a:avLst/>
          </a:prstGeom>
          <a:solidFill>
            <a:srgbClr val="D7ECFF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1704320" y="6931152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3년차 · 40만명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4118336" y="6931152"/>
            <a:ext cx="27980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140.0억원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11411712" y="7754112"/>
            <a:ext cx="5559552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11411712" y="7882128"/>
            <a:ext cx="5559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직접소비 기준 · 승수효과 별도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문화관광축제 방문객 소비지출 조사 평균치 준용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914400" y="8540496"/>
            <a:ext cx="16459200" cy="749808"/>
          </a:xfrm>
          <a:prstGeom prst="roundRect">
            <a:avLst>
              <a:gd name="adj" fmla="val 14634"/>
            </a:avLst>
          </a:prstGeom>
          <a:solidFill>
            <a:srgbClr val="110B79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371600" y="8540496"/>
            <a:ext cx="1554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과장된 숫자는 첫해에 무너집니다. 지킨 숫자만이 다음 예산을 부릅니다.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100" kern="0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0" y="60350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관리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80160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종합제안서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72768"/>
            <a:ext cx="1645920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883664"/>
            <a:ext cx="1645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</a:t>
            </a:r>
            <a:pPr algn="ctr" indent="0" marL="0">
              <a:buNone/>
            </a:pPr>
            <a:r>
              <a:rPr lang="en-US" sz="42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isk Management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377440" y="2688336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축산 소재 축제의 최대 변수는 방역입니다. 숨기지 않고 먼저 말합니다.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29584"/>
            <a:ext cx="16459200" cy="1426464"/>
          </a:xfrm>
          <a:prstGeom prst="roundRect">
            <a:avLst>
              <a:gd name="adj" fmla="val 7692"/>
            </a:avLst>
          </a:prstGeom>
          <a:solidFill>
            <a:srgbClr val="FBEAE8"/>
          </a:solidFill>
          <a:ln w="22225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16736" y="36758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C039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 ~ 2026 동절기 고병원성 조류인플루엔자 발생 현황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16736" y="413308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C039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53건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962656" y="413308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가금농장 · 전북 포함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11696" y="413308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C039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63건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57616" y="413308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야생조류 · 전년 43건 대비 1.5배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106656" y="413308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C039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10월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3752576" y="413308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철새 도래 시작기와 근접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52120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 대응 시나리오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4400" y="5669280"/>
            <a:ext cx="2011680" cy="841248"/>
          </a:xfrm>
          <a:prstGeom prst="roundRect">
            <a:avLst>
              <a:gd name="adj" fmla="val 10870"/>
            </a:avLst>
          </a:prstGeom>
          <a:solidFill>
            <a:srgbClr val="0038BF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4400" y="566928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정상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3108960" y="5669280"/>
            <a:ext cx="4572000" cy="841248"/>
          </a:xfrm>
          <a:prstGeom prst="roundRect">
            <a:avLst>
              <a:gd name="adj" fmla="val 13043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383280" y="5669280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발생 없음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863840" y="5669280"/>
            <a:ext cx="95097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9050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138160" y="5669280"/>
            <a:ext cx="8961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 프로그램 정상 운영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14400" y="6638544"/>
            <a:ext cx="2011680" cy="841248"/>
          </a:xfrm>
          <a:prstGeom prst="roundRect">
            <a:avLst>
              <a:gd name="adj" fmla="val 10870"/>
            </a:avLst>
          </a:prstGeom>
          <a:solidFill>
            <a:srgbClr val="D9A404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14400" y="6638544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3108960" y="6638544"/>
            <a:ext cx="4572000" cy="841248"/>
          </a:xfrm>
          <a:prstGeom prst="roundRect">
            <a:avLst>
              <a:gd name="adj" fmla="val 13043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383280" y="6638544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전북권 발생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863840" y="6638544"/>
            <a:ext cx="95097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9050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138160" y="6638544"/>
            <a:ext cx="8961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생체 접촉 프로그램 전면 대체</a:t>
            </a:r>
            <a:endParaRPr lang="en-US" sz="1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(병아리 관찰 → VR · 미디어 체험)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14400" y="7607808"/>
            <a:ext cx="2011680" cy="841248"/>
          </a:xfrm>
          <a:prstGeom prst="roundRect">
            <a:avLst>
              <a:gd name="adj" fmla="val 1087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914400" y="7607808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심각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3108960" y="7607808"/>
            <a:ext cx="4572000" cy="841248"/>
          </a:xfrm>
          <a:prstGeom prst="roundRect">
            <a:avLst>
              <a:gd name="adj" fmla="val 13043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383280" y="7607808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인근 발생 / 이동제한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863840" y="7607808"/>
            <a:ext cx="95097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9050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138160" y="7607808"/>
            <a:ext cx="8961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온라인 전환 또는 11월 연기</a:t>
            </a:r>
            <a:endParaRPr lang="en-US" sz="1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사전 계약에 연기조항 삽입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14400" y="8650224"/>
            <a:ext cx="16459200" cy="786384"/>
          </a:xfrm>
          <a:prstGeom prst="roundRect">
            <a:avLst>
              <a:gd name="adj" fmla="val 13953"/>
            </a:avLst>
          </a:prstGeom>
          <a:solidFill>
            <a:srgbClr val="D7ECFF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1316736" y="8650224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법정 안전관리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840480" y="8650224"/>
            <a:ext cx="131307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「재난 및 안전관리 기본법」제66조의11 대상 (순간 최대 관람객 1천명 이상 · 불꽃 사용) · 안전관리계획 개최 3주 전 제출 의무 · 인파 밀집구간 실시간 모니터링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14400" y="9582912"/>
            <a:ext cx="1645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농림축산식품부 중수본(2026.3.9) · 기후에너지환경부(2026.5.29) · 재난 및 안전관리 기본법 시행령 제73조의9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0B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38560" y="-2011680"/>
            <a:ext cx="10058400" cy="10058400"/>
          </a:xfrm>
          <a:prstGeom prst="roundRect">
            <a:avLst>
              <a:gd name="adj" fmla="val 18182"/>
            </a:avLst>
          </a:prstGeom>
          <a:solidFill>
            <a:srgbClr val="0038B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3716000" y="5120640"/>
            <a:ext cx="7315200" cy="7315200"/>
          </a:xfrm>
          <a:prstGeom prst="roundRect">
            <a:avLst>
              <a:gd name="adj" fmla="val 20000"/>
            </a:avLst>
          </a:prstGeom>
          <a:solidFill>
            <a:srgbClr val="1A1490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14400" y="320040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914400" y="5394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재원과 추진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6492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spc="300" kern="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FUNDING &amp; EXECUTION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5230368"/>
            <a:ext cx="2926080" cy="0"/>
          </a:xfrm>
          <a:prstGeom prst="line">
            <a:avLst/>
          </a:prstGeom>
          <a:noFill/>
          <a:ln w="38100">
            <a:solidFill>
              <a:srgbClr val="5CE1E6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100" kern="0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0" y="60350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재원 조달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80160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종합제안서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72768"/>
            <a:ext cx="1645920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883664"/>
            <a:ext cx="1645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</a:t>
            </a:r>
            <a:pPr algn="ctr" indent="0" marL="0">
              <a:buNone/>
            </a:pPr>
            <a:r>
              <a:rPr lang="en-US" sz="42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unding Structure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377440" y="2688336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없는 국비를 기대하지 않고, 이미 확보된 재원을 설계합니다.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29584"/>
            <a:ext cx="5212080" cy="3877056"/>
          </a:xfrm>
          <a:prstGeom prst="roundRect">
            <a:avLst>
              <a:gd name="adj" fmla="val 2830"/>
            </a:avLst>
          </a:prstGeom>
          <a:solidFill>
            <a:srgbClr val="110B79"/>
          </a:solidFill>
          <a:ln/>
          <a:effectLst>
            <a:outerShdw sx="100000" sy="100000" kx="0" ky="0" algn="bl" rotWithShape="0" blurRad="177800" dist="25400" dir="5400000">
              <a:srgbClr val="0038BF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16736" y="380390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608576" y="3803904"/>
            <a:ext cx="1115568" cy="402336"/>
          </a:xfrm>
          <a:prstGeom prst="roundRect">
            <a:avLst>
              <a:gd name="adj" fmla="val 15909"/>
            </a:avLst>
          </a:prstGeom>
          <a:solidFill>
            <a:srgbClr val="5CE1E6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08576" y="3803904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10B7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16736" y="4334256"/>
            <a:ext cx="4407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지방소멸대응기금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16736" y="4864608"/>
            <a:ext cx="44074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348억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1316736" y="5632704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 5년 누적 배분액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316736" y="6053328"/>
            <a:ext cx="4407408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316736" y="6217920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부안군은 인구감소지역 지정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16736" y="6620256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행안부 2026년 평가기준 전환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(시설 → 인구유입 효과)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16736" y="7022592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전북도 SW 사업 우선 반영 방침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37960" y="3529584"/>
            <a:ext cx="5212080" cy="3877056"/>
          </a:xfrm>
          <a:prstGeom prst="roundRect">
            <a:avLst>
              <a:gd name="adj" fmla="val 2830"/>
            </a:avLst>
          </a:prstGeom>
          <a:solidFill>
            <a:srgbClr val="0038BF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940296" y="380390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232136" y="3803904"/>
            <a:ext cx="1115568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0232136" y="3803904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40296" y="4334256"/>
            <a:ext cx="4407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문화관광축제 국비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6940296" y="4864608"/>
            <a:ext cx="44074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4천만원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6940296" y="5632704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지정 시 축제당 국비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940296" y="6053328"/>
            <a:ext cx="4407408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940296" y="6217920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2026~2027 전국 27개 선정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40296" y="6620256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한국관광공사 홍보 · 마케팅 지원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40296" y="7022592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예비 글로벌축제 승격 시 증액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2161520" y="3529584"/>
            <a:ext cx="5212080" cy="3877056"/>
          </a:xfrm>
          <a:prstGeom prst="roundRect">
            <a:avLst>
              <a:gd name="adj" fmla="val 2830"/>
            </a:avLst>
          </a:prstGeom>
          <a:solidFill>
            <a:srgbClr val="5587CB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2563856" y="380390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5855696" y="3803904"/>
            <a:ext cx="1115568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5855696" y="3803904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확대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2563856" y="4334256"/>
            <a:ext cx="4407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협찬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12563856" y="4864608"/>
            <a:ext cx="44074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민간</a:t>
            </a:r>
            <a:endParaRPr lang="en-US" sz="4000" dirty="0"/>
          </a:p>
        </p:txBody>
      </p:sp>
      <p:sp>
        <p:nvSpPr>
          <p:cNvPr id="36" name="Text 34"/>
          <p:cNvSpPr/>
          <p:nvPr/>
        </p:nvSpPr>
        <p:spPr>
          <a:xfrm>
            <a:off x="12563856" y="5632704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참프레 · 프랜차이즈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2563856" y="6053328"/>
            <a:ext cx="4407408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12563856" y="6217920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참프레 (부안 소재 · 최우선)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2563856" y="6620256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하림 · BBQ · bhc · 교촌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2563856" y="7022592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ESG · 신제품 마케팅 수요 연계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914400" y="7662672"/>
            <a:ext cx="16459200" cy="804672"/>
          </a:xfrm>
          <a:prstGeom prst="roundRect">
            <a:avLst>
              <a:gd name="adj" fmla="val 13636"/>
            </a:avLst>
          </a:prstGeom>
          <a:solidFill>
            <a:srgbClr val="FBEAE8"/>
          </a:solidFill>
          <a:ln w="22225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1316736" y="7662672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C039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오해 정정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291840" y="7662672"/>
            <a:ext cx="136794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문화관광축제로 선정돼도 국비는 축제당 4천만원입니다. 대구 치맥페스티벌조차 예비 글로벌축제 선정으로 2.5억원을 추가 지원받는 수준입니다.  →  "국비 50% 지원"은 존재하지 않는 재원입니다.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14400" y="9582912"/>
            <a:ext cx="1645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전북특별자치도(2026) · 문화체육관광부(2026.1) · 행정안전부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100" kern="0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0" y="60350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추진 일정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80160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종합제안서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72768"/>
            <a:ext cx="1645920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883664"/>
            <a:ext cx="1645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</a:t>
            </a:r>
            <a:pPr algn="ctr" indent="0" marL="0">
              <a:buNone/>
            </a:pPr>
            <a:r>
              <a:rPr lang="en-US" sz="42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oadmap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377440" y="2688336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지방소멸대응기금 투자계획은 매년 6~7월 제출입니다. 지금 시작해야 2028년에 열립니다.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29584"/>
            <a:ext cx="3877056" cy="713232"/>
          </a:xfrm>
          <a:prstGeom prst="roundRect">
            <a:avLst>
              <a:gd name="adj" fmla="val 12821"/>
            </a:avLst>
          </a:prstGeom>
          <a:solidFill>
            <a:srgbClr val="5587C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3529584"/>
            <a:ext cx="3877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하반기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14400" y="4370832"/>
            <a:ext cx="3877056" cy="2103120"/>
          </a:xfrm>
          <a:prstGeom prst="roundRect">
            <a:avLst>
              <a:gd name="adj" fmla="val 5217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207008" y="4736592"/>
            <a:ext cx="109728" cy="109728"/>
          </a:xfrm>
          <a:prstGeom prst="ellipse">
            <a:avLst/>
          </a:prstGeom>
          <a:solidFill>
            <a:srgbClr val="5587C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481328" y="459028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기본계획 수립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07008" y="5413248"/>
            <a:ext cx="109728" cy="109728"/>
          </a:xfrm>
          <a:prstGeom prst="ellipse">
            <a:avLst/>
          </a:prstGeom>
          <a:solidFill>
            <a:srgbClr val="5587C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481328" y="5266944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참프레 MOU 체결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07008" y="6089904"/>
            <a:ext cx="109728" cy="109728"/>
          </a:xfrm>
          <a:prstGeom prst="ellipse">
            <a:avLst/>
          </a:prstGeom>
          <a:solidFill>
            <a:srgbClr val="5587C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81328" y="594360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추진위 확대 구성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09744" y="3767328"/>
            <a:ext cx="237744" cy="237744"/>
          </a:xfrm>
          <a:prstGeom prst="rightArrow">
            <a:avLst/>
          </a:prstGeom>
          <a:solidFill>
            <a:srgbClr val="DDE5F3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084064" y="3529584"/>
            <a:ext cx="3877056" cy="713232"/>
          </a:xfrm>
          <a:prstGeom prst="roundRect">
            <a:avLst>
              <a:gd name="adj" fmla="val 12821"/>
            </a:avLst>
          </a:prstGeom>
          <a:solidFill>
            <a:srgbClr val="5587C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084064" y="3529584"/>
            <a:ext cx="3877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상반기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084064" y="4370832"/>
            <a:ext cx="3877056" cy="2103120"/>
          </a:xfrm>
          <a:prstGeom prst="roundRect">
            <a:avLst>
              <a:gd name="adj" fmla="val 5217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376672" y="4736592"/>
            <a:ext cx="109728" cy="109728"/>
          </a:xfrm>
          <a:prstGeom prst="ellipse">
            <a:avLst/>
          </a:prstGeom>
          <a:solidFill>
            <a:srgbClr val="5587CB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650992" y="459028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타당성 검토 · 프로그램 설계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76672" y="5413248"/>
            <a:ext cx="109728" cy="109728"/>
          </a:xfrm>
          <a:prstGeom prst="ellipse">
            <a:avLst/>
          </a:prstGeom>
          <a:solidFill>
            <a:srgbClr val="5587CB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650992" y="5266944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K-치킨벨트 거점 등재 신청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376672" y="6089904"/>
            <a:ext cx="109728" cy="109728"/>
          </a:xfrm>
          <a:prstGeom prst="ellipse">
            <a:avLst/>
          </a:prstGeom>
          <a:solidFill>
            <a:srgbClr val="5587CB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650992" y="594360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 6~7월 기금 투자계획(안) 제출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979408" y="3767328"/>
            <a:ext cx="237744" cy="237744"/>
          </a:xfrm>
          <a:prstGeom prst="rightArrow">
            <a:avLst/>
          </a:prstGeom>
          <a:solidFill>
            <a:srgbClr val="DDE5F3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253728" y="3529584"/>
            <a:ext cx="3877056" cy="713232"/>
          </a:xfrm>
          <a:prstGeom prst="roundRect">
            <a:avLst>
              <a:gd name="adj" fmla="val 12821"/>
            </a:avLst>
          </a:prstGeom>
          <a:solidFill>
            <a:srgbClr val="0038BF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253728" y="3529584"/>
            <a:ext cx="3877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하반기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9253728" y="4370832"/>
            <a:ext cx="3877056" cy="2103120"/>
          </a:xfrm>
          <a:prstGeom prst="roundRect">
            <a:avLst>
              <a:gd name="adj" fmla="val 5217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9546336" y="4736592"/>
            <a:ext cx="109728" cy="109728"/>
          </a:xfrm>
          <a:prstGeom prst="ellipse">
            <a:avLst/>
          </a:prstGeom>
          <a:solidFill>
            <a:srgbClr val="0038BF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9820656" y="459028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기금 평가 대응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546336" y="5413248"/>
            <a:ext cx="109728" cy="109728"/>
          </a:xfrm>
          <a:prstGeom prst="ellipse">
            <a:avLst/>
          </a:prstGeom>
          <a:solidFill>
            <a:srgbClr val="0038BF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9820656" y="5266944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협찬 확정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546336" y="6089904"/>
            <a:ext cx="109728" cy="109728"/>
          </a:xfrm>
          <a:prstGeom prst="ellipse">
            <a:avLst/>
          </a:prstGeom>
          <a:solidFill>
            <a:srgbClr val="0038BF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9820656" y="594360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 12월 배분금액 확정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3149072" y="3767328"/>
            <a:ext cx="237744" cy="237744"/>
          </a:xfrm>
          <a:prstGeom prst="rightArrow">
            <a:avLst/>
          </a:prstGeom>
          <a:solidFill>
            <a:srgbClr val="DDE5F3"/>
          </a:solidFill>
          <a:ln/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3423392" y="3529584"/>
            <a:ext cx="3877056" cy="713232"/>
          </a:xfrm>
          <a:prstGeom prst="roundRect">
            <a:avLst>
              <a:gd name="adj" fmla="val 12821"/>
            </a:avLst>
          </a:prstGeom>
          <a:solidFill>
            <a:srgbClr val="110B79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3423392" y="3529584"/>
            <a:ext cx="3877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2028년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13423392" y="4370832"/>
            <a:ext cx="3877056" cy="2103120"/>
          </a:xfrm>
          <a:prstGeom prst="roundRect">
            <a:avLst>
              <a:gd name="adj" fmla="val 5217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3716000" y="4736592"/>
            <a:ext cx="109728" cy="109728"/>
          </a:xfrm>
          <a:prstGeom prst="ellipse">
            <a:avLst/>
          </a:prstGeom>
          <a:solidFill>
            <a:srgbClr val="110B79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13990320" y="459028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실행계획 · 안전관리계획 수립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3716000" y="5413248"/>
            <a:ext cx="109728" cy="109728"/>
          </a:xfrm>
          <a:prstGeom prst="ellipse">
            <a:avLst/>
          </a:prstGeom>
          <a:solidFill>
            <a:srgbClr val="110B79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13990320" y="5266944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 10월 제1회 부안 닭축제 개최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14400" y="66934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이후 단계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914400" y="7095744"/>
            <a:ext cx="164592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1280160" y="709574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2029 ~ 2030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206240" y="7095744"/>
            <a:ext cx="1280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~ 3회차 개최 / 문화관광축제 지정 신청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14400" y="7589520"/>
            <a:ext cx="16459200" cy="438912"/>
          </a:xfrm>
          <a:prstGeom prst="roundRect">
            <a:avLst>
              <a:gd name="adj" fmla="val 25000"/>
            </a:avLst>
          </a:prstGeom>
          <a:solidFill>
            <a:srgbClr val="F5F8FC"/>
          </a:solidFill>
          <a:ln w="19050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1280160" y="75895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2031 ~ 2033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206240" y="7589520"/>
            <a:ext cx="1280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상설 콘텐츠화 / K-치킨벨트 대표 거점 확립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914400" y="8083296"/>
            <a:ext cx="164592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1280160" y="808329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2034 ~ 2035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4206240" y="8083296"/>
            <a:ext cx="1280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국제화 단계 검토 / 해외 관광객 유치 본격화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914400" y="8540496"/>
            <a:ext cx="16459200" cy="749808"/>
          </a:xfrm>
          <a:prstGeom prst="roundRect">
            <a:avLst>
              <a:gd name="adj" fmla="val 14634"/>
            </a:avLst>
          </a:prstGeom>
          <a:solidFill>
            <a:srgbClr val="110B79"/>
          </a:solidFill>
          <a:ln/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1371600" y="8540496"/>
            <a:ext cx="1554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지금 시작해야 2028년에 열립니다.</a:t>
            </a:r>
            <a:endParaRPr lang="en-US" sz="2100" dirty="0"/>
          </a:p>
        </p:txBody>
      </p:sp>
      <p:sp>
        <p:nvSpPr>
          <p:cNvPr id="57" name="Text 55"/>
          <p:cNvSpPr/>
          <p:nvPr/>
        </p:nvSpPr>
        <p:spPr>
          <a:xfrm>
            <a:off x="914400" y="9582912"/>
            <a:ext cx="1645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행정안전부 지방소멸대응기금 운영 절차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100" kern="0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0" y="60350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기대효과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80160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종합제안서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72768"/>
            <a:ext cx="1645920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883664"/>
            <a:ext cx="1645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</a:t>
            </a:r>
            <a:pPr algn="ctr" indent="0" marL="0">
              <a:buNone/>
            </a:pPr>
            <a:r>
              <a:rPr lang="en-US" sz="42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xpected Impact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377440" y="2688336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방문객 수가 아니라, 체류인구 증가가 목표입니다.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29584"/>
            <a:ext cx="969264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9050">
            <a:solidFill>
              <a:srgbClr val="DDE5F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16736" y="3822192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행정안전부 기금 평가기준  ↔  부안 닭축제 KPI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1316736" y="4462272"/>
            <a:ext cx="3291840" cy="1060704"/>
          </a:xfrm>
          <a:prstGeom prst="roundRect">
            <a:avLst>
              <a:gd name="adj" fmla="val 10345"/>
            </a:avLst>
          </a:prstGeom>
          <a:solidFill>
            <a:srgbClr val="D7EC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463040" y="4462272"/>
            <a:ext cx="30175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</a:t>
            </a:r>
            <a:endParaRPr lang="en-US" sz="170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정주 · 체류인구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791456" y="4846320"/>
            <a:ext cx="384048" cy="292608"/>
          </a:xfrm>
          <a:prstGeom prst="rightArrow">
            <a:avLst/>
          </a:prstGeom>
          <a:solidFill>
            <a:srgbClr val="5CE1E6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394960" y="4462272"/>
            <a:ext cx="4809744" cy="1060704"/>
          </a:xfrm>
          <a:prstGeom prst="roundRect">
            <a:avLst>
              <a:gd name="adj" fmla="val 10345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632704" y="4462272"/>
            <a:ext cx="43891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10월 체류인구 전년 대비 증가율</a:t>
            </a:r>
            <a:endParaRPr lang="en-US" sz="16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축제 기간 생활인구 순증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316736" y="5724144"/>
            <a:ext cx="3291840" cy="1060704"/>
          </a:xfrm>
          <a:prstGeom prst="roundRect">
            <a:avLst>
              <a:gd name="adj" fmla="val 10345"/>
            </a:avLst>
          </a:prstGeom>
          <a:solidFill>
            <a:srgbClr val="D7EC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63040" y="5724144"/>
            <a:ext cx="30175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 · 일자리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791456" y="6108192"/>
            <a:ext cx="384048" cy="292608"/>
          </a:xfrm>
          <a:prstGeom prst="rightArrow">
            <a:avLst/>
          </a:prstGeom>
          <a:solidFill>
            <a:srgbClr val="5CE1E6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394960" y="5724144"/>
            <a:ext cx="4809744" cy="1060704"/>
          </a:xfrm>
          <a:prstGeom prst="roundRect">
            <a:avLst>
              <a:gd name="adj" fmla="val 10345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632704" y="5724144"/>
            <a:ext cx="43891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축제 연계 신규 고용</a:t>
            </a:r>
            <a:endParaRPr lang="en-US" sz="16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참프레 협력 농가 소득 변화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316736" y="6986016"/>
            <a:ext cx="3291840" cy="1060704"/>
          </a:xfrm>
          <a:prstGeom prst="roundRect">
            <a:avLst>
              <a:gd name="adj" fmla="val 10345"/>
            </a:avLst>
          </a:prstGeom>
          <a:solidFill>
            <a:srgbClr val="D7ECFF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463040" y="6986016"/>
            <a:ext cx="30175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마을공동체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791456" y="7370064"/>
            <a:ext cx="384048" cy="292608"/>
          </a:xfrm>
          <a:prstGeom prst="rightArrow">
            <a:avLst/>
          </a:prstGeom>
          <a:solidFill>
            <a:srgbClr val="5CE1E6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394960" y="6986016"/>
            <a:ext cx="4809744" cy="1060704"/>
          </a:xfrm>
          <a:prstGeom prst="roundRect">
            <a:avLst>
              <a:gd name="adj" fmla="val 10345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632704" y="6986016"/>
            <a:ext cx="43891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주민 참여 부스 수</a:t>
            </a:r>
            <a:endParaRPr lang="en-US" sz="16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자원봉사 참여율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1009376" y="3529584"/>
            <a:ext cx="6364224" cy="4754880"/>
          </a:xfrm>
          <a:prstGeom prst="roundRect">
            <a:avLst>
              <a:gd name="adj" fmla="val 2308"/>
            </a:avLst>
          </a:prstGeom>
          <a:solidFill>
            <a:srgbClr val="110B79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1411712" y="3822192"/>
            <a:ext cx="5559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선순환 구조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11466576" y="4443984"/>
            <a:ext cx="5449824" cy="566928"/>
          </a:xfrm>
          <a:prstGeom prst="roundRect">
            <a:avLst>
              <a:gd name="adj" fmla="val 14516"/>
            </a:avLst>
          </a:prstGeom>
          <a:solidFill>
            <a:srgbClr val="0038BF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1466576" y="4443984"/>
            <a:ext cx="5449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축제 개최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4090904" y="5029200"/>
            <a:ext cx="201168" cy="146304"/>
          </a:xfrm>
          <a:prstGeom prst="downArrow">
            <a:avLst/>
          </a:prstGeom>
          <a:solidFill>
            <a:srgbClr val="4A6FD8"/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1466576" y="5212080"/>
            <a:ext cx="5449824" cy="566928"/>
          </a:xfrm>
          <a:prstGeom prst="roundRect">
            <a:avLst>
              <a:gd name="adj" fmla="val 14516"/>
            </a:avLst>
          </a:prstGeom>
          <a:solidFill>
            <a:srgbClr val="0038BF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1466576" y="5212080"/>
            <a:ext cx="5449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체류인구 증가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4090904" y="5797296"/>
            <a:ext cx="201168" cy="146304"/>
          </a:xfrm>
          <a:prstGeom prst="downArrow">
            <a:avLst/>
          </a:prstGeom>
          <a:solidFill>
            <a:srgbClr val="4A6FD8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1466576" y="5980176"/>
            <a:ext cx="5449824" cy="566928"/>
          </a:xfrm>
          <a:prstGeom prst="roundRect">
            <a:avLst>
              <a:gd name="adj" fmla="val 14516"/>
            </a:avLst>
          </a:prstGeom>
          <a:solidFill>
            <a:srgbClr val="0038BF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11466576" y="5980176"/>
            <a:ext cx="5449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기금 평가 상승 → 배분액 증가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4090904" y="6565392"/>
            <a:ext cx="201168" cy="146304"/>
          </a:xfrm>
          <a:prstGeom prst="downArrow">
            <a:avLst/>
          </a:prstGeom>
          <a:solidFill>
            <a:srgbClr val="4A6FD8"/>
          </a:soli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1466576" y="6748272"/>
            <a:ext cx="5449824" cy="566928"/>
          </a:xfrm>
          <a:prstGeom prst="roundRect">
            <a:avLst>
              <a:gd name="adj" fmla="val 14516"/>
            </a:avLst>
          </a:prstGeom>
          <a:solidFill>
            <a:srgbClr val="0038BF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1466576" y="6748272"/>
            <a:ext cx="5449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재투자 · 상설 콘텐츠화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4090904" y="7333488"/>
            <a:ext cx="201168" cy="146304"/>
          </a:xfrm>
          <a:prstGeom prst="downArrow">
            <a:avLst/>
          </a:prstGeom>
          <a:solidFill>
            <a:srgbClr val="4A6FD8"/>
          </a:solidFill>
          <a:ln/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1466576" y="7516368"/>
            <a:ext cx="5449824" cy="566928"/>
          </a:xfrm>
          <a:prstGeom prst="roundRect">
            <a:avLst>
              <a:gd name="adj" fmla="val 14516"/>
            </a:avLst>
          </a:prstGeom>
          <a:solidFill>
            <a:srgbClr val="5CE1E6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11466576" y="7516368"/>
            <a:ext cx="5449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10B7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연중 체류인구 증가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14400" y="8540496"/>
            <a:ext cx="16459200" cy="749808"/>
          </a:xfrm>
          <a:prstGeom prst="roundRect">
            <a:avLst>
              <a:gd name="adj" fmla="val 14634"/>
            </a:avLst>
          </a:prstGeom>
          <a:solidFill>
            <a:srgbClr val="110B79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1371600" y="8540496"/>
            <a:ext cx="1554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행안부는 이제 시설이 아니라 사람으로 평가합니다. 축제는 가장 빠른 사람 사업입니다.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914400" y="9582912"/>
            <a:ext cx="1645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행정안전부 지방소멸대응기금 투자계획 평가 개편(2025.12)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0B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16_clos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9144000" cy="1028700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0" y="0"/>
            <a:ext cx="9875520" cy="10287000"/>
          </a:xfrm>
          <a:prstGeom prst="rect">
            <a:avLst/>
          </a:prstGeom>
          <a:solidFill>
            <a:srgbClr val="110B79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863840" y="-2743200"/>
            <a:ext cx="5486400" cy="16459200"/>
          </a:xfrm>
          <a:prstGeom prst="roundRect">
            <a:avLst>
              <a:gd name="adj" fmla="val 20000"/>
            </a:avLst>
          </a:prstGeom>
          <a:solidFill>
            <a:srgbClr val="110B79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0" y="2194560"/>
            <a:ext cx="2377440" cy="0"/>
          </a:xfrm>
          <a:prstGeom prst="line">
            <a:avLst/>
          </a:prstGeom>
          <a:noFill/>
          <a:ln w="44450">
            <a:solidFill>
              <a:srgbClr val="5CE1E6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24140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spc="400" kern="0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8412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닭 하면 부안,</a:t>
            </a:r>
            <a:endParaRPr lang="en-US" sz="56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하면 닭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914400" y="53949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2,000년 전 이 땅에서 닭은 나라의 이름이었습니다.</a:t>
            </a:r>
            <a:endParaRPr lang="en-US" sz="19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9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지금 세계는 그 닭을 K-Chicken이라 부릅니다.</a:t>
            </a:r>
            <a:endParaRPr lang="en-US" sz="19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9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이름의 출발점을 부안에 세우고자 합니다.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914400" y="7040880"/>
            <a:ext cx="2615184" cy="1335024"/>
          </a:xfrm>
          <a:prstGeom prst="roundRect">
            <a:avLst>
              <a:gd name="adj" fmla="val 6849"/>
            </a:avLst>
          </a:prstGeom>
          <a:solidFill>
            <a:srgbClr val="0038B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170432" y="718718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70432" y="7589520"/>
            <a:ext cx="2103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2028년도 기금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투자계획 반영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49040" y="7040880"/>
            <a:ext cx="2615184" cy="1335024"/>
          </a:xfrm>
          <a:prstGeom prst="roundRect">
            <a:avLst>
              <a:gd name="adj" fmla="val 6849"/>
            </a:avLst>
          </a:prstGeom>
          <a:solidFill>
            <a:srgbClr val="0038BF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005072" y="718718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전북특별자치도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005072" y="7589520"/>
            <a:ext cx="2103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 차원 예산 매칭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K-치킨벨트 등재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83680" y="7040880"/>
            <a:ext cx="2615184" cy="1335024"/>
          </a:xfrm>
          <a:prstGeom prst="roundRect">
            <a:avLst>
              <a:gd name="adj" fmla="val 6849"/>
            </a:avLst>
          </a:prstGeom>
          <a:solidFill>
            <a:srgbClr val="0038BF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839712" y="718718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파트너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39712" y="7589520"/>
            <a:ext cx="2103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참프레 시설 연계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프랜차이즈 참여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87782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2028년 10월, 부안에서 대한민국의 닭이 다시 새벽을 알립니다.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14400" y="9363456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A8A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 · 전북특별자치도  |  2026. 07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부안 닭축제 종합제안서</dc:title>
  <dc:subject>PptxGenJS Presentation</dc:subject>
  <dc:creator>부안군 · 전북특별자치도</dc:creator>
  <cp:lastModifiedBy>부안군 · 전북특별자치도</cp:lastModifiedBy>
  <cp:revision>1</cp:revision>
  <dcterms:created xsi:type="dcterms:W3CDTF">2026-07-26T07:26:23Z</dcterms:created>
  <dcterms:modified xsi:type="dcterms:W3CDTF">2026-07-26T07:26:23Z</dcterms:modified>
</cp:coreProperties>
</file>