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0038BF"/>
                </a:solidFill>
                <a:latin typeface="Noto Sans KR"/>
              </a:defRPr>
            </a:pPr>
            <a:r>
              <a:rPr sz="1700" b="0" i="0" u="none" strike="noStrike">
                <a:solidFill>
                  <a:srgbClr val="0038BF"/>
                </a:solidFill>
                <a:latin typeface="Noto Sans KR"/>
              </a:rPr>
              <a:t>3개년 방문객 목표 (만명)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방문객 목표</c:v>
                </c:pt>
              </c:strCache>
            </c:strRef>
          </c:tx>
          <c:spPr>
            <a:solidFill>
              <a:srgbClr val="5587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222222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87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38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0B7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2028 · 1년차</c:v>
                  </c:pt>
                  <c:pt idx="1">
                    <c:v>2029 · 2년차</c:v>
                  </c:pt>
                  <c:pt idx="2">
                    <c:v>2030 · 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222222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222222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DD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45454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0"/>
            <a:ext cx="8778240" cy="10287000"/>
          </a:xfrm>
          <a:prstGeom prst="roundRect">
            <a:avLst>
              <a:gd name="adj" fmla="val 104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9509760" y="0"/>
            <a:ext cx="8778240" cy="10287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변산반도 해안 또는 새만금 항공 전경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2800×1600px 이상 · 가로형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241280" cy="10287000"/>
          </a:xfrm>
          <a:prstGeom prst="rect">
            <a:avLst/>
          </a:prstGeom>
          <a:solidFill>
            <a:srgbClr val="110B7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-2743200"/>
            <a:ext cx="5486400" cy="16459200"/>
          </a:xfrm>
          <a:prstGeom prst="roundRect">
            <a:avLst>
              <a:gd name="adj" fmla="val 20000"/>
            </a:avLst>
          </a:prstGeom>
          <a:solidFill>
            <a:srgbClr val="110B7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31720"/>
            <a:ext cx="2377440" cy="0"/>
          </a:xfrm>
          <a:prstGeom prst="line">
            <a:avLst/>
          </a:prstGeom>
          <a:noFill/>
          <a:ln w="44450">
            <a:solidFill>
              <a:srgbClr val="5C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spc="4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 BELT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제안서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치킨벨트를 완성하는 마지막 한 조각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7772400"/>
            <a:ext cx="7680960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8001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80010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84764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847648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89519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895197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2028년 10월 개최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 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ndex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부안인가에서 시작해, 재원과 일정으로 끝맺습니다.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62102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D7ECFF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380390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0038BF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380390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32304" y="374904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32304" y="415137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연계 · 전북 치킨벨트 · 시장의 빈칸 · 부안의 자산 · 생활인구 · 지역브랜드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71830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490118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" y="490118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32304" y="484632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32304" y="524865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· 상징의 회복 · K-Chicken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581558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" y="599846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296" y="599846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32304" y="59436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32304" y="634593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 · 사업 개요 · 공간 구성 · 시그니처 프로그램 · 동물복지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691286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5296" y="709574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</p:sp>
      <p:sp>
        <p:nvSpPr>
          <p:cNvPr id="25" name="Text 23"/>
          <p:cNvSpPr/>
          <p:nvPr/>
        </p:nvSpPr>
        <p:spPr>
          <a:xfrm>
            <a:off x="1225296" y="709574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32304" y="704088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32304" y="744321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 · 단계 목표 · 방역 리스크 대응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8010144"/>
            <a:ext cx="16459200" cy="969264"/>
          </a:xfrm>
          <a:prstGeom prst="roundRect">
            <a:avLst>
              <a:gd name="adj" fmla="val 11321"/>
            </a:avLst>
          </a:prstGeom>
          <a:solidFill>
            <a:srgbClr val="F5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5296" y="8193024"/>
            <a:ext cx="914400" cy="603504"/>
          </a:xfrm>
          <a:prstGeom prst="roundRect">
            <a:avLst>
              <a:gd name="adj" fmla="val 15152"/>
            </a:avLst>
          </a:prstGeom>
          <a:solidFill>
            <a:srgbClr val="5587CB"/>
          </a:solidFill>
          <a:ln/>
        </p:spPr>
      </p:sp>
      <p:sp>
        <p:nvSpPr>
          <p:cNvPr id="30" name="Text 28"/>
          <p:cNvSpPr/>
          <p:nvPr/>
        </p:nvSpPr>
        <p:spPr>
          <a:xfrm>
            <a:off x="1225296" y="819302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432304" y="81381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432304" y="8540496"/>
            <a:ext cx="1408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 · 예산 계획 · 추진 체계 · 추진 일정 · 기대효과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BUAN, WHY 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xecutive Summary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익산에 「치킨로드」가 있습니다. 부안에는 「치킨 페스티벌」이 필요합니다.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545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견학뿐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55448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35024" y="5998464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62763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전북의 닭 산업 관광은 평일 · 개인 중심의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견학에 머물러 있습니다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5024" y="6784848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62763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· 가족 단위 유입 장치가 없습니다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5024" y="7571232"/>
            <a:ext cx="118872" cy="118872"/>
          </a:xfrm>
          <a:prstGeom prst="ellipse">
            <a:avLst/>
          </a:prstGeom>
          <a:solidFill>
            <a:srgbClr val="545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62763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= 닭이라는 연상이 형성되지 않았습니다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D7ECF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2200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0038BF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0567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2200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717804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58584" y="5998464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익산은 산업관광,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부안은 미식축제로 역할 분담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58584" y="6784848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29" name="Text 27"/>
          <p:cNvSpPr/>
          <p:nvPr/>
        </p:nvSpPr>
        <p:spPr>
          <a:xfrm>
            <a:off x="725119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견학관과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관광을 결합합니다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58584" y="7571232"/>
            <a:ext cx="118872" cy="118872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1" name="Text 29"/>
          <p:cNvSpPr/>
          <p:nvPr/>
        </p:nvSpPr>
        <p:spPr>
          <a:xfrm>
            <a:off x="725119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마실축제(봄)와 계절을 분담합니다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161520" y="3529584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AF0F6"/>
          </a:solidFill>
          <a:ln/>
        </p:spPr>
      </p:sp>
      <p:sp>
        <p:nvSpPr>
          <p:cNvPr id="33" name="Shape 31"/>
          <p:cNvSpPr/>
          <p:nvPr/>
        </p:nvSpPr>
        <p:spPr>
          <a:xfrm>
            <a:off x="12545568" y="389534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5CE1E6"/>
          </a:solidFill>
          <a:ln/>
        </p:spPr>
      </p:sp>
      <p:sp>
        <p:nvSpPr>
          <p:cNvPr id="34" name="Text 32"/>
          <p:cNvSpPr/>
          <p:nvPr/>
        </p:nvSpPr>
        <p:spPr>
          <a:xfrm>
            <a:off x="12545568" y="38953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429232" y="38953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2545568" y="44988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5400" dirty="0"/>
          </a:p>
        </p:txBody>
      </p:sp>
      <p:sp>
        <p:nvSpPr>
          <p:cNvPr id="37" name="Shape 35"/>
          <p:cNvSpPr/>
          <p:nvPr/>
        </p:nvSpPr>
        <p:spPr>
          <a:xfrm>
            <a:off x="12801600" y="5650992"/>
            <a:ext cx="393192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82144" y="599846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39" name="Text 37"/>
          <p:cNvSpPr/>
          <p:nvPr/>
        </p:nvSpPr>
        <p:spPr>
          <a:xfrm>
            <a:off x="12874752" y="5870448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개최까지 준비기간 24개월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582144" y="6784848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41" name="Text 39"/>
          <p:cNvSpPr/>
          <p:nvPr/>
        </p:nvSpPr>
        <p:spPr>
          <a:xfrm>
            <a:off x="12874752" y="6656832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지방소멸대응기금 투자계획 반영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582144" y="7571232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43" name="Text 41"/>
          <p:cNvSpPr/>
          <p:nvPr/>
        </p:nvSpPr>
        <p:spPr>
          <a:xfrm>
            <a:off x="12874752" y="7443216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매칭과 K-치킨벨트 거점 등재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전북은 이미 절반을 가졌습니다. 나머지 절반이 부안에 있습니다.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하림 · 참프레 · 부안군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연계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olicy Alignment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농림축산식품부는 「K-푸드 세계화의 전진기지, 농생명수도 전북」을 통해 4대 약속을 제시했습니다.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5587C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국정과제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먹거리를 지키는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국가전략산업으로 농업 육성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181344" y="416966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0038B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국정목표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모두가 잘사는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균형성장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804904" y="416966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61520" y="3529584"/>
            <a:ext cx="5212080" cy="1572768"/>
          </a:xfrm>
          <a:prstGeom prst="roundRect">
            <a:avLst>
              <a:gd name="adj" fmla="val 6977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435840" y="37124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지역공약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435840" y="405993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전북을 농생명산업</a:t>
            </a:r>
            <a:endParaRPr lang="en-US" sz="1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수도로 육성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4400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70432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K-푸드 수출과 혁신의 중심지로 육성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84064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0096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음식 · 문화자원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340096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수출 · 관광상품으로 전환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53728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</p:sp>
      <p:sp>
        <p:nvSpPr>
          <p:cNvPr id="28" name="Text 26"/>
          <p:cNvSpPr/>
          <p:nvPr/>
        </p:nvSpPr>
        <p:spPr>
          <a:xfrm>
            <a:off x="9509760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09760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스마트농업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09760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전북형 재생에너지 모델 구축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423392" y="5413248"/>
            <a:ext cx="3877056" cy="1335024"/>
          </a:xfrm>
          <a:prstGeom prst="roundRect">
            <a:avLst>
              <a:gd name="adj" fmla="val 8219"/>
            </a:avLst>
          </a:prstGeom>
          <a:solidFill>
            <a:srgbClr val="F5F8FC"/>
          </a:solidFill>
          <a:ln/>
        </p:spPr>
      </p:sp>
      <p:sp>
        <p:nvSpPr>
          <p:cNvPr id="32" name="Text 30"/>
          <p:cNvSpPr/>
          <p:nvPr/>
        </p:nvSpPr>
        <p:spPr>
          <a:xfrm>
            <a:off x="13679424" y="5577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679424" y="59070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농생명 전후방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3679424" y="629107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종자 · 지능형 농기계 혁신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14400" y="6949440"/>
            <a:ext cx="16459200" cy="1280160"/>
          </a:xfrm>
          <a:prstGeom prst="roundRect">
            <a:avLst>
              <a:gd name="adj" fmla="val 8571"/>
            </a:avLst>
          </a:prstGeom>
          <a:solidFill>
            <a:srgbClr val="110B79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70957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「4.2 지역의 맛을 수출 · 관광 브랜드로」 핵심 내용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7424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음식과 관광자원을 결합한 K-미식벨트 조성"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09760" y="742492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"치킨로드 등 지역 음식관광 상품과 시너지 창출"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0" name="Text 38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닭축제는 새로운 요청이 아니라, 이미 발표된 정책의 이행입니다.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「K-푸드 세계화의 전진기지, 농생명수도 전북」 정책 발표자료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eonbuk Chicken Belt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닭고기 계열화 대기업 두 곳을 동시에 보유한 시 · 도는 전국에서 전북이 유일합니다.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8028432" cy="4059936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7520" y="39136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08192" y="3877056"/>
            <a:ext cx="2432304" cy="475488"/>
          </a:xfrm>
          <a:prstGeom prst="roundRect">
            <a:avLst>
              <a:gd name="adj" fmla="val 17308"/>
            </a:avLst>
          </a:prstGeom>
          <a:solidFill>
            <a:srgbClr val="5587CB"/>
          </a:solidFill>
          <a:ln/>
        </p:spPr>
      </p:sp>
      <p:sp>
        <p:nvSpPr>
          <p:cNvPr id="12" name="Text 10"/>
          <p:cNvSpPr/>
          <p:nvPr/>
        </p:nvSpPr>
        <p:spPr>
          <a:xfrm>
            <a:off x="6108192" y="3877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산업관광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16736" y="45902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2,600억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4718304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도계장 리모델링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(2017~2019 완공)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16736" y="5504688"/>
            <a:ext cx="72237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3312" y="583387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5687568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 치킨로드 — 견학로 · 투어창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53312" y="63276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6181344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시식키친 · 미디어 체험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53312" y="682142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6675120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 푸드로드 등으로 확장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16736" y="71688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농식품부 K-치킨벨트 체험형 콘텐츠로 명시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45168" y="3529584"/>
            <a:ext cx="8028432" cy="4059936"/>
          </a:xfrm>
          <a:prstGeom prst="roundRect">
            <a:avLst>
              <a:gd name="adj" fmla="val 2703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47504" y="3785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1448288" y="39136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4538960" y="3877056"/>
            <a:ext cx="2432304" cy="475488"/>
          </a:xfrm>
          <a:prstGeom prst="roundRect">
            <a:avLst>
              <a:gd name="adj" fmla="val 17308"/>
            </a:avLst>
          </a:prstGeom>
          <a:solidFill>
            <a:srgbClr val="0038BF"/>
          </a:solidFill>
          <a:ln/>
        </p:spPr>
      </p:sp>
      <p:sp>
        <p:nvSpPr>
          <p:cNvPr id="27" name="Text 25"/>
          <p:cNvSpPr/>
          <p:nvPr/>
        </p:nvSpPr>
        <p:spPr>
          <a:xfrm>
            <a:off x="14538960" y="387705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연례 미식축제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47504" y="45902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13185648" y="4718304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2013년 공장 완공 투자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47504" y="5504688"/>
            <a:ext cx="72237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5833872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76688" y="5687568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인증(2015)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784080" y="6327648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76688" y="6181344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784080" y="6821424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6" name="Text 34"/>
          <p:cNvSpPr/>
          <p:nvPr/>
        </p:nvSpPr>
        <p:spPr>
          <a:xfrm>
            <a:off x="10076688" y="6675120"/>
            <a:ext cx="6894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견학관 상시 운영 · 전북 공식 관광콘텐츠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47504" y="71688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국립공원을 낀 유일한 닭 산업 도시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7790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 순환 코스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14400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치킨로드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904488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42" name="Shape 40"/>
          <p:cNvSpPr/>
          <p:nvPr/>
        </p:nvSpPr>
        <p:spPr>
          <a:xfrm>
            <a:off x="4151376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51376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41464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45" name="Shape 43"/>
          <p:cNvSpPr/>
          <p:nvPr/>
        </p:nvSpPr>
        <p:spPr>
          <a:xfrm>
            <a:off x="7388352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</p:sp>
      <p:sp>
        <p:nvSpPr>
          <p:cNvPr id="46" name="Text 44"/>
          <p:cNvSpPr/>
          <p:nvPr/>
        </p:nvSpPr>
        <p:spPr>
          <a:xfrm>
            <a:off x="7388352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참프레 견학관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378440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25328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</p:sp>
      <p:sp>
        <p:nvSpPr>
          <p:cNvPr id="49" name="Text 47"/>
          <p:cNvSpPr/>
          <p:nvPr/>
        </p:nvSpPr>
        <p:spPr>
          <a:xfrm>
            <a:off x="10625328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3615416" y="8375904"/>
            <a:ext cx="219456" cy="182880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51" name="Shape 49"/>
          <p:cNvSpPr/>
          <p:nvPr/>
        </p:nvSpPr>
        <p:spPr>
          <a:xfrm>
            <a:off x="13862304" y="8211312"/>
            <a:ext cx="2962656" cy="512064"/>
          </a:xfrm>
          <a:prstGeom prst="roundRect">
            <a:avLst>
              <a:gd name="adj" fmla="val 16071"/>
            </a:avLst>
          </a:prstGeom>
          <a:solidFill>
            <a:srgbClr val="0038BF"/>
          </a:solidFill>
          <a:ln/>
        </p:spPr>
      </p:sp>
      <p:sp>
        <p:nvSpPr>
          <p:cNvPr id="52" name="Text 50"/>
          <p:cNvSpPr/>
          <p:nvPr/>
        </p:nvSpPr>
        <p:spPr>
          <a:xfrm>
            <a:off x="13862304" y="821131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하림 보도자료(2022) · 참프레 · 농림축산식품부 K-치킨벨트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시장의 빈칸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Empty Quadrant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전국의 닭 관광은 「맛집」과 「견학」 둘뿐입니다. 산업 기반 위의 가족형 축제는 없습니다.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42032" y="36941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평일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69480" y="36941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주말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48132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  비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(맛집)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6300216"/>
            <a:ext cx="148132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  산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(산업)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42032" y="4206240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45902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닭요리 맛집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51389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닭갈비 · 안동 찜닭 · 속초 닭강정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거점이나 생산 기반이 없습니다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480" y="4206240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45902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소비 축제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51389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 115만명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규모는 크지만 생산 서사가 없습니다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42032" y="6300216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6684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16352" y="72329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· 부안 참프레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가족 유입에 한계가 있습니다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69480" y="6300216"/>
            <a:ext cx="4617720" cy="1984248"/>
          </a:xfrm>
          <a:prstGeom prst="roundRect">
            <a:avLst>
              <a:gd name="adj" fmla="val 5530"/>
            </a:avLst>
          </a:prstGeom>
          <a:solidFill>
            <a:srgbClr val="0038BF"/>
          </a:solidFill>
          <a:ln w="31750">
            <a:solidFill>
              <a:srgbClr val="5C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6684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비어 있는 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3800" y="72329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위에 세워진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가족형 미식 축제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289536" y="3529584"/>
            <a:ext cx="5084064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</p:spPr>
      </p:sp>
      <p:sp>
        <p:nvSpPr>
          <p:cNvPr id="25" name="Text 23"/>
          <p:cNvSpPr/>
          <p:nvPr/>
        </p:nvSpPr>
        <p:spPr>
          <a:xfrm>
            <a:off x="12673584" y="384048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칸이 비어 있나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710160" y="4590288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27" name="Text 25"/>
          <p:cNvSpPr/>
          <p:nvPr/>
        </p:nvSpPr>
        <p:spPr>
          <a:xfrm>
            <a:off x="13021056" y="444398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맛집 거점은 산업 기반이 없다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710160" y="524865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29" name="Text 27"/>
          <p:cNvSpPr/>
          <p:nvPr/>
        </p:nvSpPr>
        <p:spPr>
          <a:xfrm>
            <a:off x="13021056" y="51023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견학은 주말 · 가족 유입에 한계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710160" y="590702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31" name="Text 29"/>
          <p:cNvSpPr/>
          <p:nvPr/>
        </p:nvSpPr>
        <p:spPr>
          <a:xfrm>
            <a:off x="13021056" y="576072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축제는 생산 서사가 없다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673584" y="6492240"/>
            <a:ext cx="4315968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73584" y="6656832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부안만 세 조건을 모두 충족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2673584" y="7132320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</p:sp>
      <p:sp>
        <p:nvSpPr>
          <p:cNvPr id="35" name="Text 33"/>
          <p:cNvSpPr/>
          <p:nvPr/>
        </p:nvSpPr>
        <p:spPr>
          <a:xfrm>
            <a:off x="12819888" y="7132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· 가공 기반 (참프레)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2673584" y="7516368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</p:sp>
      <p:sp>
        <p:nvSpPr>
          <p:cNvPr id="37" name="Text 35"/>
          <p:cNvSpPr/>
          <p:nvPr/>
        </p:nvSpPr>
        <p:spPr>
          <a:xfrm>
            <a:off x="12819888" y="7516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자원 (변산 · 새만금)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673584" y="7900416"/>
            <a:ext cx="4315968" cy="310896"/>
          </a:xfrm>
          <a:prstGeom prst="roundRect">
            <a:avLst>
              <a:gd name="adj" fmla="val 17647"/>
            </a:avLst>
          </a:prstGeom>
          <a:solidFill>
            <a:srgbClr val="0038BF"/>
          </a:solidFill>
          <a:ln/>
        </p:spPr>
      </p:sp>
      <p:sp>
        <p:nvSpPr>
          <p:cNvPr id="39" name="Text 37"/>
          <p:cNvSpPr/>
          <p:nvPr/>
        </p:nvSpPr>
        <p:spPr>
          <a:xfrm>
            <a:off x="12819888" y="79004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역량 (마실축제)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1" name="Text 39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전국에서 이 칸을 채울 수 있는 곳은 부안뿐입니다.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부안의 자산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ssets in Place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축제를 위해 새 건물을 짓지 않습니다. 이미 문을 연 시설을 연결합니다.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7680960" cy="3291840"/>
          </a:xfrm>
          <a:prstGeom prst="roundRect">
            <a:avLst>
              <a:gd name="adj" fmla="val 2778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529584"/>
            <a:ext cx="7680960" cy="3291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charmfre.jpg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 내부 (발골쇼 · 참프레파크 · 시식)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1600×1200px · 참프레 공식 요청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6967728"/>
            <a:ext cx="3703320" cy="1316736"/>
          </a:xfrm>
          <a:prstGeom prst="roundRect">
            <a:avLst>
              <a:gd name="adj" fmla="val 6944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0" y="6967728"/>
            <a:ext cx="3703320" cy="131673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buan_farm.jpg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공장 외관 또는 동물복지 인증 농장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1600×1200px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6967728"/>
            <a:ext cx="3703320" cy="1316736"/>
          </a:xfrm>
          <a:prstGeom prst="roundRect">
            <a:avLst>
              <a:gd name="adj" fmla="val 8333"/>
            </a:avLst>
          </a:prstGeom>
          <a:solidFill>
            <a:srgbClr val="110B7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7114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20640" y="75163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참프레 파크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시식 프로그램 상시 운영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97696" y="3529584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D7ECFF"/>
          </a:solidFill>
          <a:ln/>
        </p:spPr>
      </p:sp>
      <p:sp>
        <p:nvSpPr>
          <p:cNvPr id="16" name="Text 14"/>
          <p:cNvSpPr/>
          <p:nvPr/>
        </p:nvSpPr>
        <p:spPr>
          <a:xfrm>
            <a:off x="9400032" y="3529584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3203936" y="3529584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투자액 · 2013년 완공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97696" y="4828032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F5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9400032" y="4828032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787명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3203936" y="4828032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 규모 · 2019년 기준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97696" y="6126480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D7ECFF"/>
          </a:solidFill>
          <a:ln/>
        </p:spPr>
      </p:sp>
      <p:sp>
        <p:nvSpPr>
          <p:cNvPr id="22" name="Text 20"/>
          <p:cNvSpPr/>
          <p:nvPr/>
        </p:nvSpPr>
        <p:spPr>
          <a:xfrm>
            <a:off x="9400032" y="612648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3203936" y="6126480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97696" y="7424928"/>
            <a:ext cx="8375904" cy="1115568"/>
          </a:xfrm>
          <a:prstGeom prst="roundRect">
            <a:avLst>
              <a:gd name="adj" fmla="val 9836"/>
            </a:avLst>
          </a:prstGeom>
          <a:solidFill>
            <a:srgbClr val="F5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9400032" y="7424928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3203936" y="7424928"/>
            <a:ext cx="37673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것은 건물이 아니라, 그 건물에 사람을 부를 이유입니다.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디지털부안문화대전 · 참프레 공식 · 투어전북 · 전북특별자치도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eal Population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부안에는 이미 사람이 옵니다. 다만 그 방문에 아직 이름이 없습니다.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9692640" cy="475488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7095834"/>
            <a:ext cx="1920240" cy="365670"/>
          </a:xfrm>
          <a:prstGeom prst="rect">
            <a:avLst/>
          </a:prstGeom>
          <a:solidFill>
            <a:srgbClr val="5587CB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4626864"/>
            <a:ext cx="1920240" cy="2834640"/>
          </a:xfrm>
          <a:prstGeom prst="rect">
            <a:avLst/>
          </a:prstGeom>
          <a:solidFill>
            <a:srgbClr val="0038B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649233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46,946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39684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363,921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554480" y="7461504"/>
            <a:ext cx="8412480" cy="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7607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등록인구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6 기준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76078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 4Q 평균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5541264"/>
            <a:ext cx="1773936" cy="822960"/>
          </a:xfrm>
          <a:prstGeom prst="roundRect">
            <a:avLst>
              <a:gd name="adj" fmla="val 13333"/>
            </a:avLst>
          </a:prstGeom>
          <a:solidFill>
            <a:srgbClr val="5CE1E6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5541264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7.7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11712" y="3803904"/>
            <a:ext cx="5559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부안의 인구 위상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11712" y="4224528"/>
            <a:ext cx="555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인구감소지역 10곳 기준 · 2025년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320272" y="4645152"/>
            <a:ext cx="5742432" cy="1225296"/>
          </a:xfrm>
          <a:prstGeom prst="roundRect">
            <a:avLst>
              <a:gd name="adj" fmla="val 8955"/>
            </a:avLst>
          </a:prstGeom>
          <a:solidFill>
            <a:srgbClr val="D7ECFF"/>
          </a:solidFill>
          <a:ln w="22225">
            <a:solidFill>
              <a:srgbClr val="003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76304" y="4809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489936" y="4809744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24" name="Text 22"/>
          <p:cNvSpPr/>
          <p:nvPr/>
        </p:nvSpPr>
        <p:spPr>
          <a:xfrm>
            <a:off x="15489936" y="48097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도내 1위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76304" y="51755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292,141명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576304" y="563270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연평균 · 방문 · 통근 인구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320272" y="6035040"/>
            <a:ext cx="5742432" cy="1225296"/>
          </a:xfrm>
          <a:prstGeom prst="roundRect">
            <a:avLst>
              <a:gd name="adj" fmla="val 8955"/>
            </a:avLst>
          </a:prstGeom>
          <a:solidFill>
            <a:srgbClr val="F5F8FC"/>
          </a:solidFill>
          <a:ln/>
        </p:spPr>
      </p:sp>
      <p:sp>
        <p:nvSpPr>
          <p:cNvPr id="28" name="Text 26"/>
          <p:cNvSpPr/>
          <p:nvPr/>
        </p:nvSpPr>
        <p:spPr>
          <a:xfrm>
            <a:off x="11576304" y="6199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5489936" y="619963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5587CB"/>
          </a:solidFill>
          <a:ln/>
        </p:spPr>
      </p:sp>
      <p:sp>
        <p:nvSpPr>
          <p:cNvPr id="30" name="Text 28"/>
          <p:cNvSpPr/>
          <p:nvPr/>
        </p:nvSpPr>
        <p:spPr>
          <a:xfrm>
            <a:off x="15489936" y="61996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도내 2위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576304" y="65653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341,104명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1576304" y="702259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연평균 · 등록 + 체류 인구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11712" y="7498080"/>
            <a:ext cx="5559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체류·생활인구는 산정 기준이 달라 수치가 다릅니다. 어느 지표로도 부안은 전북 최상위권입니다.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2026년부터 시설이 아니라 인구유입 효과로 기금을 평가합니다.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행정안전부 · 국가데이터처 생활인구 산정결과(2025) · 전북일보(2026.6.3)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지역브랜드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lace &amp; Product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지역의 이름과 하나의 상품이 결합할 때 브랜드가 됩니다. 영광 하면 굴비, 부안 하면 닭입니다.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915314" y="3530498"/>
            <a:ext cx="3877056" cy="1920240"/>
          </a:xfrm>
          <a:prstGeom prst="roundRect">
            <a:avLst>
              <a:gd name="adj" fmla="val 476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5314" y="3530498"/>
            <a:ext cx="3877056" cy="1920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gulbi.jpg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영광 법성포 굴비 (건조 장면 권장)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1200×900px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87168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26080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굴비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88720" y="63276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법성포 조기를 천일염에 절여 말린 굴비. 지역명이 곧 품질 보증이 되어 프리미엄 수산물 브랜드로 자리잡았습니다.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4064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4978" y="3530498"/>
            <a:ext cx="3877056" cy="1920240"/>
          </a:xfrm>
          <a:prstGeom prst="roundRect">
            <a:avLst>
              <a:gd name="adj" fmla="val 476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84978" y="3530498"/>
            <a:ext cx="3877056" cy="1920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insam.jpg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금산 인삼 / 인삼시장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1200×900px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58384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금산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56832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95744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인삼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5358384" y="63276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국제인삼축제와 인삼시장을 축으로 생산 · 유통 · 관광을 묶어 세계 인삼 거래의 중심지가 되었습니다.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53728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F5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4642" y="3530498"/>
            <a:ext cx="3877056" cy="1920240"/>
          </a:xfrm>
          <a:prstGeom prst="roundRect">
            <a:avLst>
              <a:gd name="adj" fmla="val 476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254642" y="3530498"/>
            <a:ext cx="3877056" cy="1920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jangryu.jpg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 고추장민속마을 / 장독대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1200×900px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28048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826496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265408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장류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9528048" y="6291072"/>
            <a:ext cx="1517904" cy="347472"/>
          </a:xfrm>
          <a:prstGeom prst="roundRect">
            <a:avLst>
              <a:gd name="adj" fmla="val 15789"/>
            </a:avLst>
          </a:prstGeom>
          <a:solidFill>
            <a:srgbClr val="5587CB"/>
          </a:solidFill>
          <a:ln/>
        </p:spPr>
      </p:sp>
      <p:sp>
        <p:nvSpPr>
          <p:cNvPr id="31" name="Text 29"/>
          <p:cNvSpPr/>
          <p:nvPr/>
        </p:nvSpPr>
        <p:spPr>
          <a:xfrm>
            <a:off x="9528048" y="629107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선례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28048" y="6784848"/>
            <a:ext cx="3328416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69494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고추장민속마을과 장류 클러스터. 2024년 농식품부 K-미식벨트 첫 주제 거점으로 선정된 전북의 성공 사례입니다.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423392" y="3529584"/>
            <a:ext cx="3877056" cy="4754880"/>
          </a:xfrm>
          <a:prstGeom prst="roundRect">
            <a:avLst>
              <a:gd name="adj" fmla="val 2830"/>
            </a:avLst>
          </a:prstGeom>
          <a:solidFill>
            <a:srgbClr val="0038BF"/>
          </a:solidFill>
          <a:ln w="31750">
            <a:solidFill>
              <a:srgbClr val="5CE1E6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424306" y="3530498"/>
            <a:ext cx="3877056" cy="1920240"/>
          </a:xfrm>
          <a:prstGeom prst="roundRect">
            <a:avLst>
              <a:gd name="adj" fmla="val 476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3424306" y="3530498"/>
            <a:ext cx="3877056" cy="1920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buan_chicken.jpg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 / 닭요리 대표 이미지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1200×900px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697712" y="5614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4996160" y="5614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5435072" y="5614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3697712" y="6327648"/>
            <a:ext cx="3328416" cy="0"/>
          </a:xfrm>
          <a:prstGeom prst="line">
            <a:avLst/>
          </a:prstGeom>
          <a:noFill/>
          <a:ln w="15875">
            <a:solidFill>
              <a:srgbClr val="4A6F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697712" y="6492240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생산(참프레) · 문화(계림) · 관광(변산)이 이미 한 곳에 있습니다. 남은 것은 이름을 붙이는 일뿐입니다.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3" name="Text 41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순창은 이미 해냈습니다. 같은 방식으로 부안이 다음 차례입니다.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K-미식벨트 · 각 지자체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NAME WE LOST AND FOUND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Origin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건국신화에 등장하는 유일한 가축, 그것이 닭이었습니다.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6949440" cy="4754880"/>
          </a:xfrm>
          <a:prstGeom prst="roundRect">
            <a:avLst>
              <a:gd name="adj" fmla="val 1923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529584"/>
            <a:ext cx="6949440" cy="47548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gyerim.jpg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계림(鷄林) 신라 설화 / 전통 회화풍 · 저작권 확인 필수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1400×1100px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66176" y="3529584"/>
            <a:ext cx="9107424" cy="2121408"/>
          </a:xfrm>
          <a:prstGeom prst="roundRect">
            <a:avLst>
              <a:gd name="adj" fmla="val 5172"/>
            </a:avLst>
          </a:prstGeom>
          <a:solidFill>
            <a:srgbClr val="110B79"/>
          </a:solidFill>
          <a:ln/>
        </p:spPr>
      </p:sp>
      <p:sp>
        <p:nvSpPr>
          <p:cNvPr id="11" name="Text 9"/>
          <p:cNvSpPr/>
          <p:nvPr/>
        </p:nvSpPr>
        <p:spPr>
          <a:xfrm>
            <a:off x="8723376" y="382219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鷄  林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1832336" y="39319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신라 국호의 기원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23376" y="4736592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김알지가 태어난 계림(鷄林)은 신라 국호의 기원입니다.</a:t>
            </a:r>
            <a:endParaRPr lang="en-US" sz="18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한국사에서 닭은 가축이기 전에, 국가의 기원 서사에 등장하는 유일한 동물입니다.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66176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D7E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06256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어둠을 여는 유일한 소리.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하루의 시작을 알리는 존재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393424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F5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11631168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벽사(辟邪)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033504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31168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액운을 쫓는 수호의 상징.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제사와 혼례 의례의 중심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520672" y="5907024"/>
            <a:ext cx="2852928" cy="2377440"/>
          </a:xfrm>
          <a:prstGeom prst="roundRect">
            <a:avLst>
              <a:gd name="adj" fmla="val 4615"/>
            </a:avLst>
          </a:prstGeom>
          <a:solidFill>
            <a:srgbClr val="F5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14758416" y="6217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5160752" y="6839712"/>
            <a:ext cx="1572768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58416" y="7004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해의 시작을 여는 십이지.</a:t>
            </a:r>
            <a:endParaRPr lang="en-US" sz="16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새로움과 재생의 표상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한국인에게 닭은 음식이기 전에, 나라의 이름이었습니다.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『삼국사기』· 『삼국유사』 김알지 탄생설화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상징의 회복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eclaiming the Name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20세기 초 조선은 「닭」으로 그려졌습니다. 그 이름을 되찾는 일에서 축제가 시작됩니다.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F5F8FC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4825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1900 ~ 1945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298448" y="5212080"/>
            <a:ext cx="4443984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5024" y="5577840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시사만화 속 조선의 도상화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5024" y="6291072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새장에 갇힌 닭 — 자립 불능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35024" y="7004304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싸우는 닭 — 무지와 내분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1344" y="544982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EAF0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67181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구조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정치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922008" y="5212080"/>
            <a:ext cx="4443984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58584" y="5577840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반복된 이미지가 인식을 규율한다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58584" y="6291072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침략을 시혜로 포장하는 서사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58584" y="7004304"/>
            <a:ext cx="118872" cy="118872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자기비하의 내면화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804904" y="5449824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61520" y="3529584"/>
            <a:ext cx="5212080" cy="4133088"/>
          </a:xfrm>
          <a:prstGeom prst="roundRect">
            <a:avLst>
              <a:gd name="adj" fmla="val 2655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545568" y="382219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3295376" y="3858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545568" y="4443984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회복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2545568" y="5212080"/>
            <a:ext cx="4443984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82144" y="5577840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38" name="Text 36"/>
          <p:cNvSpPr/>
          <p:nvPr/>
        </p:nvSpPr>
        <p:spPr>
          <a:xfrm>
            <a:off x="12893040" y="543153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K-Chicken, 세계가 사랑하는 한식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582144" y="6291072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40" name="Text 38"/>
          <p:cNvSpPr/>
          <p:nvPr/>
        </p:nvSpPr>
        <p:spPr>
          <a:xfrm>
            <a:off x="12893040" y="614476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상징의 주체를 되찾는 일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582144" y="7004304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42" name="Text 40"/>
          <p:cNvSpPr/>
          <p:nvPr/>
        </p:nvSpPr>
        <p:spPr>
          <a:xfrm>
            <a:off x="12893040" y="6858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부안이 그 선언의 장소가 된다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14400" y="7845552"/>
            <a:ext cx="16459200" cy="603504"/>
          </a:xfrm>
          <a:prstGeom prst="roundRect">
            <a:avLst>
              <a:gd name="adj" fmla="val 18182"/>
            </a:avLst>
          </a:prstGeom>
          <a:solidFill>
            <a:srgbClr val="F5F8FC"/>
          </a:solidFill>
          <a:ln/>
        </p:spPr>
      </p:sp>
      <p:sp>
        <p:nvSpPr>
          <p:cNvPr id="44" name="Text 42"/>
          <p:cNvSpPr/>
          <p:nvPr/>
        </p:nvSpPr>
        <p:spPr>
          <a:xfrm>
            <a:off x="1316736" y="7845552"/>
            <a:ext cx="1565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근거 · 한상일 · 한정선, 『일본, 만화로 제국을 그리다 — 조선병탄과 시선의 정치』, 일조각, 2006 (2008 대한민국학술원 우수학술도서 / 2010 일본어판 출간)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닭은 원래 새벽이었습니다. 부안이 그 이름을 되찾습니다.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 Name Today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치킨은 해외 한식 소비자가 가장 선호하는 메뉴입니다. 그 뿌리를 부안에 세웁니다.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1521440" cy="2103120"/>
          </a:xfrm>
          <a:prstGeom prst="roundRect">
            <a:avLst>
              <a:gd name="adj" fmla="val 4348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529584"/>
            <a:ext cx="11521440" cy="2103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kchicken.jpg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 글로벌 — 해외 매장 또는 외국인 취식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2000×1100px · 가로형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38176" y="3529584"/>
            <a:ext cx="4535424" cy="987552"/>
          </a:xfrm>
          <a:prstGeom prst="roundRect">
            <a:avLst>
              <a:gd name="adj" fmla="val 11111"/>
            </a:avLst>
          </a:prstGeom>
          <a:solidFill>
            <a:srgbClr val="0038BF"/>
          </a:solidFill>
          <a:ln/>
        </p:spPr>
      </p:sp>
      <p:sp>
        <p:nvSpPr>
          <p:cNvPr id="11" name="Text 9"/>
          <p:cNvSpPr/>
          <p:nvPr/>
        </p:nvSpPr>
        <p:spPr>
          <a:xfrm>
            <a:off x="13167360" y="3529584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069312" y="3529584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한식 소비자 선호 메뉴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 14% (김치 9.5% · 비빔밥 8.2%)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38176" y="4645152"/>
            <a:ext cx="4535424" cy="987552"/>
          </a:xfrm>
          <a:prstGeom prst="roundRect">
            <a:avLst>
              <a:gd name="adj" fmla="val 11111"/>
            </a:avLst>
          </a:prstGeom>
          <a:solidFill>
            <a:srgbClr val="110B79"/>
          </a:solidFill>
          <a:ln/>
        </p:spPr>
      </p:sp>
      <p:sp>
        <p:nvSpPr>
          <p:cNvPr id="14" name="Text 12"/>
          <p:cNvSpPr/>
          <p:nvPr/>
        </p:nvSpPr>
        <p:spPr>
          <a:xfrm>
            <a:off x="13167360" y="4645152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5069312" y="4645152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방한 외래관광객 주요 활동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식도락 · K-Food 소비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94560" y="6583680"/>
            <a:ext cx="13898880" cy="0"/>
          </a:xfrm>
          <a:prstGeom prst="line">
            <a:avLst/>
          </a:prstGeom>
          <a:noFill/>
          <a:ln w="25400">
            <a:solidFill>
              <a:srgbClr val="DDE5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9152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삼국시대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나라의 이름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705856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 ~ 근대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1104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4261104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삼계탕 · 백숙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61104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민족의 보양식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52560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1970 ~ 2000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7808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</p:sp>
      <p:sp>
        <p:nvSpPr>
          <p:cNvPr id="30" name="Text 28"/>
          <p:cNvSpPr/>
          <p:nvPr/>
        </p:nvSpPr>
        <p:spPr>
          <a:xfrm>
            <a:off x="7607808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 문화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07808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야식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399264" y="6492240"/>
            <a:ext cx="182880" cy="182880"/>
          </a:xfrm>
          <a:prstGeom prst="ellipse">
            <a:avLst/>
          </a:prstGeom>
          <a:solidFill>
            <a:srgbClr val="5587C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54512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 ~ 현재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954512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F5F8FC"/>
          </a:solidFill>
          <a:ln/>
        </p:spPr>
      </p:sp>
      <p:sp>
        <p:nvSpPr>
          <p:cNvPr id="35" name="Text 33"/>
          <p:cNvSpPr/>
          <p:nvPr/>
        </p:nvSpPr>
        <p:spPr>
          <a:xfrm>
            <a:off x="10954512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954512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세계의 미식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5691104" y="6437376"/>
            <a:ext cx="292608" cy="292608"/>
          </a:xfrm>
          <a:prstGeom prst="ellipse">
            <a:avLst/>
          </a:prstGeom>
          <a:solidFill>
            <a:srgbClr val="5CE1E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301216" y="6089904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4301216" y="6986016"/>
            <a:ext cx="3072384" cy="1316736"/>
          </a:xfrm>
          <a:prstGeom prst="roundRect">
            <a:avLst>
              <a:gd name="adj" fmla="val 8333"/>
            </a:avLst>
          </a:prstGeom>
          <a:solidFill>
            <a:srgbClr val="0038B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301216" y="716889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  안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4301216" y="77175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이름의 뿌리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7973568"/>
            <a:ext cx="1645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농림축산식품부는 치킨을 「외국인이 가장 선호하는 한식 메뉴」로 규정하고 2026년 K-미식벨트의 주제로 선정했습니다.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2,000년의 이름이 지금 세계로 갑니다. 그 출발점을 부안에 둡니다.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해외 한식 소비자 조사 · 외래관광객 조사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PLAN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 Seasons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축제를 만드는 것이 아니라, 비어 있는 계절을 채웁니다.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8028432" cy="3602736"/>
          </a:xfrm>
          <a:prstGeom prst="roundRect">
            <a:avLst>
              <a:gd name="adj" fmla="val 3046"/>
            </a:avLst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3840480"/>
            <a:ext cx="3108960" cy="2340864"/>
          </a:xfrm>
          <a:prstGeom prst="roundRect">
            <a:avLst>
              <a:gd name="adj" fmla="val 3906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225296" y="3840480"/>
            <a:ext cx="3108960" cy="2340864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masil.jpg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부안마실축제 현장 (2026.5 · 부안해뜰마루)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1400×1000px · 부안군 제공 요청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35424" y="3840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5587CB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· 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440740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부안마실축제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35424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04688" y="5010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제13회 (2026)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5424" y="5413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2일 ~ 5일 · 4일간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58155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58155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35424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04688" y="62179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정원 · 체험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296" y="658368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개막 첫날 약 59,000명 방문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345168" y="3529584"/>
            <a:ext cx="8028432" cy="3602736"/>
          </a:xfrm>
          <a:prstGeom prst="roundRect">
            <a:avLst>
              <a:gd name="adj" fmla="val 3046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56064" y="3840480"/>
            <a:ext cx="3108960" cy="2340864"/>
          </a:xfrm>
          <a:prstGeom prst="roundRect">
            <a:avLst>
              <a:gd name="adj" fmla="val 3906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656064" y="3840480"/>
            <a:ext cx="3108960" cy="2340864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autumn.jpg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가을 부안 — 변산반도 해안 또는 새만금 일몰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1400×1000px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966192" y="3840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</p:sp>
      <p:sp>
        <p:nvSpPr>
          <p:cNvPr id="27" name="Text 25"/>
          <p:cNvSpPr/>
          <p:nvPr/>
        </p:nvSpPr>
        <p:spPr>
          <a:xfrm>
            <a:off x="12966192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· 가을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66192" y="4407408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(신설)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966192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935456" y="5010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(2028 목표)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966192" y="5413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935456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중 · 3일간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66192" y="58155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935456" y="58155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66192" y="6217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935456" y="62179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미식 · 문화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56064" y="658368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15만명 → 3년차 40만명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14400" y="7333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축제가 공유하는 것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529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공유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22529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 운영 노하우 승계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3796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885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공유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4885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 등 기존 축제장 인프라 활용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161520" y="7754112"/>
            <a:ext cx="5212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472416" y="7808976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공유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2472416" y="813816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인력 · 자원봉사 풀 연중 가동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마실축제가 '봄의 부안'을 만들었다면, 닭축제는 '가을의 부안'을 만듭니다.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부안마실축제 공식 · 다음뉴스(2026.5.3)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roject Overview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3일의 행사가 아니라, 365일 브랜드의 출발점입니다.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6459200" cy="1920240"/>
          </a:xfrm>
          <a:prstGeom prst="roundRect">
            <a:avLst>
              <a:gd name="adj" fmla="val 4762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529584"/>
            <a:ext cx="16459200" cy="1920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venue.jpg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축제장 조감도 또는 행사장 전경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2000×900px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5687568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5687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32304" y="56875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(가칭)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5687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38944" y="56875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62544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32304" y="625449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10월 중 3일간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62544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38944" y="625449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821424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68214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32304" y="682142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68214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38944" y="68214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농식품부 · 문체부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738835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32304" y="73883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산업연계형 문화관광축제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95360" y="738835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38944" y="73883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15만 → 3년차 40만명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7955280"/>
            <a:ext cx="16459200" cy="566928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7955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개최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432304" y="79552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제1회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95360" y="7955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38944" y="79552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· 국비 · 기업협찬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8686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방문객 목표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5587CB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2028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8328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15만명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653796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0038BF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2029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0684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25만명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12161520" y="9144000"/>
            <a:ext cx="5212080" cy="841248"/>
          </a:xfrm>
          <a:prstGeom prst="roundRect">
            <a:avLst>
              <a:gd name="adj" fmla="val 13043"/>
            </a:avLst>
          </a:prstGeom>
          <a:solidFill>
            <a:srgbClr val="110B79"/>
          </a:solidFill>
          <a:ln/>
        </p:spPr>
      </p:sp>
      <p:sp>
        <p:nvSpPr>
          <p:cNvPr id="41" name="Text 39"/>
          <p:cNvSpPr/>
          <p:nvPr/>
        </p:nvSpPr>
        <p:spPr>
          <a:xfrm>
            <a:off x="12527280" y="91440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2030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630400" y="91440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40만명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첫해 15만은 지킬 수 있는 숫자입니다. 지킨 숫자만이 다음 예산을 부릅니다.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hree Zones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뿌리에서 시작해 맛으로 이어지고 문화로 끝납니다.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1673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673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뿌리존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31673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570585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4" name="Text 12"/>
          <p:cNvSpPr/>
          <p:nvPr/>
        </p:nvSpPr>
        <p:spPr>
          <a:xfrm>
            <a:off x="166420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 연계 셔틀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53312" y="643737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 연계 패스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53312" y="716889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8" name="Text 16"/>
          <p:cNvSpPr/>
          <p:nvPr/>
        </p:nvSpPr>
        <p:spPr>
          <a:xfrm>
            <a:off x="166420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인증 현장 체험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1673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1673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왔나"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81344" y="5669280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0038BF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029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E9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9244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FFE9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029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미식존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94029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76872" y="570585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초청 부스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76872" y="643737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</p:sp>
      <p:sp>
        <p:nvSpPr>
          <p:cNvPr id="30" name="Text 28"/>
          <p:cNvSpPr/>
          <p:nvPr/>
        </p:nvSpPr>
        <p:spPr>
          <a:xfrm>
            <a:off x="728776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76872" y="7168896"/>
            <a:ext cx="118872" cy="118872"/>
          </a:xfrm>
          <a:prstGeom prst="ellipse">
            <a:avLst/>
          </a:prstGeom>
          <a:solidFill>
            <a:srgbClr val="FFE9C9"/>
          </a:solidFill>
          <a:ln/>
        </p:spPr>
      </p:sp>
      <p:sp>
        <p:nvSpPr>
          <p:cNvPr id="32" name="Text 30"/>
          <p:cNvSpPr/>
          <p:nvPr/>
        </p:nvSpPr>
        <p:spPr>
          <a:xfrm>
            <a:off x="728776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농특산물 직거래장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4029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4029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맛인가"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1804904" y="5669280"/>
            <a:ext cx="301752" cy="292608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16152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5587CB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563856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3716000" y="3858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2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CULTURE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563856" y="4443984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문화존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12563856" y="532180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600432" y="570585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2911328" y="554126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서사관 · 닭 문화 전시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600432" y="643737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2911328" y="627278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문화공연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600432" y="716889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2911328" y="7004304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해안 불꽃 피날레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563856" y="7571232"/>
            <a:ext cx="440740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2563856" y="757123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소중한가"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50" name="Text 48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먹고 끝나는 축제가 아니라, 알고 먹는 축제입니다.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ignature Programs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 개의 프로그램보다, 사진 한 장으로 기억되는 세 개가 낫습니다.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5314" y="3530498"/>
            <a:ext cx="5212080" cy="2231136"/>
          </a:xfrm>
          <a:prstGeom prst="roundRect">
            <a:avLst>
              <a:gd name="adj" fmla="val 4098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5314" y="3530498"/>
            <a:ext cx="5212080" cy="223113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sig_a.jpg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해안 일출 (새벽 계명식 컨셉)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1300×950px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 계명식 (鷄鳴式)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1673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05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첫날 일출 · 변산 해안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1673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7" name="Text 15"/>
          <p:cNvSpPr/>
          <p:nvPr/>
        </p:nvSpPr>
        <p:spPr>
          <a:xfrm>
            <a:off x="159105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재현 · 액운 물리기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1673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9" name="Text 17"/>
          <p:cNvSpPr/>
          <p:nvPr/>
        </p:nvSpPr>
        <p:spPr>
          <a:xfrm>
            <a:off x="159105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부안에서만 가능한 의식 콘텐츠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8874" y="3530498"/>
            <a:ext cx="5212080" cy="2231136"/>
          </a:xfrm>
          <a:prstGeom prst="roundRect">
            <a:avLst>
              <a:gd name="adj" fmla="val 4098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38874" y="3530498"/>
            <a:ext cx="5212080" cy="223113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sig_b.jpg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닭요리 경연 / 셰프 조리 장면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1300×950px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0372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94029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7" name="Text 25"/>
          <p:cNvSpPr/>
          <p:nvPr/>
        </p:nvSpPr>
        <p:spPr>
          <a:xfrm>
            <a:off x="721461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지역 대표 초청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029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9" name="Text 27"/>
          <p:cNvSpPr/>
          <p:nvPr/>
        </p:nvSpPr>
        <p:spPr>
          <a:xfrm>
            <a:off x="721461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· 안동 · 속초 · 수원 · 목포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029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31" name="Text 29"/>
          <p:cNvSpPr/>
          <p:nvPr/>
        </p:nvSpPr>
        <p:spPr>
          <a:xfrm>
            <a:off x="721461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관람객 투표 + 레시피 아카이빙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61520" y="3529584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162434" y="3530498"/>
            <a:ext cx="5212080" cy="2231136"/>
          </a:xfrm>
          <a:prstGeom prst="roundRect">
            <a:avLst>
              <a:gd name="adj" fmla="val 4098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2162434" y="3530498"/>
            <a:ext cx="5212080" cy="223113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sig_c.jpg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해안 불꽃놀이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1300×950px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2527280" y="5961888"/>
            <a:ext cx="786384" cy="457200"/>
          </a:xfrm>
          <a:prstGeom prst="roundRect">
            <a:avLst>
              <a:gd name="adj" fmla="val 16000"/>
            </a:avLst>
          </a:prstGeom>
          <a:solidFill>
            <a:srgbClr val="0038BF"/>
          </a:solidFill>
          <a:ln/>
        </p:spPr>
      </p:sp>
      <p:sp>
        <p:nvSpPr>
          <p:cNvPr id="36" name="Text 34"/>
          <p:cNvSpPr/>
          <p:nvPr/>
        </p:nvSpPr>
        <p:spPr>
          <a:xfrm>
            <a:off x="12527280" y="596188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2527280" y="652881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불꽃 피날레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2563856" y="727862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39" name="Text 37"/>
          <p:cNvSpPr/>
          <p:nvPr/>
        </p:nvSpPr>
        <p:spPr>
          <a:xfrm>
            <a:off x="12838176" y="71506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폐막일 해안 배경 불꽃쇼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563856" y="766267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41" name="Text 39"/>
          <p:cNvSpPr/>
          <p:nvPr/>
        </p:nvSpPr>
        <p:spPr>
          <a:xfrm>
            <a:off x="12838176" y="753465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체류시간 연장 → 숙박 유도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563856" y="80467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43" name="Text 41"/>
          <p:cNvSpPr/>
          <p:nvPr/>
        </p:nvSpPr>
        <p:spPr>
          <a:xfrm>
            <a:off x="12838176" y="79187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안전관리계획 의무 대상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축제의 성패는 프로그램 수가 아니라, 기억되는 한 장면에서 갈립니다.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nimal Welfare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닭을 먹는 축제이기에, 더 정직해야 합니다. 피하지 않고 정면으로 다룹니다.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6459200" cy="1078992"/>
          </a:xfrm>
          <a:prstGeom prst="roundRect">
            <a:avLst>
              <a:gd name="adj" fmla="val 10169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3675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문제 제기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16736" y="4041648"/>
            <a:ext cx="1565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"동물을 소비하는 축제가 생명존중을 말할 수 있는가"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846320"/>
            <a:ext cx="5486400" cy="3438144"/>
          </a:xfrm>
          <a:prstGeom prst="roundRect">
            <a:avLst>
              <a:gd name="adj" fmla="val 2660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0" y="4846320"/>
            <a:ext cx="5486400" cy="3438144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welfare.jpg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인증 농장 / 어린이 체험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1600×1000px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03136" y="484632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4032" y="51206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</p:sp>
      <p:sp>
        <p:nvSpPr>
          <p:cNvPr id="15" name="Text 13"/>
          <p:cNvSpPr/>
          <p:nvPr/>
        </p:nvSpPr>
        <p:spPr>
          <a:xfrm>
            <a:off x="7114032" y="5120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08976" y="497433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인증된 사실로 답한다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08976" y="535838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참프레는 2015년 국내 최초 동물복지 육용계 인증과 동물복지 도축장 지정을 받았습니다. 부안은 한국에서 동물복지 축산을 가장 먼저 시작한 곳입니다.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03136" y="603504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63093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6309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08976" y="616305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감추지 않고 보여준다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08976" y="654710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사육 · 운송 · 도계 전 과정을 공개 견학합니다. 알고 먹는 것이 윤리의 출발점입니다.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03136" y="7223760"/>
            <a:ext cx="1057046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114032" y="749808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38BF"/>
          </a:solidFill>
          <a:ln/>
        </p:spPr>
      </p:sp>
      <p:sp>
        <p:nvSpPr>
          <p:cNvPr id="25" name="Text 23"/>
          <p:cNvSpPr/>
          <p:nvPr/>
        </p:nvSpPr>
        <p:spPr>
          <a:xfrm>
            <a:off x="7114032" y="7498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08976" y="7351776"/>
            <a:ext cx="9198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세대에 가르친다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08976" y="7735824"/>
            <a:ext cx="9198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어린이 생명존중 교육 프로그램을 축제 기간과 연중 상설로 운영합니다.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부안은 동물복지를 마케팅이 아니라 이력으로 증명합니다.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참프레 · 농림축산식품부 동물복지축산농장 인증제도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&amp; RISK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ompetitive Position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경쟁이 아니라 보완입니다. 누구도 「산업 기반 위의 가족형 축제」를 하고 있지 않습니다.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828800" cy="658368"/>
          </a:xfrm>
          <a:prstGeom prst="rect">
            <a:avLst/>
          </a:prstGeom>
          <a:solidFill>
            <a:srgbClr val="110B7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95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0" y="3529584"/>
            <a:ext cx="3200400" cy="658368"/>
          </a:xfrm>
          <a:prstGeom prst="rect">
            <a:avLst/>
          </a:prstGeom>
          <a:solidFill>
            <a:srgbClr val="110B7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529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3529584"/>
            <a:ext cx="2926080" cy="658368"/>
          </a:xfrm>
          <a:prstGeom prst="rect">
            <a:avLst/>
          </a:prstGeom>
          <a:solidFill>
            <a:srgbClr val="110B7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35295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69680" y="3529584"/>
            <a:ext cx="3200400" cy="658368"/>
          </a:xfrm>
          <a:prstGeom prst="rect">
            <a:avLst/>
          </a:prstGeom>
          <a:solidFill>
            <a:srgbClr val="0038BF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529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87952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87952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4187952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71216" y="41879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· 협회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0" y="4187952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4187952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(하림)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9680" y="4187952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7696" y="41879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+ 기업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956048"/>
            <a:ext cx="18288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956048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0" y="4956048"/>
            <a:ext cx="32004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495604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대형 축제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4956048"/>
            <a:ext cx="292608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4956048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견학 프로그램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69680" y="4956048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7696" y="495604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축제 + 상설 연계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724144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5724144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 단위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0" y="5724144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71216" y="572414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청년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943600" y="5724144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5724144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단체 · 학생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69680" y="5724144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7696" y="572414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관광객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14400" y="6492240"/>
            <a:ext cx="18288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2416" y="6492240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743200" y="6492240"/>
            <a:ext cx="320040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71216" y="649224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· 유흥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943600" y="6492240"/>
            <a:ext cx="2926080" cy="768096"/>
          </a:xfrm>
          <a:prstGeom prst="rect">
            <a:avLst/>
          </a:prstGeom>
          <a:solidFill>
            <a:srgbClr val="F5F8FC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6492240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교육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69680" y="6492240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97696" y="649224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+ 미식 + 관광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400" y="7260336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416" y="7260336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743200" y="7260336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71216" y="726033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115만명 (2025)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943600" y="7260336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1616" y="7260336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수천명 규모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869680" y="7260336"/>
            <a:ext cx="3200400" cy="768096"/>
          </a:xfrm>
          <a:prstGeom prst="rect">
            <a:avLst/>
          </a:prstGeom>
          <a:solidFill>
            <a:srgbClr val="D7ECFF"/>
          </a:solidFill>
          <a:ln w="9525">
            <a:solidFill>
              <a:srgbClr val="DDE5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97696" y="726033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 → 40만 (목표)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472416" y="3529584"/>
            <a:ext cx="4901184" cy="4498848"/>
          </a:xfrm>
          <a:prstGeom prst="roundRect">
            <a:avLst>
              <a:gd name="adj" fmla="val 2439"/>
            </a:avLst>
          </a:prstGeom>
          <a:solidFill>
            <a:srgbClr val="F5F8FC"/>
          </a:solidFill>
          <a:ln/>
        </p:spPr>
      </p:sp>
      <p:sp>
        <p:nvSpPr>
          <p:cNvPr id="57" name="Text 55"/>
          <p:cNvSpPr/>
          <p:nvPr/>
        </p:nvSpPr>
        <p:spPr>
          <a:xfrm>
            <a:off x="12838176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포지셔닝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923008" y="4535424"/>
            <a:ext cx="0" cy="310896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975336" y="6181344"/>
            <a:ext cx="3895344" cy="0"/>
          </a:xfrm>
          <a:prstGeom prst="line">
            <a:avLst/>
          </a:prstGeom>
          <a:noFill/>
          <a:ln w="19050">
            <a:solidFill>
              <a:srgbClr val="DDE5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459968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있음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3459968" y="75712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없음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2600432" y="60167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6422624" y="60167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5307056" y="4882896"/>
            <a:ext cx="1325880" cy="603504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65" name="Text 63"/>
          <p:cNvSpPr/>
          <p:nvPr/>
        </p:nvSpPr>
        <p:spPr>
          <a:xfrm>
            <a:off x="15307056" y="488289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3185648" y="5394960"/>
            <a:ext cx="1325880" cy="60350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67" name="Text 65"/>
          <p:cNvSpPr/>
          <p:nvPr/>
        </p:nvSpPr>
        <p:spPr>
          <a:xfrm>
            <a:off x="13185648" y="53949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5425928" y="6967728"/>
            <a:ext cx="1325880" cy="603504"/>
          </a:xfrm>
          <a:prstGeom prst="ellipse">
            <a:avLst/>
          </a:prstGeom>
          <a:solidFill>
            <a:srgbClr val="545454"/>
          </a:solidFill>
          <a:ln/>
        </p:spPr>
      </p:sp>
      <p:sp>
        <p:nvSpPr>
          <p:cNvPr id="69" name="Text 67"/>
          <p:cNvSpPr/>
          <p:nvPr/>
        </p:nvSpPr>
        <p:spPr>
          <a:xfrm>
            <a:off x="15425928" y="69677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71" name="Text 69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대구는 소비의 정점, 익산은 산업의 관문. 부안은 그 둘을 잇는 다리입니다.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매일신문(2026.7.6) · 하림 보도자료 · 대구치맥페스티벌 공식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taged Targets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50만은 결과이지 약속이 아닙니다. 지킬 수 있는 숫자로 시작합니다.</a:t>
            </a:r>
            <a:endParaRPr lang="en-US" sz="2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3529584"/>
          <a:ext cx="9692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/>
        </p:spPr>
      </p:sp>
      <p:sp>
        <p:nvSpPr>
          <p:cNvPr id="10" name="Text 7"/>
          <p:cNvSpPr/>
          <p:nvPr/>
        </p:nvSpPr>
        <p:spPr>
          <a:xfrm>
            <a:off x="11411712" y="3822192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산출 근거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1411712" y="4389120"/>
            <a:ext cx="55595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0" y="4389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평균 지출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18336" y="438912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35,000원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11411712" y="5504688"/>
            <a:ext cx="555955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0" y="55046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· 15만명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18336" y="5504688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52.5억원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1411712" y="6217920"/>
            <a:ext cx="555955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1704320" y="62179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· 25만명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18336" y="6217920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87.5억원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1411712" y="6931152"/>
            <a:ext cx="5559552" cy="603504"/>
          </a:xfrm>
          <a:prstGeom prst="rect">
            <a:avLst/>
          </a:prstGeom>
          <a:solidFill>
            <a:srgbClr val="D7ECFF"/>
          </a:solidFill>
          <a:ln/>
        </p:spPr>
      </p:sp>
      <p:sp>
        <p:nvSpPr>
          <p:cNvPr id="21" name="Text 18"/>
          <p:cNvSpPr/>
          <p:nvPr/>
        </p:nvSpPr>
        <p:spPr>
          <a:xfrm>
            <a:off x="11704320" y="693115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· 40만명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18336" y="6931152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140.0억원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411712" y="7754112"/>
            <a:ext cx="5559552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11712" y="7882128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기준 · 승수효과 별도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방문객 소비지출 조사 평균치 준용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26" name="Text 2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과장된 숫자는 첫해에 무너집니다. 지킨 숫자만이 다음 예산을 부릅니다.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isk Management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축산 소재 축제의 최대 변수는 방역입니다. 숨기지 않고 먼저 말합니다.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16459200" cy="1426464"/>
          </a:xfrm>
          <a:prstGeom prst="roundRect">
            <a:avLst>
              <a:gd name="adj" fmla="val 7692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3675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~ 2026 동절기 고병원성 조류인플루엔자 발생 현황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1673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53건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6265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가금농장 · 전북 포함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1169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63건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5761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야생조류 · 전년 43건 대비 1.5배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106656" y="4133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752576" y="4133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철새 도래 시작기와 근접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대응 시나리오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669280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0038B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6928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108960" y="5669280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566928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없음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863840" y="5669280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566928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프로그램 정상 운영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6638544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D9A40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663854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108960" y="6638544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66385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전북권 발생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63840" y="6638544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6638544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 접촉 프로그램 전면 대체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(병아리 관찰 → VR · 미디어 체험)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7607808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76078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108960" y="7607808"/>
            <a:ext cx="4572000" cy="841248"/>
          </a:xfrm>
          <a:prstGeom prst="roundRect">
            <a:avLst>
              <a:gd name="adj" fmla="val 13043"/>
            </a:avLst>
          </a:prstGeom>
          <a:solidFill>
            <a:srgbClr val="F5F8FC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76078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인근 발생 / 이동제한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63840" y="7607808"/>
            <a:ext cx="9509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7607808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전환 또는 11월 연기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계약에 연기조항 삽입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" y="8650224"/>
            <a:ext cx="16459200" cy="786384"/>
          </a:xfrm>
          <a:prstGeom prst="roundRect">
            <a:avLst>
              <a:gd name="adj" fmla="val 13953"/>
            </a:avLst>
          </a:prstGeom>
          <a:solidFill>
            <a:srgbClr val="D7ECFF"/>
          </a:solidFill>
          <a:ln/>
        </p:spPr>
      </p:sp>
      <p:sp>
        <p:nvSpPr>
          <p:cNvPr id="36" name="Text 34"/>
          <p:cNvSpPr/>
          <p:nvPr/>
        </p:nvSpPr>
        <p:spPr>
          <a:xfrm>
            <a:off x="1316736" y="865022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안전관리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0480" y="8650224"/>
            <a:ext cx="1313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「재난 및 안전관리 기본법」제66조의11 대상 (순간 최대 관람객 1천명 이상 · 불꽃 사용) · 안전관리계획 개최 3주 전 제출 의무 · 인파 밀집구간 실시간 모니터링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중수본(2026.3.9) · 기후에너지환경부(2026.5.29) · 재난 및 안전관리 기본법 시행령 제73조의9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2011680"/>
            <a:ext cx="10058400" cy="10058400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120640"/>
            <a:ext cx="7315200" cy="7315200"/>
          </a:xfrm>
          <a:prstGeom prst="roundRect">
            <a:avLst>
              <a:gd name="adj" fmla="val 20000"/>
            </a:avLst>
          </a:prstGeom>
          <a:solidFill>
            <a:srgbClr val="1A14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00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6492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300" kern="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FUNDING &amp; EXECUTION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230368"/>
            <a:ext cx="2926080" cy="0"/>
          </a:xfrm>
          <a:prstGeom prst="line">
            <a:avLst/>
          </a:prstGeom>
          <a:noFill/>
          <a:ln w="38100">
            <a:solidFill>
              <a:srgbClr val="5CE1E6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unding Structure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 국비를 기대하지 않고, 이미 확보된 재원을 설계합니다.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110B79"/>
          </a:solidFill>
          <a:ln/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1673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0857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5CE1E6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1673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1673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348억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31673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5년 누적 배분액(2022~2026)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1673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673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부안군은 인구감소지역 지정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1673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행안부 평가, 시설→인구유입 효과로 전환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673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전북도 소멸대응 사업 우선 반영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0038B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029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3213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3213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029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국비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94029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4천만원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94029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시 축제당 국비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029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2026~2027 전국 27개 선정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한국관광공사 홍보 · 마케팅 지원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029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예비 글로벌축제 승격 시 증액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161520" y="3529584"/>
            <a:ext cx="5212080" cy="3877056"/>
          </a:xfrm>
          <a:prstGeom prst="roundRect">
            <a:avLst>
              <a:gd name="adj" fmla="val 2830"/>
            </a:avLst>
          </a:prstGeom>
          <a:solidFill>
            <a:srgbClr val="5587CB"/>
          </a:solidFill>
          <a:ln/>
        </p:spPr>
      </p:sp>
      <p:sp>
        <p:nvSpPr>
          <p:cNvPr id="31" name="Text 29"/>
          <p:cNvSpPr/>
          <p:nvPr/>
        </p:nvSpPr>
        <p:spPr>
          <a:xfrm>
            <a:off x="12563856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855696" y="3803904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5855696" y="3803904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63856" y="4334256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2563856" y="4864608"/>
            <a:ext cx="4407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12563856" y="563270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프랜차이즈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563856" y="6053328"/>
            <a:ext cx="440740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63856" y="62179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참프레 (부안 소재 · 최우선)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563856" y="662025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하림 · BBQ · bhc · 교촌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563856" y="702259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ESG · 신제품 마케팅 수요 연계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4400" y="7662672"/>
            <a:ext cx="16459200" cy="804672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16736" y="76626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오해 정정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291840" y="7662672"/>
            <a:ext cx="1367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문화관광축제로 선정돼도 국비는 축제당 4천만원입니다. 대구 치맥페스티벌조차 예비 글로벌축제 선정으로 2.5억원을 추가 지원받는 수준입니다.  →  "국비 50% 지원"은 존재하지 않는 재원입니다.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전북특별자치도(2026) · 문화체육관광부(2026.1) · 행정안전부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계획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udget Plan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초년도 총사업비는 이미 확보된 기금으로 충당 가능한 규모로 설계했습니다.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</p:spPr>
      </p:sp>
      <p:sp>
        <p:nvSpPr>
          <p:cNvPr id="9" name="Text 7"/>
          <p:cNvSpPr/>
          <p:nvPr/>
        </p:nvSpPr>
        <p:spPr>
          <a:xfrm>
            <a:off x="1335024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초년도 총사업비 (개산)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5024" y="43159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18억원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35024" y="5340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~ 20억원 규모 · 2028년 제1회 기준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35024" y="5852160"/>
            <a:ext cx="4096512" cy="0"/>
          </a:xfrm>
          <a:prstGeom prst="line">
            <a:avLst/>
          </a:prstGeom>
          <a:noFill/>
          <a:ln w="15875">
            <a:solidFill>
              <a:srgbClr val="3A3A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6199632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6071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연 배분 규모 내 충당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53312" y="6894576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6766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대규모 국비 없이 실행 가능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53312" y="7589520"/>
            <a:ext cx="118872" cy="118872"/>
          </a:xfrm>
          <a:prstGeom prst="ellipse">
            <a:avLst/>
          </a:prstGeom>
          <a:solidFill>
            <a:srgbClr val="5CE1E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746150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회차별 성과 검증 후 단계적 확대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5295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배분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41696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 · 콘텐츠 운영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49840" y="4169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6.3억 · 35%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455371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EA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455371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0038B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992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무대 · 시설 · 설치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49840" y="49926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4.5억 · 25%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537667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EAF0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5376672"/>
            <a:ext cx="4245429" cy="219456"/>
          </a:xfrm>
          <a:prstGeom prst="roundRect">
            <a:avLst>
              <a:gd name="adj" fmla="val 20833"/>
            </a:avLst>
          </a:prstGeom>
          <a:solidFill>
            <a:srgbClr val="5587C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8155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· 마케팅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149840" y="5815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3.2억 · 18%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619963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EAF0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6199632"/>
            <a:ext cx="3056709" cy="219456"/>
          </a:xfrm>
          <a:prstGeom prst="roundRect">
            <a:avLst>
              <a:gd name="adj" fmla="val 20833"/>
            </a:avLst>
          </a:prstGeom>
          <a:solidFill>
            <a:srgbClr val="5587CB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66385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· 의료 · 보험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149840" y="66385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2.2억 · 12%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702259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EAF0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7022592"/>
            <a:ext cx="2037806" cy="219456"/>
          </a:xfrm>
          <a:prstGeom prst="roundRect">
            <a:avLst>
              <a:gd name="adj" fmla="val 20833"/>
            </a:avLst>
          </a:prstGeom>
          <a:solidFill>
            <a:srgbClr val="5587CB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74615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· 인건비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149840" y="7461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1.8억 · 10%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7845552"/>
            <a:ext cx="5943600" cy="219456"/>
          </a:xfrm>
          <a:prstGeom prst="roundRect">
            <a:avLst>
              <a:gd name="adj" fmla="val 20833"/>
            </a:avLst>
          </a:prstGeom>
          <a:solidFill>
            <a:srgbClr val="EAF0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7845552"/>
            <a:ext cx="1698171" cy="219456"/>
          </a:xfrm>
          <a:prstGeom prst="roundRect">
            <a:avLst>
              <a:gd name="adj" fmla="val 20833"/>
            </a:avLst>
          </a:prstGeom>
          <a:solidFill>
            <a:srgbClr val="5587CB"/>
          </a:solidFill>
          <a:ln/>
        </p:spPr>
      </p:sp>
      <p:sp>
        <p:nvSpPr>
          <p:cNvPr id="40" name="Shape 38"/>
          <p:cNvSpPr/>
          <p:nvPr/>
        </p:nvSpPr>
        <p:spPr>
          <a:xfrm>
            <a:off x="12527280" y="3529584"/>
            <a:ext cx="4846320" cy="475488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/>
        </p:spPr>
      </p:sp>
      <p:sp>
        <p:nvSpPr>
          <p:cNvPr id="41" name="Text 39"/>
          <p:cNvSpPr/>
          <p:nvPr/>
        </p:nvSpPr>
        <p:spPr>
          <a:xfrm>
            <a:off x="12893040" y="38039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매칭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893040" y="4352544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075920" y="4498848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110B79"/>
          </a:solidFill>
          <a:ln/>
        </p:spPr>
      </p:sp>
      <p:sp>
        <p:nvSpPr>
          <p:cNvPr id="44" name="Text 42"/>
          <p:cNvSpPr/>
          <p:nvPr/>
        </p:nvSpPr>
        <p:spPr>
          <a:xfrm>
            <a:off x="13075920" y="449884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주력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3990320" y="43525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893040" y="5120640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075920" y="5266944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0038BF"/>
          </a:solidFill>
          <a:ln/>
        </p:spPr>
      </p:sp>
      <p:sp>
        <p:nvSpPr>
          <p:cNvPr id="48" name="Text 46"/>
          <p:cNvSpPr/>
          <p:nvPr/>
        </p:nvSpPr>
        <p:spPr>
          <a:xfrm>
            <a:off x="13075920" y="52669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3990320" y="51206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전북도비 매칭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2893040" y="5888736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075920" y="6035040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5587CB"/>
          </a:solidFill>
          <a:ln/>
        </p:spPr>
      </p:sp>
      <p:sp>
        <p:nvSpPr>
          <p:cNvPr id="52" name="Text 50"/>
          <p:cNvSpPr/>
          <p:nvPr/>
        </p:nvSpPr>
        <p:spPr>
          <a:xfrm>
            <a:off x="13075920" y="60350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3990320" y="58887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국비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2893040" y="6656832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075920" y="6803136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5587CB"/>
          </a:solidFill>
          <a:ln/>
        </p:spPr>
      </p:sp>
      <p:sp>
        <p:nvSpPr>
          <p:cNvPr id="56" name="Text 54"/>
          <p:cNvSpPr/>
          <p:nvPr/>
        </p:nvSpPr>
        <p:spPr>
          <a:xfrm>
            <a:off x="13075920" y="68031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3990320" y="665683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(참프레 등)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2893040" y="7424928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075920" y="757123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5587CB"/>
          </a:solidFill>
          <a:ln/>
        </p:spPr>
      </p:sp>
      <p:sp>
        <p:nvSpPr>
          <p:cNvPr id="60" name="Text 58"/>
          <p:cNvSpPr/>
          <p:nvPr/>
        </p:nvSpPr>
        <p:spPr>
          <a:xfrm>
            <a:off x="13075920" y="75712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3990320" y="742492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자체수입 (입점료 · 수수료)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63" name="Text 61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총사업비의 대부분을 이미 확보된 기금으로 충당합니다. 신규 대규모 국비 없이 실행됩니다.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지자체 문화관광축제 표준 산정 준용 · 확정 예산은 실행계획 단계에서 확정(개산 기준)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체계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overnance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민관이 함께, 각자 가장 잘하는 일을 맡습니다.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37856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25696" y="3822192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110B79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3822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주최 · 총괄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80160" y="4590288"/>
            <a:ext cx="4480560" cy="0"/>
          </a:xfrm>
          <a:prstGeom prst="line">
            <a:avLst/>
          </a:prstGeom>
          <a:noFill/>
          <a:ln w="15875">
            <a:solidFill>
              <a:srgbClr val="9FB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4846320"/>
            <a:ext cx="100584" cy="100584"/>
          </a:xfrm>
          <a:prstGeom prst="ellipse">
            <a:avLst/>
          </a:prstGeom>
          <a:solidFill>
            <a:srgbClr val="110B79"/>
          </a:solidFill>
          <a:ln/>
        </p:spPr>
      </p:sp>
      <p:sp>
        <p:nvSpPr>
          <p:cNvPr id="14" name="Text 12"/>
          <p:cNvSpPr/>
          <p:nvPr/>
        </p:nvSpPr>
        <p:spPr>
          <a:xfrm>
            <a:off x="1572768" y="4736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편성 · 인허가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316736" y="5175504"/>
            <a:ext cx="100584" cy="100584"/>
          </a:xfrm>
          <a:prstGeom prst="ellipse">
            <a:avLst/>
          </a:prstGeom>
          <a:solidFill>
            <a:srgbClr val="110B79"/>
          </a:solidFill>
          <a:ln/>
        </p:spPr>
      </p:sp>
      <p:sp>
        <p:nvSpPr>
          <p:cNvPr id="16" name="Text 14"/>
          <p:cNvSpPr/>
          <p:nvPr/>
        </p:nvSpPr>
        <p:spPr>
          <a:xfrm>
            <a:off x="1572768" y="50657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 · 부지 제공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316736" y="5504688"/>
            <a:ext cx="100584" cy="100584"/>
          </a:xfrm>
          <a:prstGeom prst="ellipse">
            <a:avLst/>
          </a:prstGeom>
          <a:solidFill>
            <a:srgbClr val="110B79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53949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투자계획 반영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37960" y="3529584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D7ECFF"/>
          </a:solidFill>
          <a:ln w="25400">
            <a:solidFill>
              <a:srgbClr val="0038BF"/>
            </a:solidFill>
            <a:prstDash val="solid"/>
          </a:ln>
          <a:effectLst>
            <a:outerShdw sx="100000" sy="100000" kx="0" ky="0" algn="bl" rotWithShape="0" blurRad="177800" dist="25400" dir="5400000">
              <a:srgbClr val="0038B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7856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0049256" y="3822192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0038B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49256" y="3822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 · 운영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4590288"/>
            <a:ext cx="4480560" cy="0"/>
          </a:xfrm>
          <a:prstGeom prst="line">
            <a:avLst/>
          </a:prstGeom>
          <a:noFill/>
          <a:ln w="15875">
            <a:solidFill>
              <a:srgbClr val="9FB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0296" y="4846320"/>
            <a:ext cx="100584" cy="100584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25" name="Text 23"/>
          <p:cNvSpPr/>
          <p:nvPr/>
        </p:nvSpPr>
        <p:spPr>
          <a:xfrm>
            <a:off x="7196328" y="4736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 기획 · 현장 운영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940296" y="5175504"/>
            <a:ext cx="100584" cy="100584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50657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 운영 노하우 승계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940296" y="5504688"/>
            <a:ext cx="100584" cy="100584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29" name="Text 27"/>
          <p:cNvSpPr/>
          <p:nvPr/>
        </p:nvSpPr>
        <p:spPr>
          <a:xfrm>
            <a:off x="7196328" y="53949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자원봉사 · 인력 풀 가동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2161520" y="3529584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0" y="37856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전북특별자치도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5672816" y="3822192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5587CB"/>
          </a:solidFill>
          <a:ln/>
        </p:spPr>
      </p:sp>
      <p:sp>
        <p:nvSpPr>
          <p:cNvPr id="33" name="Text 31"/>
          <p:cNvSpPr/>
          <p:nvPr/>
        </p:nvSpPr>
        <p:spPr>
          <a:xfrm>
            <a:off x="15672816" y="3822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· 연계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2527280" y="4590288"/>
            <a:ext cx="44805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63856" y="4846320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36" name="Text 34"/>
          <p:cNvSpPr/>
          <p:nvPr/>
        </p:nvSpPr>
        <p:spPr>
          <a:xfrm>
            <a:off x="12819888" y="4736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도비 매칭 · 광역 홍보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12563856" y="517550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38" name="Text 36"/>
          <p:cNvSpPr/>
          <p:nvPr/>
        </p:nvSpPr>
        <p:spPr>
          <a:xfrm>
            <a:off x="12819888" y="50657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거점 연계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12563856" y="5504688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40" name="Text 38"/>
          <p:cNvSpPr/>
          <p:nvPr/>
        </p:nvSpPr>
        <p:spPr>
          <a:xfrm>
            <a:off x="12819888" y="53949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 광역 코스화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914400" y="6053328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6309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4425696" y="634593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5587CB"/>
          </a:solidFill>
          <a:ln/>
        </p:spPr>
      </p:sp>
      <p:sp>
        <p:nvSpPr>
          <p:cNvPr id="44" name="Text 42"/>
          <p:cNvSpPr/>
          <p:nvPr/>
        </p:nvSpPr>
        <p:spPr>
          <a:xfrm>
            <a:off x="4425696" y="63459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파트너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280160" y="7114032"/>
            <a:ext cx="44805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737006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47" name="Text 45"/>
          <p:cNvSpPr/>
          <p:nvPr/>
        </p:nvSpPr>
        <p:spPr>
          <a:xfrm>
            <a:off x="1572768" y="7260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견학관 연계 · 셔틀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1316736" y="7699248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49" name="Text 47"/>
          <p:cNvSpPr/>
          <p:nvPr/>
        </p:nvSpPr>
        <p:spPr>
          <a:xfrm>
            <a:off x="1572768" y="7589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· 시식 콘텐츠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1316736" y="802843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51" name="Text 49"/>
          <p:cNvSpPr/>
          <p:nvPr/>
        </p:nvSpPr>
        <p:spPr>
          <a:xfrm>
            <a:off x="1572768" y="7918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· 마케팅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6537960" y="6053328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6309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농식품부 · 문체부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10049256" y="634593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5587CB"/>
          </a:solidFill>
          <a:ln/>
        </p:spPr>
      </p:sp>
      <p:sp>
        <p:nvSpPr>
          <p:cNvPr id="55" name="Text 53"/>
          <p:cNvSpPr/>
          <p:nvPr/>
        </p:nvSpPr>
        <p:spPr>
          <a:xfrm>
            <a:off x="10049256" y="63459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· 인증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903720" y="7114032"/>
            <a:ext cx="44805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0296" y="737006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58" name="Text 56"/>
          <p:cNvSpPr/>
          <p:nvPr/>
        </p:nvSpPr>
        <p:spPr>
          <a:xfrm>
            <a:off x="7196328" y="7260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K-미식벨트 거점 등재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6940296" y="7699248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60" name="Text 58"/>
          <p:cNvSpPr/>
          <p:nvPr/>
        </p:nvSpPr>
        <p:spPr>
          <a:xfrm>
            <a:off x="7196328" y="7589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지정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6940296" y="802843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62" name="Text 60"/>
          <p:cNvSpPr/>
          <p:nvPr/>
        </p:nvSpPr>
        <p:spPr>
          <a:xfrm>
            <a:off x="7196328" y="7918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국비 · 마케팅 지원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12161520" y="6053328"/>
            <a:ext cx="5212080" cy="2249424"/>
          </a:xfrm>
          <a:prstGeom prst="roundRect">
            <a:avLst>
              <a:gd name="adj" fmla="val 4878"/>
            </a:avLst>
          </a:prstGeom>
          <a:solidFill>
            <a:srgbClr val="F5F8FC"/>
          </a:solidFill>
          <a:ln w="12700">
            <a:solidFill>
              <a:srgbClr val="DDE5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527280" y="6309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· 상인 · 농가</a:t>
            </a:r>
            <a:endParaRPr lang="en-US" sz="1900" dirty="0"/>
          </a:p>
        </p:txBody>
      </p:sp>
      <p:sp>
        <p:nvSpPr>
          <p:cNvPr id="65" name="Shape 63"/>
          <p:cNvSpPr/>
          <p:nvPr/>
        </p:nvSpPr>
        <p:spPr>
          <a:xfrm>
            <a:off x="15672816" y="634593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5587CB"/>
          </a:solidFill>
          <a:ln/>
        </p:spPr>
      </p:sp>
      <p:sp>
        <p:nvSpPr>
          <p:cNvPr id="66" name="Text 64"/>
          <p:cNvSpPr/>
          <p:nvPr/>
        </p:nvSpPr>
        <p:spPr>
          <a:xfrm>
            <a:off x="15672816" y="63459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주체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2527280" y="7114032"/>
            <a:ext cx="448056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563856" y="7370064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69" name="Text 67"/>
          <p:cNvSpPr/>
          <p:nvPr/>
        </p:nvSpPr>
        <p:spPr>
          <a:xfrm>
            <a:off x="12819888" y="72603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부스 · 먹거리 참여</a:t>
            </a:r>
            <a:endParaRPr lang="en-US" sz="1450" dirty="0"/>
          </a:p>
        </p:txBody>
      </p:sp>
      <p:sp>
        <p:nvSpPr>
          <p:cNvPr id="70" name="Shape 68"/>
          <p:cNvSpPr/>
          <p:nvPr/>
        </p:nvSpPr>
        <p:spPr>
          <a:xfrm>
            <a:off x="12563856" y="7699248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71" name="Text 69"/>
          <p:cNvSpPr/>
          <p:nvPr/>
        </p:nvSpPr>
        <p:spPr>
          <a:xfrm>
            <a:off x="12819888" y="7589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농특산물 직거래</a:t>
            </a:r>
            <a:endParaRPr lang="en-US" sz="1450" dirty="0"/>
          </a:p>
        </p:txBody>
      </p:sp>
      <p:sp>
        <p:nvSpPr>
          <p:cNvPr id="72" name="Shape 70"/>
          <p:cNvSpPr/>
          <p:nvPr/>
        </p:nvSpPr>
        <p:spPr>
          <a:xfrm>
            <a:off x="12563856" y="8028432"/>
            <a:ext cx="100584" cy="100584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73" name="Text 71"/>
          <p:cNvSpPr/>
          <p:nvPr/>
        </p:nvSpPr>
        <p:spPr>
          <a:xfrm>
            <a:off x="12819888" y="7918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소득의 지역 환류</a:t>
            </a:r>
            <a:endParaRPr lang="en-US" sz="1450" dirty="0"/>
          </a:p>
        </p:txBody>
      </p:sp>
      <p:sp>
        <p:nvSpPr>
          <p:cNvPr id="74" name="Shape 72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75" name="Text 73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부안군이 이끌고, 참프레와 주민이 채우고, 도와 정부가 뒷받침합니다.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일정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oadmap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투자계획은 매년 6~7월 제출입니다. 지금 시작해야 2028년에 열립니다.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5587C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하반기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473659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기본계획 수립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7008" y="54132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4" name="Text 12"/>
          <p:cNvSpPr/>
          <p:nvPr/>
        </p:nvSpPr>
        <p:spPr>
          <a:xfrm>
            <a:off x="1481328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MOU 체결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7008" y="608990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16" name="Text 14"/>
          <p:cNvSpPr/>
          <p:nvPr/>
        </p:nvSpPr>
        <p:spPr>
          <a:xfrm>
            <a:off x="1481328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추진위 확대 구성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9744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4064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5587CB"/>
          </a:solidFill>
          <a:ln/>
        </p:spPr>
      </p:sp>
      <p:sp>
        <p:nvSpPr>
          <p:cNvPr id="19" name="Text 17"/>
          <p:cNvSpPr/>
          <p:nvPr/>
        </p:nvSpPr>
        <p:spPr>
          <a:xfrm>
            <a:off x="5084064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상반기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84064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376672" y="4736592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2" name="Text 20"/>
          <p:cNvSpPr/>
          <p:nvPr/>
        </p:nvSpPr>
        <p:spPr>
          <a:xfrm>
            <a:off x="5650992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 검토 · 프로그램 설계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76672" y="5413248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4" name="Text 22"/>
          <p:cNvSpPr/>
          <p:nvPr/>
        </p:nvSpPr>
        <p:spPr>
          <a:xfrm>
            <a:off x="5650992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거점 등재 신청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76672" y="6089904"/>
            <a:ext cx="109728" cy="109728"/>
          </a:xfrm>
          <a:prstGeom prst="ellipse">
            <a:avLst/>
          </a:prstGeom>
          <a:solidFill>
            <a:srgbClr val="5587CB"/>
          </a:solidFill>
          <a:ln/>
        </p:spPr>
      </p:sp>
      <p:sp>
        <p:nvSpPr>
          <p:cNvPr id="26" name="Text 24"/>
          <p:cNvSpPr/>
          <p:nvPr/>
        </p:nvSpPr>
        <p:spPr>
          <a:xfrm>
            <a:off x="5650992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6~7월 기금 투자계획(안) 제출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79408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28" name="Shape 26"/>
          <p:cNvSpPr/>
          <p:nvPr/>
        </p:nvSpPr>
        <p:spPr>
          <a:xfrm>
            <a:off x="9253728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0038BF"/>
          </a:solidFill>
          <a:ln/>
        </p:spPr>
      </p:sp>
      <p:sp>
        <p:nvSpPr>
          <p:cNvPr id="29" name="Text 27"/>
          <p:cNvSpPr/>
          <p:nvPr/>
        </p:nvSpPr>
        <p:spPr>
          <a:xfrm>
            <a:off x="9253728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하반기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253728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</p:sp>
      <p:sp>
        <p:nvSpPr>
          <p:cNvPr id="31" name="Shape 29"/>
          <p:cNvSpPr/>
          <p:nvPr/>
        </p:nvSpPr>
        <p:spPr>
          <a:xfrm>
            <a:off x="9546336" y="4736592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2" name="Text 30"/>
          <p:cNvSpPr/>
          <p:nvPr/>
        </p:nvSpPr>
        <p:spPr>
          <a:xfrm>
            <a:off x="9820656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대응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46336" y="5413248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4" name="Text 32"/>
          <p:cNvSpPr/>
          <p:nvPr/>
        </p:nvSpPr>
        <p:spPr>
          <a:xfrm>
            <a:off x="9820656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확정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46336" y="6089904"/>
            <a:ext cx="109728" cy="109728"/>
          </a:xfrm>
          <a:prstGeom prst="ellipse">
            <a:avLst/>
          </a:prstGeom>
          <a:solidFill>
            <a:srgbClr val="0038BF"/>
          </a:solidFill>
          <a:ln/>
        </p:spPr>
      </p:sp>
      <p:sp>
        <p:nvSpPr>
          <p:cNvPr id="36" name="Text 34"/>
          <p:cNvSpPr/>
          <p:nvPr/>
        </p:nvSpPr>
        <p:spPr>
          <a:xfrm>
            <a:off x="9820656" y="5943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12월 배분금액 확정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149072" y="3767328"/>
            <a:ext cx="237744" cy="237744"/>
          </a:xfrm>
          <a:prstGeom prst="rightArrow">
            <a:avLst/>
          </a:prstGeom>
          <a:solidFill>
            <a:srgbClr val="DDE5F3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23392" y="3529584"/>
            <a:ext cx="3877056" cy="713232"/>
          </a:xfrm>
          <a:prstGeom prst="roundRect">
            <a:avLst>
              <a:gd name="adj" fmla="val 12821"/>
            </a:avLst>
          </a:prstGeom>
          <a:solidFill>
            <a:srgbClr val="110B79"/>
          </a:solidFill>
          <a:ln/>
        </p:spPr>
      </p:sp>
      <p:sp>
        <p:nvSpPr>
          <p:cNvPr id="39" name="Text 37"/>
          <p:cNvSpPr/>
          <p:nvPr/>
        </p:nvSpPr>
        <p:spPr>
          <a:xfrm>
            <a:off x="13423392" y="352958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3423392" y="4370832"/>
            <a:ext cx="3877056" cy="210312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/>
        </p:spPr>
      </p:sp>
      <p:sp>
        <p:nvSpPr>
          <p:cNvPr id="41" name="Shape 39"/>
          <p:cNvSpPr/>
          <p:nvPr/>
        </p:nvSpPr>
        <p:spPr>
          <a:xfrm>
            <a:off x="13716000" y="4736592"/>
            <a:ext cx="109728" cy="109728"/>
          </a:xfrm>
          <a:prstGeom prst="ellipse">
            <a:avLst/>
          </a:prstGeom>
          <a:solidFill>
            <a:srgbClr val="110B79"/>
          </a:solidFill>
          <a:ln/>
        </p:spPr>
      </p:sp>
      <p:sp>
        <p:nvSpPr>
          <p:cNvPr id="42" name="Text 40"/>
          <p:cNvSpPr/>
          <p:nvPr/>
        </p:nvSpPr>
        <p:spPr>
          <a:xfrm>
            <a:off x="13990320" y="45902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실행계획 · 안전관리계획 수립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716000" y="5413248"/>
            <a:ext cx="109728" cy="109728"/>
          </a:xfrm>
          <a:prstGeom prst="ellipse">
            <a:avLst/>
          </a:prstGeom>
          <a:solidFill>
            <a:srgbClr val="110B79"/>
          </a:solidFill>
          <a:ln/>
        </p:spPr>
      </p:sp>
      <p:sp>
        <p:nvSpPr>
          <p:cNvPr id="44" name="Text 42"/>
          <p:cNvSpPr/>
          <p:nvPr/>
        </p:nvSpPr>
        <p:spPr>
          <a:xfrm>
            <a:off x="13990320" y="52669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10월 제1회 부안 닭축제 개최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4400" y="6693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단계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7095744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0160" y="70957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2029 ~ 2030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206240" y="7095744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~ 3회차 개최 / 문화관광축제 지정 신청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4400" y="7589520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5F8FC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75895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2031 ~ 2033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206240" y="7589520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콘텐츠화 / K-치킨벨트 대표 거점 확립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4400" y="8083296"/>
            <a:ext cx="164592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80160" y="80832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2034 ~ 2035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06240" y="8083296"/>
            <a:ext cx="1280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국제화 단계 검토 / 해외 관광객 유치 본격화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56" name="Text 54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시작해야 2028년에 열립니다.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운영 절차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spc="100" kern="0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0" y="60350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80160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종합제안서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72768"/>
            <a:ext cx="16459200" cy="0"/>
          </a:xfrm>
          <a:prstGeom prst="line">
            <a:avLst/>
          </a:prstGeom>
          <a:noFill/>
          <a:ln w="15875">
            <a:solidFill>
              <a:srgbClr val="DD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83664"/>
            <a:ext cx="1645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ctr" indent="0" marL="0">
              <a:buNone/>
            </a:pPr>
            <a:r>
              <a:rPr lang="en-US" sz="42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xpected Impact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377440" y="2688336"/>
            <a:ext cx="1353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 수가 아니라, 체류인구 증가가 목표입니다.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29584"/>
            <a:ext cx="96926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DDE5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382219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행정안전부 기금 평가기준  ↔  부안 닭축제 KPI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316736" y="4462272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462272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</a:t>
            </a:r>
            <a:endParaRPr lang="en-US" sz="17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 · 체류인구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91456" y="4846320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4462272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5632704" y="4462272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체류인구 전년 대비 증가율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기간 생활인구 순증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16736" y="5724144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5724144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일자리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91456" y="6108192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5724144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5724144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연계 신규 고용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협력 농가 소득 변화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16736" y="6986016"/>
            <a:ext cx="3291840" cy="1060704"/>
          </a:xfrm>
          <a:prstGeom prst="roundRect">
            <a:avLst>
              <a:gd name="adj" fmla="val 10345"/>
            </a:avLst>
          </a:prstGeom>
          <a:solidFill>
            <a:srgbClr val="D7E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6986016"/>
            <a:ext cx="3017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038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마을공동체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91456" y="7370064"/>
            <a:ext cx="384048" cy="292608"/>
          </a:xfrm>
          <a:prstGeom prst="rightArrow">
            <a:avLst/>
          </a:prstGeom>
          <a:solidFill>
            <a:srgbClr val="5CE1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6986016"/>
            <a:ext cx="4809744" cy="1060704"/>
          </a:xfrm>
          <a:prstGeom prst="roundRect">
            <a:avLst>
              <a:gd name="adj" fmla="val 10345"/>
            </a:avLst>
          </a:prstGeom>
          <a:solidFill>
            <a:srgbClr val="F5F8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32704" y="6986016"/>
            <a:ext cx="4389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참여 부스 수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자원봉사 참여율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09376" y="3529584"/>
            <a:ext cx="6364224" cy="4754880"/>
          </a:xfrm>
          <a:prstGeom prst="roundRect">
            <a:avLst>
              <a:gd name="adj" fmla="val 2308"/>
            </a:avLst>
          </a:prstGeom>
          <a:solidFill>
            <a:srgbClr val="110B79"/>
          </a:solidFill>
          <a:ln/>
        </p:spPr>
      </p:sp>
      <p:sp>
        <p:nvSpPr>
          <p:cNvPr id="26" name="Text 24"/>
          <p:cNvSpPr/>
          <p:nvPr/>
        </p:nvSpPr>
        <p:spPr>
          <a:xfrm>
            <a:off x="11411712" y="3822192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선순환 구조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1466576" y="4443984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66576" y="4443984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개최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090904" y="5029200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66576" y="5212080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</p:sp>
      <p:sp>
        <p:nvSpPr>
          <p:cNvPr id="31" name="Text 29"/>
          <p:cNvSpPr/>
          <p:nvPr/>
        </p:nvSpPr>
        <p:spPr>
          <a:xfrm>
            <a:off x="11466576" y="521208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 증가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090904" y="5797296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66576" y="5980176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66576" y="5980176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상승 → 배분액 증가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090904" y="6565392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66576" y="6748272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0038BF"/>
          </a:solidFill>
          <a:ln/>
        </p:spPr>
      </p:sp>
      <p:sp>
        <p:nvSpPr>
          <p:cNvPr id="37" name="Text 35"/>
          <p:cNvSpPr/>
          <p:nvPr/>
        </p:nvSpPr>
        <p:spPr>
          <a:xfrm>
            <a:off x="11466576" y="6748272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재투자 · 상설 콘텐츠화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090904" y="7333488"/>
            <a:ext cx="201168" cy="146304"/>
          </a:xfrm>
          <a:prstGeom prst="downArrow">
            <a:avLst/>
          </a:prstGeom>
          <a:solidFill>
            <a:srgbClr val="4A6FD8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66576" y="7516368"/>
            <a:ext cx="5449824" cy="566928"/>
          </a:xfrm>
          <a:prstGeom prst="roundRect">
            <a:avLst>
              <a:gd name="adj" fmla="val 14516"/>
            </a:avLst>
          </a:prstGeom>
          <a:solidFill>
            <a:srgbClr val="5CE1E6"/>
          </a:solidFill>
          <a:ln/>
        </p:spPr>
      </p:sp>
      <p:sp>
        <p:nvSpPr>
          <p:cNvPr id="40" name="Text 38"/>
          <p:cNvSpPr/>
          <p:nvPr/>
        </p:nvSpPr>
        <p:spPr>
          <a:xfrm>
            <a:off x="11466576" y="751636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0B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연중 체류인구 증가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4400" y="8540496"/>
            <a:ext cx="16459200" cy="749808"/>
          </a:xfrm>
          <a:prstGeom prst="roundRect">
            <a:avLst>
              <a:gd name="adj" fmla="val 14634"/>
            </a:avLst>
          </a:prstGeom>
          <a:solidFill>
            <a:srgbClr val="110B79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" y="8540496"/>
            <a:ext cx="1554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이제 시설이 아니라 사람으로 평가합니다. 축제는 가장 빠른 사람 사업입니다.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14400" y="9582912"/>
            <a:ext cx="1645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투자계획 평가 개편(2025.12)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0B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oundRect">
            <a:avLst>
              <a:gd name="adj" fmla="val 1000"/>
            </a:avLst>
          </a:prstGeom>
          <a:solidFill>
            <a:srgbClr val="EAF0F6"/>
          </a:solidFill>
          <a:ln w="15875">
            <a:solidFill>
              <a:srgbClr val="5587CB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200" kern="0" dirty="0">
                <a:solidFill>
                  <a:srgbClr val="5587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closing.jpg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변산 일출 또는 축제 야경 (마무리 이미지)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54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2800×1600px 이상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875520" cy="10287000"/>
          </a:xfrm>
          <a:prstGeom prst="rect">
            <a:avLst/>
          </a:prstGeom>
          <a:solidFill>
            <a:srgbClr val="110B79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-2743200"/>
            <a:ext cx="5486400" cy="16459200"/>
          </a:xfrm>
          <a:prstGeom prst="roundRect">
            <a:avLst>
              <a:gd name="adj" fmla="val 20000"/>
            </a:avLst>
          </a:prstGeom>
          <a:solidFill>
            <a:srgbClr val="110B7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2377440" cy="0"/>
          </a:xfrm>
          <a:prstGeom prst="line">
            <a:avLst/>
          </a:prstGeom>
          <a:noFill/>
          <a:ln w="44450">
            <a:solidFill>
              <a:srgbClr val="5C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14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spc="400" kern="0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 하면 부안,</a:t>
            </a:r>
            <a:endParaRPr lang="en-US" sz="56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하면 닭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 전 이 땅에서 닭은 나라의 이름이었습니다.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세계는 그 닭을 K-Chicken이라 부릅니다.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D7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이름의 출발점을 부안에 세우고자 합니다.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기금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투자계획 반영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</p:sp>
      <p:sp>
        <p:nvSpPr>
          <p:cNvPr id="14" name="Text 12"/>
          <p:cNvSpPr/>
          <p:nvPr/>
        </p:nvSpPr>
        <p:spPr>
          <a:xfrm>
            <a:off x="400507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전북특별자치도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0507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등재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7040880"/>
            <a:ext cx="2615184" cy="1335024"/>
          </a:xfrm>
          <a:prstGeom prst="roundRect">
            <a:avLst>
              <a:gd name="adj" fmla="val 6849"/>
            </a:avLst>
          </a:prstGeom>
          <a:solidFill>
            <a:srgbClr val="0038BF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7187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파트너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9712" y="75895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시설 연계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참여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87782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5CE1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10월, 부안에서 대한민국의 닭이 다시 새벽을 알립니다.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93634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8A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  |  2026. 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부안 닭축제 종합제안서</dc:title>
  <dc:subject>PptxGenJS Presentation</dc:subject>
  <dc:creator>부안군 · 전북특별자치도</dc:creator>
  <cp:lastModifiedBy>부안군 · 전북특별자치도</cp:lastModifiedBy>
  <cp:revision>1</cp:revision>
  <dcterms:created xsi:type="dcterms:W3CDTF">2026-07-26T07:54:08Z</dcterms:created>
  <dcterms:modified xsi:type="dcterms:W3CDTF">2026-07-26T07:54:08Z</dcterms:modified>
</cp:coreProperties>
</file>