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33502E"/>
                </a:solidFill>
                <a:latin typeface="Noto Sans KR"/>
              </a:defRPr>
            </a:pPr>
            <a:r>
              <a:rPr sz="1700" b="0" i="0" u="none" strike="noStrike">
                <a:solidFill>
                  <a:srgbClr val="33502E"/>
                </a:solidFill>
                <a:latin typeface="Noto Sans KR"/>
              </a:rPr>
              <a:t>3개년 방문객 목표 (만명)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방문객 목표</c:v>
                </c:pt>
              </c:strCache>
            </c:strRef>
          </c:tx>
          <c:spPr>
            <a:solidFill>
              <a:srgbClr val="5A9E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E1E1E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9E4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B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0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2028 · 1년차</c:v>
                  </c:pt>
                  <c:pt idx="1">
                    <c:v>2029 · 2년차</c:v>
                  </c:pt>
                  <c:pt idx="2">
                    <c:v>2030 · 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1E1E1E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E1E1E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DDE6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5C5C"/>
                </a:solidFill>
                <a:latin typeface="Noto Sans KR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8288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00" cy="18288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2435840" y="-2194560"/>
            <a:ext cx="8229600" cy="14630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pic>
        <p:nvPicPr>
          <p:cNvPr id="5" name="Image 0" descr="/tmp/claude-0/-home-user-indo3247/e59b7615-fcbe-5298-a4bc-d30ac0cef441/scratchpad/work/v5g/images/cover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0" y="1965960"/>
            <a:ext cx="4297680" cy="3840480"/>
          </a:xfrm>
          <a:prstGeom prst="rect">
            <a:avLst/>
          </a:prstGeom>
        </p:spPr>
      </p:pic>
      <p:pic>
        <p:nvPicPr>
          <p:cNvPr id="6" name="Image 1" descr="/tmp/claude-0/-home-user-indo3247/e59b7615-fcbe-5298-a4bc-d30ac0cef441/scratchpad/work/v5g/images/cover2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0" y="4846320"/>
            <a:ext cx="3383280" cy="3017520"/>
          </a:xfrm>
          <a:prstGeom prst="rect">
            <a:avLst/>
          </a:prstGeom>
        </p:spPr>
      </p:pic>
      <p:pic>
        <p:nvPicPr>
          <p:cNvPr id="7" name="Image 2" descr="/tmp/claude-0/-home-user-indo3247/e59b7615-fcbe-5298-a4bc-d30ac0cef441/scratchpad/work/v5g/images/cover3_h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394960"/>
            <a:ext cx="3383280" cy="30175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9" name="Text 4"/>
          <p:cNvSpPr/>
          <p:nvPr/>
        </p:nvSpPr>
        <p:spPr>
          <a:xfrm>
            <a:off x="1325880" y="231343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 BELT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40080" y="32461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8600" dirty="0"/>
          </a:p>
        </p:txBody>
      </p:sp>
      <p:sp>
        <p:nvSpPr>
          <p:cNvPr id="11" name="Text 6"/>
          <p:cNvSpPr/>
          <p:nvPr/>
        </p:nvSpPr>
        <p:spPr>
          <a:xfrm>
            <a:off x="685800" y="4800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0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제안서</a:t>
            </a:r>
            <a:endParaRPr lang="en-US" sz="5000" dirty="0"/>
          </a:p>
        </p:txBody>
      </p:sp>
      <p:sp>
        <p:nvSpPr>
          <p:cNvPr id="12" name="Shape 7"/>
          <p:cNvSpPr/>
          <p:nvPr/>
        </p:nvSpPr>
        <p:spPr>
          <a:xfrm>
            <a:off x="713232" y="5943600"/>
            <a:ext cx="2743200" cy="0"/>
          </a:xfrm>
          <a:prstGeom prst="line">
            <a:avLst/>
          </a:prstGeom>
          <a:noFill/>
          <a:ln w="50800">
            <a:solidFill>
              <a:srgbClr val="8CC63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치킨벨트를 완성하는 마지막 한 조각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640080" y="7772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828800" y="77724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0080" y="82296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8800" y="8229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2026. 07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" y="86868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828800" y="86868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2028년 10월 개최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부안인가에서 시작해, 재원과 일정으로 끝맺습니다.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17007840" cy="1042416"/>
          </a:xfrm>
          <a:prstGeom prst="roundRect">
            <a:avLst>
              <a:gd name="adj" fmla="val 8772"/>
            </a:avLst>
          </a:prstGeom>
          <a:solidFill>
            <a:srgbClr val="EEF4E7"/>
          </a:solidFill>
          <a:ln w="22225">
            <a:solidFill>
              <a:srgbClr val="5A9E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58568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3350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585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12848" y="220370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12848" y="2642616"/>
            <a:ext cx="1499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 · 정책 연계 · 전북 치킨벨트 · 시장의 빈칸 · 부안의 자산 · 생활인구 · 지역브랜드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227832"/>
            <a:ext cx="17007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29000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4A6B4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290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12848" y="33741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12848" y="3813048"/>
            <a:ext cx="1499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· 상징의 회복 · K-Chicken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398264"/>
            <a:ext cx="17007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599432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4A6B4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9943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212848" y="45445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12848" y="4983480"/>
            <a:ext cx="1499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 · 사업 개요 · 공간 구성 · 시그니처 · 동물복지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68696"/>
            <a:ext cx="17007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769864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4A6B4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76986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212848" y="57150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212848" y="6153912"/>
            <a:ext cx="1499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 · 단계 목표 · 방역 리스크 대응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6739128"/>
            <a:ext cx="17007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6940296"/>
            <a:ext cx="1051560" cy="640080"/>
          </a:xfrm>
          <a:prstGeom prst="roundRect">
            <a:avLst>
              <a:gd name="adj" fmla="val 14286"/>
            </a:avLst>
          </a:prstGeom>
          <a:solidFill>
            <a:srgbClr val="4A6B40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694029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212848" y="68854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212848" y="7324344"/>
            <a:ext cx="1499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 · 예산 계획 · 추진 체계 · 추진 일정 · 기대효과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3898880" y="-1645920"/>
            <a:ext cx="6400800" cy="7772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0" y="6035040"/>
            <a:ext cx="4572000" cy="5486400"/>
          </a:xfrm>
          <a:prstGeom prst="roundRect">
            <a:avLst>
              <a:gd name="adj" fmla="val 14000"/>
            </a:avLst>
          </a:prstGeom>
          <a:solidFill>
            <a:srgbClr val="E4EF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2834640" cy="2834640"/>
          </a:xfrm>
          <a:prstGeom prst="roundRect">
            <a:avLst>
              <a:gd name="adj" fmla="val 5161"/>
            </a:avLst>
          </a:prstGeom>
          <a:solidFill>
            <a:srgbClr val="3350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7520"/>
            <a:ext cx="658368" cy="65836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800" dirty="0"/>
          </a:p>
        </p:txBody>
      </p:sp>
      <p:sp>
        <p:nvSpPr>
          <p:cNvPr id="9" name="Shape 7"/>
          <p:cNvSpPr/>
          <p:nvPr/>
        </p:nvSpPr>
        <p:spPr>
          <a:xfrm>
            <a:off x="4160520" y="3401568"/>
            <a:ext cx="2926080" cy="0"/>
          </a:xfrm>
          <a:prstGeom prst="line">
            <a:avLst/>
          </a:prstGeom>
          <a:noFill/>
          <a:ln w="38100">
            <a:solidFill>
              <a:srgbClr val="5A9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66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왜 부안인가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BUAN, WHY 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 · 정책 연계 · 전북 치킨벨트 · 시장의 빈칸 · 부안의 자산 · 생활인구 · 지역브랜드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 제안 요약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익산에 「치킨로드」가 있습니다. 부안에는 「치킨 페스티벌」이 필요합니다.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5431536" cy="786384"/>
          </a:xfrm>
          <a:prstGeom prst="roundRect">
            <a:avLst>
              <a:gd name="adj" fmla="val 13953"/>
            </a:avLst>
          </a:prstGeom>
          <a:solidFill>
            <a:srgbClr val="4A6B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2606040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931920" y="278892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5A9E43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788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38728"/>
            <a:ext cx="5431536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13048"/>
            <a:ext cx="5431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견학뿐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1097280" y="4965192"/>
            <a:ext cx="451713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5303520"/>
            <a:ext cx="137160" cy="137160"/>
          </a:xfrm>
          <a:prstGeom prst="rect">
            <a:avLst/>
          </a:prstGeom>
          <a:solidFill>
            <a:srgbClr val="5C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184648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전북의 닭 산업 관광은 평일 · 개인 중심의 상설 견학에 머물러 있습니다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42416" y="6089904"/>
            <a:ext cx="137160" cy="137160"/>
          </a:xfrm>
          <a:prstGeom prst="rect">
            <a:avLst/>
          </a:prstGeom>
          <a:solidFill>
            <a:srgbClr val="5C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971032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· 가족 단위 유입 장치가 없습니다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2416" y="6876288"/>
            <a:ext cx="137160" cy="137160"/>
          </a:xfrm>
          <a:prstGeom prst="rect">
            <a:avLst/>
          </a:prstGeom>
          <a:solidFill>
            <a:srgbClr val="5C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6757416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= 닭이라는 연상이 형성되지 않았습니다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55664" y="2606040"/>
            <a:ext cx="5431536" cy="786384"/>
          </a:xfrm>
          <a:prstGeom prst="roundRect">
            <a:avLst>
              <a:gd name="adj" fmla="val 13953"/>
            </a:avLst>
          </a:prstGeom>
          <a:solidFill>
            <a:srgbClr val="4A6B4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606040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해법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47504" y="278892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5A9E43"/>
          </a:solidFill>
          <a:ln/>
        </p:spPr>
      </p:sp>
      <p:sp>
        <p:nvSpPr>
          <p:cNvPr id="27" name="Text 25"/>
          <p:cNvSpPr/>
          <p:nvPr/>
        </p:nvSpPr>
        <p:spPr>
          <a:xfrm>
            <a:off x="9747504" y="2788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55664" y="3538728"/>
            <a:ext cx="5431536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55664" y="3813048"/>
            <a:ext cx="5431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</a:t>
            </a:r>
            <a:endParaRPr lang="en-US" sz="5200" dirty="0"/>
          </a:p>
        </p:txBody>
      </p:sp>
      <p:sp>
        <p:nvSpPr>
          <p:cNvPr id="30" name="Shape 28"/>
          <p:cNvSpPr/>
          <p:nvPr/>
        </p:nvSpPr>
        <p:spPr>
          <a:xfrm>
            <a:off x="6912864" y="4965192"/>
            <a:ext cx="451713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530352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2" name="Text 30"/>
          <p:cNvSpPr/>
          <p:nvPr/>
        </p:nvSpPr>
        <p:spPr>
          <a:xfrm>
            <a:off x="7187184" y="5184648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익산은 산업관광, 부안은 미식축제로 역할 분담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858000" y="6089904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4" name="Text 32"/>
          <p:cNvSpPr/>
          <p:nvPr/>
        </p:nvSpPr>
        <p:spPr>
          <a:xfrm>
            <a:off x="7187184" y="5971032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견학관과 변산 관광을 결합합니다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858000" y="687628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6" name="Text 34"/>
          <p:cNvSpPr/>
          <p:nvPr/>
        </p:nvSpPr>
        <p:spPr>
          <a:xfrm>
            <a:off x="7187184" y="6757416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마실축제(봄)와 계절을 분담합니다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2271248" y="2606040"/>
            <a:ext cx="5431536" cy="786384"/>
          </a:xfrm>
          <a:prstGeom prst="roundRect">
            <a:avLst>
              <a:gd name="adj" fmla="val 13953"/>
            </a:avLst>
          </a:prstGeom>
          <a:solidFill>
            <a:srgbClr val="33502E"/>
          </a:solidFill>
          <a:ln/>
        </p:spPr>
      </p:sp>
      <p:sp>
        <p:nvSpPr>
          <p:cNvPr id="38" name="Text 36"/>
          <p:cNvSpPr/>
          <p:nvPr/>
        </p:nvSpPr>
        <p:spPr>
          <a:xfrm>
            <a:off x="12673584" y="2606040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5563088" y="278892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8CC63F"/>
          </a:solidFill>
          <a:ln/>
        </p:spPr>
      </p:sp>
      <p:sp>
        <p:nvSpPr>
          <p:cNvPr id="40" name="Text 38"/>
          <p:cNvSpPr/>
          <p:nvPr/>
        </p:nvSpPr>
        <p:spPr>
          <a:xfrm>
            <a:off x="15563088" y="2788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2271248" y="3538728"/>
            <a:ext cx="5431536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2271248" y="3813048"/>
            <a:ext cx="5431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5200" dirty="0"/>
          </a:p>
        </p:txBody>
      </p:sp>
      <p:sp>
        <p:nvSpPr>
          <p:cNvPr id="43" name="Shape 41"/>
          <p:cNvSpPr/>
          <p:nvPr/>
        </p:nvSpPr>
        <p:spPr>
          <a:xfrm>
            <a:off x="12728448" y="4965192"/>
            <a:ext cx="451713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673584" y="5303520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5" name="Text 43"/>
          <p:cNvSpPr/>
          <p:nvPr/>
        </p:nvSpPr>
        <p:spPr>
          <a:xfrm>
            <a:off x="13002768" y="5184648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개최까지 준비기간 24개월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12673584" y="6089904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7" name="Text 45"/>
          <p:cNvSpPr/>
          <p:nvPr/>
        </p:nvSpPr>
        <p:spPr>
          <a:xfrm>
            <a:off x="13002768" y="5971032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지방소멸대응기금 투자계획 반영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2673584" y="6876288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9" name="Text 47"/>
          <p:cNvSpPr/>
          <p:nvPr/>
        </p:nvSpPr>
        <p:spPr>
          <a:xfrm>
            <a:off x="13002768" y="6757416"/>
            <a:ext cx="4608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매칭과 K-치킨벨트 거점 등재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2" name="Text 50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전북은 이미 절반을 가졌습니다. 나머지 절반이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있습니다.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하림 · 참프레 · 부안군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  정책 연계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 「K-푸드 세계화의 전진기지, 농생명수도 전북」의 이행입니다.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2148840" cy="2148840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" y="2532888"/>
            <a:ext cx="1746504" cy="1746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2532888"/>
            <a:ext cx="174650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먹거리를 지키는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국가전략산업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1540" y="431596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8CC63F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국정과제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91256" y="3383280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13176" y="3386328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35096" y="3389376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016" y="3305556"/>
            <a:ext cx="237744" cy="20116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0" name="Shape 18"/>
          <p:cNvSpPr/>
          <p:nvPr/>
        </p:nvSpPr>
        <p:spPr>
          <a:xfrm>
            <a:off x="3886200" y="2331720"/>
            <a:ext cx="2148840" cy="2148840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1" name="Shape 19"/>
          <p:cNvSpPr/>
          <p:nvPr/>
        </p:nvSpPr>
        <p:spPr>
          <a:xfrm>
            <a:off x="4087368" y="2532888"/>
            <a:ext cx="1746504" cy="1746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087368" y="2532888"/>
            <a:ext cx="174650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모두가 잘사는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균형성장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0" y="43159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5A9E43"/>
          </a:solidFill>
          <a:ln/>
        </p:spPr>
      </p:sp>
      <p:sp>
        <p:nvSpPr>
          <p:cNvPr id="24" name="Text 22"/>
          <p:cNvSpPr/>
          <p:nvPr/>
        </p:nvSpPr>
        <p:spPr>
          <a:xfrm>
            <a:off x="4000500" y="4315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국정목표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63056" y="3383280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284976" y="3386328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6896" y="3389376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8" name="Shape 26"/>
          <p:cNvSpPr/>
          <p:nvPr/>
        </p:nvSpPr>
        <p:spPr>
          <a:xfrm>
            <a:off x="6528816" y="3305556"/>
            <a:ext cx="237744" cy="20116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2331720"/>
            <a:ext cx="2148840" cy="2148840"/>
          </a:xfrm>
          <a:prstGeom prst="ellipse">
            <a:avLst/>
          </a:prstGeom>
          <a:solidFill>
            <a:srgbClr val="3350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059168" y="2532888"/>
            <a:ext cx="1746504" cy="1746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59168" y="2532888"/>
            <a:ext cx="174650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전북을 농생명산업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수도로 육성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26580" y="4315968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33502E"/>
          </a:solidFill>
          <a:ln/>
        </p:spPr>
      </p:sp>
      <p:sp>
        <p:nvSpPr>
          <p:cNvPr id="33" name="Text 31"/>
          <p:cNvSpPr/>
          <p:nvPr/>
        </p:nvSpPr>
        <p:spPr>
          <a:xfrm>
            <a:off x="6926580" y="4315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지역공약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81160" y="228600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약속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81160" y="2743200"/>
            <a:ext cx="8366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45752" y="2907792"/>
            <a:ext cx="621792" cy="420624"/>
          </a:xfrm>
          <a:prstGeom prst="roundRect">
            <a:avLst>
              <a:gd name="adj" fmla="val 15217"/>
            </a:avLst>
          </a:prstGeom>
          <a:solidFill>
            <a:srgbClr val="4A6B40"/>
          </a:solidFill>
          <a:ln/>
        </p:spPr>
      </p:sp>
      <p:sp>
        <p:nvSpPr>
          <p:cNvPr id="37" name="Text 35"/>
          <p:cNvSpPr/>
          <p:nvPr/>
        </p:nvSpPr>
        <p:spPr>
          <a:xfrm>
            <a:off x="9445752" y="2907792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13848" y="283464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213848" y="3163824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K-푸드 수출·혁신 중심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281160" y="3602736"/>
            <a:ext cx="8366760" cy="749808"/>
          </a:xfrm>
          <a:prstGeom prst="roundRect">
            <a:avLst>
              <a:gd name="adj" fmla="val 12195"/>
            </a:avLst>
          </a:prstGeom>
          <a:solidFill>
            <a:srgbClr val="EEF4E7"/>
          </a:solidFill>
          <a:ln w="22225">
            <a:solidFill>
              <a:srgbClr val="5A9E4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45752" y="3767328"/>
            <a:ext cx="621792" cy="420624"/>
          </a:xfrm>
          <a:prstGeom prst="roundRect">
            <a:avLst>
              <a:gd name="adj" fmla="val 15217"/>
            </a:avLst>
          </a:prstGeom>
          <a:solidFill>
            <a:srgbClr val="33502E"/>
          </a:solidFill>
          <a:ln/>
        </p:spPr>
      </p:sp>
      <p:sp>
        <p:nvSpPr>
          <p:cNvPr id="42" name="Text 40"/>
          <p:cNvSpPr/>
          <p:nvPr/>
        </p:nvSpPr>
        <p:spPr>
          <a:xfrm>
            <a:off x="9445752" y="376732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213848" y="3694176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음식·문화자원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213848" y="402336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수출·관광상품 전환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281160" y="4462272"/>
            <a:ext cx="8366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5752" y="4626864"/>
            <a:ext cx="621792" cy="420624"/>
          </a:xfrm>
          <a:prstGeom prst="roundRect">
            <a:avLst>
              <a:gd name="adj" fmla="val 15217"/>
            </a:avLst>
          </a:prstGeom>
          <a:solidFill>
            <a:srgbClr val="4A6B40"/>
          </a:solidFill>
          <a:ln/>
        </p:spPr>
      </p:sp>
      <p:sp>
        <p:nvSpPr>
          <p:cNvPr id="47" name="Text 45"/>
          <p:cNvSpPr/>
          <p:nvPr/>
        </p:nvSpPr>
        <p:spPr>
          <a:xfrm>
            <a:off x="9445752" y="462686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213848" y="455371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스마트농업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0213848" y="488289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재생에너지 모델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281160" y="5321808"/>
            <a:ext cx="8366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45752" y="5486400"/>
            <a:ext cx="621792" cy="420624"/>
          </a:xfrm>
          <a:prstGeom prst="roundRect">
            <a:avLst>
              <a:gd name="adj" fmla="val 15217"/>
            </a:avLst>
          </a:prstGeom>
          <a:solidFill>
            <a:srgbClr val="4A6B40"/>
          </a:solidFill>
          <a:ln/>
        </p:spPr>
      </p:sp>
      <p:sp>
        <p:nvSpPr>
          <p:cNvPr id="52" name="Text 50"/>
          <p:cNvSpPr/>
          <p:nvPr/>
        </p:nvSpPr>
        <p:spPr>
          <a:xfrm>
            <a:off x="9445752" y="548640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0213848" y="5413248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농생명 전후방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0213848" y="5742432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종자·농기계 혁신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" y="6355080"/>
            <a:ext cx="17007840" cy="1572768"/>
          </a:xfrm>
          <a:prstGeom prst="roundRect">
            <a:avLst>
              <a:gd name="adj" fmla="val 6977"/>
            </a:avLst>
          </a:prstGeom>
          <a:solidFill>
            <a:srgbClr val="33502E"/>
          </a:solidFill>
          <a:ln/>
        </p:spPr>
      </p:sp>
      <p:sp>
        <p:nvSpPr>
          <p:cNvPr id="56" name="Shape 54"/>
          <p:cNvSpPr/>
          <p:nvPr/>
        </p:nvSpPr>
        <p:spPr>
          <a:xfrm>
            <a:off x="640080" y="6537960"/>
            <a:ext cx="128016" cy="120700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7" name="Text 55"/>
          <p:cNvSpPr/>
          <p:nvPr/>
        </p:nvSpPr>
        <p:spPr>
          <a:xfrm>
            <a:off x="1143000" y="65288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FE3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「4.2 지역의 맛을 수출 · 관광 브랜드로」 핵심 내용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143000" y="6949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음식과 관광자원을 결합한 K-미식벨트 조성"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9692640" y="6949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"치킨로드 등 지역 음식관광 상품과 시너지 창출"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61" name="Shape 59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62" name="Text 60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닭축제는 새로운 요청이 아니라, 이미 발표된 정책의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「K-푸드 세계화의 전진기지, 농생명수도 전북」 정책 발표자료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1.3  전북 치킨벨트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닭고기 계열화 대기업 두 곳을 동시에 보유한 시·도는 전국에서 전북이 유일합니다.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4A6B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2468880"/>
            <a:ext cx="7424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· 하림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6272784" y="2670048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5A9E43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산업관광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82296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42416" y="3803904"/>
            <a:ext cx="1645920" cy="493776"/>
          </a:xfrm>
          <a:prstGeom prst="roundRect">
            <a:avLst>
              <a:gd name="adj" fmla="val 12963"/>
            </a:avLst>
          </a:prstGeom>
          <a:solidFill>
            <a:srgbClr val="3350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38039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규모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43891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2,600억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060704" y="5212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도계장 리모델링 (2017~2019)</a:t>
            </a:r>
            <a:endParaRPr lang="en-US" sz="1300" dirty="0"/>
          </a:p>
        </p:txBody>
      </p:sp>
      <p:pic>
        <p:nvPicPr>
          <p:cNvPr id="20" name="Image 0" descr="/tmp/claude-0/-home-user-indo3247/e59b7615-fcbe-5298-a4bc-d30ac0cef441/scratchpad/work/v5g/images/buan_farm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776472"/>
            <a:ext cx="2194560" cy="18288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042416" y="5742432"/>
            <a:ext cx="7424928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8992" y="6044184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23" name="Text 20"/>
          <p:cNvSpPr/>
          <p:nvPr/>
        </p:nvSpPr>
        <p:spPr>
          <a:xfrm>
            <a:off x="1408176" y="5925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 치킨로드 — 견학로 · 투어창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78992" y="6446520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25" name="Text 22"/>
          <p:cNvSpPr/>
          <p:nvPr/>
        </p:nvSpPr>
        <p:spPr>
          <a:xfrm>
            <a:off x="1408176" y="63276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시식키친 · 미디어 체험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078992" y="6848856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27" name="Text 24"/>
          <p:cNvSpPr/>
          <p:nvPr/>
        </p:nvSpPr>
        <p:spPr>
          <a:xfrm>
            <a:off x="1408176" y="672998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하림 푸드로드 등으로 확장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418320" y="24688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33502E"/>
          </a:solidFill>
          <a:ln/>
        </p:spPr>
      </p:sp>
      <p:sp>
        <p:nvSpPr>
          <p:cNvPr id="29" name="Text 26"/>
          <p:cNvSpPr/>
          <p:nvPr/>
        </p:nvSpPr>
        <p:spPr>
          <a:xfrm>
            <a:off x="9820656" y="2468880"/>
            <a:ext cx="7424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· 참프레</a:t>
            </a:r>
            <a:endParaRPr lang="en-US" sz="2500" dirty="0"/>
          </a:p>
        </p:txBody>
      </p:sp>
      <p:sp>
        <p:nvSpPr>
          <p:cNvPr id="30" name="Shape 27"/>
          <p:cNvSpPr/>
          <p:nvPr/>
        </p:nvSpPr>
        <p:spPr>
          <a:xfrm>
            <a:off x="15051024" y="2670048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8CC63F"/>
          </a:solidFill>
          <a:ln/>
        </p:spPr>
      </p:sp>
      <p:sp>
        <p:nvSpPr>
          <p:cNvPr id="31" name="Text 28"/>
          <p:cNvSpPr/>
          <p:nvPr/>
        </p:nvSpPr>
        <p:spPr>
          <a:xfrm>
            <a:off x="15051024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연례 미식축제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418320" y="3456432"/>
            <a:ext cx="82296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820656" y="3803904"/>
            <a:ext cx="1645920" cy="493776"/>
          </a:xfrm>
          <a:prstGeom prst="roundRect">
            <a:avLst>
              <a:gd name="adj" fmla="val 12963"/>
            </a:avLst>
          </a:prstGeom>
          <a:solidFill>
            <a:srgbClr val="33502E"/>
          </a:solidFill>
          <a:ln/>
        </p:spPr>
      </p:sp>
      <p:sp>
        <p:nvSpPr>
          <p:cNvPr id="34" name="Text 31"/>
          <p:cNvSpPr/>
          <p:nvPr/>
        </p:nvSpPr>
        <p:spPr>
          <a:xfrm>
            <a:off x="9820656" y="38039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규모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820656" y="43891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36" name="Text 33"/>
          <p:cNvSpPr/>
          <p:nvPr/>
        </p:nvSpPr>
        <p:spPr>
          <a:xfrm>
            <a:off x="9838944" y="5212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가공공장 완공 (2013)</a:t>
            </a:r>
            <a:endParaRPr lang="en-US" sz="1300" dirty="0"/>
          </a:p>
        </p:txBody>
      </p:sp>
      <p:pic>
        <p:nvPicPr>
          <p:cNvPr id="37" name="Image 1" descr="/tmp/claude-0/-home-user-indo3247/e59b7615-fcbe-5298-a4bc-d30ac0cef441/scratchpad/work/v5g/images/charmfre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0" y="3776472"/>
            <a:ext cx="2194560" cy="182880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9820656" y="5742432"/>
            <a:ext cx="7424928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857232" y="6044184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0" name="Text 36"/>
          <p:cNvSpPr/>
          <p:nvPr/>
        </p:nvSpPr>
        <p:spPr>
          <a:xfrm>
            <a:off x="10186416" y="5925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 (2015)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9857232" y="644652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2" name="Text 38"/>
          <p:cNvSpPr/>
          <p:nvPr/>
        </p:nvSpPr>
        <p:spPr>
          <a:xfrm>
            <a:off x="10186416" y="63276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9857232" y="6848856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4" name="Text 40"/>
          <p:cNvSpPr/>
          <p:nvPr/>
        </p:nvSpPr>
        <p:spPr>
          <a:xfrm>
            <a:off x="10186416" y="672998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견학관 상시 운영 · 전북 공식 관광콘텐츠</a:t>
            </a:r>
            <a:endParaRPr lang="en-US" sz="1700" dirty="0"/>
          </a:p>
        </p:txBody>
      </p:sp>
      <p:sp>
        <p:nvSpPr>
          <p:cNvPr id="45" name="Text 41"/>
          <p:cNvSpPr/>
          <p:nvPr/>
        </p:nvSpPr>
        <p:spPr>
          <a:xfrm>
            <a:off x="640080" y="7178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 순환 코스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640080" y="7589520"/>
            <a:ext cx="307238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40080" y="75895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치킨로드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3749040" y="7754112"/>
            <a:ext cx="219456" cy="182880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49" name="Shape 45"/>
          <p:cNvSpPr/>
          <p:nvPr/>
        </p:nvSpPr>
        <p:spPr>
          <a:xfrm>
            <a:off x="4023360" y="7589520"/>
            <a:ext cx="307238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023360" y="75895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국가식품클러스터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7132320" y="7754112"/>
            <a:ext cx="219456" cy="182880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52" name="Shape 48"/>
          <p:cNvSpPr/>
          <p:nvPr/>
        </p:nvSpPr>
        <p:spPr>
          <a:xfrm>
            <a:off x="7406640" y="7589520"/>
            <a:ext cx="3072384" cy="512064"/>
          </a:xfrm>
          <a:prstGeom prst="roundRect">
            <a:avLst>
              <a:gd name="adj" fmla="val 16071"/>
            </a:avLst>
          </a:prstGeom>
          <a:solidFill>
            <a:srgbClr val="5A9E43"/>
          </a:solidFill>
          <a:ln/>
        </p:spPr>
      </p:sp>
      <p:sp>
        <p:nvSpPr>
          <p:cNvPr id="53" name="Text 49"/>
          <p:cNvSpPr/>
          <p:nvPr/>
        </p:nvSpPr>
        <p:spPr>
          <a:xfrm>
            <a:off x="7406640" y="75895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참프레 견학관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10515600" y="7754112"/>
            <a:ext cx="219456" cy="182880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55" name="Shape 51"/>
          <p:cNvSpPr/>
          <p:nvPr/>
        </p:nvSpPr>
        <p:spPr>
          <a:xfrm>
            <a:off x="10789920" y="7589520"/>
            <a:ext cx="3072384" cy="512064"/>
          </a:xfrm>
          <a:prstGeom prst="roundRect">
            <a:avLst>
              <a:gd name="adj" fmla="val 16071"/>
            </a:avLst>
          </a:prstGeom>
          <a:solidFill>
            <a:srgbClr val="5A9E43"/>
          </a:solidFill>
          <a:ln/>
        </p:spPr>
      </p:sp>
      <p:sp>
        <p:nvSpPr>
          <p:cNvPr id="56" name="Text 52"/>
          <p:cNvSpPr/>
          <p:nvPr/>
        </p:nvSpPr>
        <p:spPr>
          <a:xfrm>
            <a:off x="10789920" y="75895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13898880" y="7754112"/>
            <a:ext cx="219456" cy="182880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58" name="Shape 54"/>
          <p:cNvSpPr/>
          <p:nvPr/>
        </p:nvSpPr>
        <p:spPr>
          <a:xfrm>
            <a:off x="14173200" y="7589520"/>
            <a:ext cx="3072384" cy="512064"/>
          </a:xfrm>
          <a:prstGeom prst="roundRect">
            <a:avLst>
              <a:gd name="adj" fmla="val 16071"/>
            </a:avLst>
          </a:prstGeom>
          <a:solidFill>
            <a:srgbClr val="5A9E43"/>
          </a:solidFill>
          <a:ln/>
        </p:spPr>
      </p:sp>
      <p:sp>
        <p:nvSpPr>
          <p:cNvPr id="59" name="Text 55"/>
          <p:cNvSpPr/>
          <p:nvPr/>
        </p:nvSpPr>
        <p:spPr>
          <a:xfrm>
            <a:off x="14173200" y="758952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· 새만금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하림 보도자료 · 참프레 · 농림축산식품부 K-치킨벨트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1.4  시장의 빈칸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전국의 닭 관광은 「맛집」과 「견학」 둘뿐. 산업 기반 위의 가족형 축제는 없습니다.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26609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평일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13448" y="26609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주말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1499616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  비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(맛집)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436108"/>
            <a:ext cx="1499616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  산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(산업)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0" y="3154680"/>
            <a:ext cx="4617720" cy="21717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538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닭요리 맛집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408736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닭갈비 · 안동 찜닭 · 속초 닭강정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거점이나 생산 기반이 없습니다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13448" y="3154680"/>
            <a:ext cx="4617720" cy="21717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7768" y="3538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소비 축제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87768" y="408736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 115만명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규모는 크지만 생산 서사가 없습니다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286000" y="5436108"/>
            <a:ext cx="4617720" cy="21717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582015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60320" y="6368796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하림 · 부안 참프레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가족 유입에 한계가 있습니다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013448" y="5436108"/>
            <a:ext cx="4617720" cy="2171700"/>
          </a:xfrm>
          <a:prstGeom prst="roundRect">
            <a:avLst>
              <a:gd name="adj" fmla="val 4211"/>
            </a:avLst>
          </a:prstGeom>
          <a:solidFill>
            <a:srgbClr val="3350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013448" y="5436108"/>
            <a:ext cx="4617720" cy="2171700"/>
          </a:xfrm>
          <a:prstGeom prst="roundRect">
            <a:avLst>
              <a:gd name="adj" fmla="val 4211"/>
            </a:avLst>
          </a:prstGeom>
          <a:ln w="31750">
            <a:solidFill>
              <a:srgbClr val="8CC6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582015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비어 있는 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87768" y="6368796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위에 세워진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가족형 미식 축제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2015216" y="2514600"/>
            <a:ext cx="5632704" cy="5074920"/>
          </a:xfrm>
          <a:prstGeom prst="roundRect">
            <a:avLst>
              <a:gd name="adj" fmla="val 2162"/>
            </a:avLst>
          </a:prstGeom>
          <a:solidFill>
            <a:srgbClr val="3350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399264" y="2825496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칸이 비어 있나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2417552" y="3547872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1" name="Text 29"/>
          <p:cNvSpPr/>
          <p:nvPr/>
        </p:nvSpPr>
        <p:spPr>
          <a:xfrm>
            <a:off x="12746736" y="342900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맛집 거점은 산업 기반이 없다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2417552" y="4151376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3" name="Text 31"/>
          <p:cNvSpPr/>
          <p:nvPr/>
        </p:nvSpPr>
        <p:spPr>
          <a:xfrm>
            <a:off x="12746736" y="4032504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견학은 주말·가족 유입 한계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2417552" y="4754880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5" name="Text 33"/>
          <p:cNvSpPr/>
          <p:nvPr/>
        </p:nvSpPr>
        <p:spPr>
          <a:xfrm>
            <a:off x="12746736" y="4636008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축제는 생산 서사가 없다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12399264" y="5440680"/>
            <a:ext cx="4864608" cy="0"/>
          </a:xfrm>
          <a:prstGeom prst="line">
            <a:avLst/>
          </a:prstGeom>
          <a:noFill/>
          <a:ln w="15875">
            <a:solidFill>
              <a:srgbClr val="4A6B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99264" y="56052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부안만 세 조건을 모두 충족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2399264" y="6080760"/>
            <a:ext cx="4864608" cy="384048"/>
          </a:xfrm>
          <a:prstGeom prst="roundRect">
            <a:avLst>
              <a:gd name="adj" fmla="val 14286"/>
            </a:avLst>
          </a:prstGeom>
          <a:solidFill>
            <a:srgbClr val="5A9E43"/>
          </a:solidFill>
          <a:ln/>
        </p:spPr>
      </p:sp>
      <p:sp>
        <p:nvSpPr>
          <p:cNvPr id="39" name="Text 37"/>
          <p:cNvSpPr/>
          <p:nvPr/>
        </p:nvSpPr>
        <p:spPr>
          <a:xfrm>
            <a:off x="12582144" y="608076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생산·가공 기반 (참프레)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2399264" y="6537960"/>
            <a:ext cx="4864608" cy="384048"/>
          </a:xfrm>
          <a:prstGeom prst="roundRect">
            <a:avLst>
              <a:gd name="adj" fmla="val 14286"/>
            </a:avLst>
          </a:prstGeom>
          <a:solidFill>
            <a:srgbClr val="5A9E43"/>
          </a:solidFill>
          <a:ln/>
        </p:spPr>
      </p:sp>
      <p:sp>
        <p:nvSpPr>
          <p:cNvPr id="41" name="Text 39"/>
          <p:cNvSpPr/>
          <p:nvPr/>
        </p:nvSpPr>
        <p:spPr>
          <a:xfrm>
            <a:off x="12582144" y="653796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 자원 (변산·새만금)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2399264" y="6995160"/>
            <a:ext cx="4864608" cy="384048"/>
          </a:xfrm>
          <a:prstGeom prst="roundRect">
            <a:avLst>
              <a:gd name="adj" fmla="val 14286"/>
            </a:avLst>
          </a:prstGeom>
          <a:solidFill>
            <a:srgbClr val="5A9E43"/>
          </a:solidFill>
          <a:ln/>
        </p:spPr>
      </p:sp>
      <p:sp>
        <p:nvSpPr>
          <p:cNvPr id="43" name="Text 41"/>
          <p:cNvSpPr/>
          <p:nvPr/>
        </p:nvSpPr>
        <p:spPr>
          <a:xfrm>
            <a:off x="12582144" y="699516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역량 (마실축제)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6" name="Text 44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전국에서 이 칸을 채울 수 있는 곳은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뿐입니다.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  부안의 자산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축제를 위해 새 건물을 짓지 않습니다. 이미 문을 연 시설을 연결합니다.</a:t>
            </a:r>
            <a:endParaRPr lang="en-US" sz="1500" dirty="0"/>
          </a:p>
        </p:txBody>
      </p:sp>
      <p:pic>
        <p:nvPicPr>
          <p:cNvPr id="11" name="Image 0" descr="/tmp/claude-0/-home-user-indo3247/e59b7615-fcbe-5298-a4bc-d30ac0cef441/scratchpad/work/v5g/images/charmf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14600"/>
            <a:ext cx="7680960" cy="3383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6035040"/>
            <a:ext cx="7680960" cy="1463040"/>
          </a:xfrm>
          <a:prstGeom prst="roundRect">
            <a:avLst>
              <a:gd name="adj" fmla="val 7500"/>
            </a:avLst>
          </a:prstGeom>
          <a:solidFill>
            <a:srgbClr val="3350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6035040"/>
            <a:ext cx="6876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42416" y="61996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견학관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2416" y="66934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발골쇼 · 참프레 파크 · 시식 프로그램 상시 운영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23376" y="2514600"/>
            <a:ext cx="8924544" cy="1115568"/>
          </a:xfrm>
          <a:prstGeom prst="roundRect">
            <a:avLst>
              <a:gd name="adj" fmla="val 819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23376" y="2697480"/>
            <a:ext cx="128016" cy="7498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8" name="Text 15"/>
          <p:cNvSpPr/>
          <p:nvPr/>
        </p:nvSpPr>
        <p:spPr>
          <a:xfrm>
            <a:off x="9125712" y="251460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2,310억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13021056" y="2514600"/>
            <a:ext cx="42611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공장 투자액 · 2013년 완공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723376" y="3813048"/>
            <a:ext cx="8924544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23376" y="3995928"/>
            <a:ext cx="128016" cy="7498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2" name="Text 19"/>
          <p:cNvSpPr/>
          <p:nvPr/>
        </p:nvSpPr>
        <p:spPr>
          <a:xfrm>
            <a:off x="9125712" y="3813048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787명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13021056" y="3813048"/>
            <a:ext cx="42611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 규모 · 2019년 기준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723376" y="5111496"/>
            <a:ext cx="8924544" cy="1115568"/>
          </a:xfrm>
          <a:prstGeom prst="roundRect">
            <a:avLst>
              <a:gd name="adj" fmla="val 819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23376" y="5294376"/>
            <a:ext cx="128016" cy="7498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6" name="Text 23"/>
          <p:cNvSpPr/>
          <p:nvPr/>
        </p:nvSpPr>
        <p:spPr>
          <a:xfrm>
            <a:off x="9125712" y="5111496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13021056" y="5111496"/>
            <a:ext cx="42611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 동물복지 육용계 인증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723376" y="6409944"/>
            <a:ext cx="8924544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23376" y="6592824"/>
            <a:ext cx="128016" cy="7498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0" name="Text 27"/>
          <p:cNvSpPr/>
          <p:nvPr/>
        </p:nvSpPr>
        <p:spPr>
          <a:xfrm>
            <a:off x="9125712" y="6409944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최초</a:t>
            </a:r>
            <a:endParaRPr lang="en-US" sz="3800" dirty="0"/>
          </a:p>
        </p:txBody>
      </p:sp>
      <p:sp>
        <p:nvSpPr>
          <p:cNvPr id="31" name="Text 28"/>
          <p:cNvSpPr/>
          <p:nvPr/>
        </p:nvSpPr>
        <p:spPr>
          <a:xfrm>
            <a:off x="13021056" y="6409944"/>
            <a:ext cx="42611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도축장 지정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33" name="Shape 30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4" name="Text 31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것은 건물이 아니라, 그 건물에 사람을 부를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디지털부안문화대전 · 참프레 공식 · 투어전북 · 전북특별자치도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  생활인구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부안에는 이미 사람이 옵니다. 다만 그 방문에 아직 이름이 없습니다.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96926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6251934"/>
            <a:ext cx="1920240" cy="377466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3703320"/>
            <a:ext cx="1920240" cy="292608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566671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46,946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363,921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280160" y="6629400"/>
            <a:ext cx="8412480" cy="0"/>
          </a:xfrm>
          <a:prstGeom prst="line">
            <a:avLst/>
          </a:prstGeom>
          <a:noFill/>
          <a:ln w="19050">
            <a:solidFill>
              <a:srgbClr val="CBDD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675741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등록인구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675741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 4Q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08576" y="4709160"/>
            <a:ext cx="1773936" cy="822960"/>
          </a:xfrm>
          <a:prstGeom prst="roundRect">
            <a:avLst>
              <a:gd name="adj" fmla="val 13333"/>
            </a:avLst>
          </a:prstGeom>
          <a:solidFill>
            <a:srgbClr val="8CC63F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470916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7.7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735056" y="2606040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부안의 인구 위상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735056" y="3072384"/>
            <a:ext cx="691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인구감소지역 10곳 기준 · 2025년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35056" y="3566160"/>
            <a:ext cx="691286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35056" y="3730752"/>
            <a:ext cx="146304" cy="987552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25" name="Text 23"/>
          <p:cNvSpPr/>
          <p:nvPr/>
        </p:nvSpPr>
        <p:spPr>
          <a:xfrm>
            <a:off x="11137392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819120" y="3749040"/>
            <a:ext cx="1463040" cy="420624"/>
          </a:xfrm>
          <a:prstGeom prst="roundRect">
            <a:avLst>
              <a:gd name="adj" fmla="val 15217"/>
            </a:avLst>
          </a:prstGeom>
          <a:solidFill>
            <a:srgbClr val="33502E"/>
          </a:solidFill>
          <a:ln/>
        </p:spPr>
      </p:sp>
      <p:sp>
        <p:nvSpPr>
          <p:cNvPr id="27" name="Text 25"/>
          <p:cNvSpPr/>
          <p:nvPr/>
        </p:nvSpPr>
        <p:spPr>
          <a:xfrm>
            <a:off x="15819120" y="3749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도내 1위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37392" y="41330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292,141명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1137392" y="4608576"/>
            <a:ext cx="6181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연평균 · 방문 · 통근 인구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35056" y="5084064"/>
            <a:ext cx="691286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35056" y="5248656"/>
            <a:ext cx="146304" cy="987552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2" name="Text 30"/>
          <p:cNvSpPr/>
          <p:nvPr/>
        </p:nvSpPr>
        <p:spPr>
          <a:xfrm>
            <a:off x="11137392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생활인구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819120" y="5266944"/>
            <a:ext cx="1463040" cy="420624"/>
          </a:xfrm>
          <a:prstGeom prst="roundRect">
            <a:avLst>
              <a:gd name="adj" fmla="val 15217"/>
            </a:avLst>
          </a:prstGeom>
          <a:solidFill>
            <a:srgbClr val="5A9E43"/>
          </a:solidFill>
          <a:ln/>
        </p:spPr>
      </p:sp>
      <p:sp>
        <p:nvSpPr>
          <p:cNvPr id="34" name="Text 32"/>
          <p:cNvSpPr/>
          <p:nvPr/>
        </p:nvSpPr>
        <p:spPr>
          <a:xfrm>
            <a:off x="15819120" y="52669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도내 2위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137392" y="565099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2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341,104명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1137392" y="6126480"/>
            <a:ext cx="6181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연평균 · 등록 + 체류 인구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735056" y="6720840"/>
            <a:ext cx="6912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체류·생활인구는 산정 기준이 달라 수치가 다릅니다. 어느 지표로도 부안은 전북 최상위권입니다.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2026년부터 시설이 아니라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인구유입 효과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기금을 평가합니다.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행정안전부 · 국가데이터처 생활인구 산정결과(2025) · 전북일보(2026.6.3)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1.7  지역브랜드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지역의 이름과 하나의 상품이 결합할 때 브랜드가 됩니다. 영광 하면 굴비, 부안 하면 닭입니다.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4059936" cy="507492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12" name="Image 0" descr="/tmp/claude-0/-home-user-indo3247/e59b7615-fcbe-5298-a4bc-d30ac0cef441/scratchpad/work/v5g/images/gulbi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788920"/>
            <a:ext cx="2468880" cy="2103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5029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영광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194560" y="5029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CBDD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651760" y="5029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굴비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14400" y="5760720"/>
            <a:ext cx="351129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94360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법성포 굴비. 지역명이 곧 품질 보증이 되어 프리미엄 수산물 브랜드로 자리잡았습니다.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956048" y="2514600"/>
            <a:ext cx="4059936" cy="507492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19" name="Image 1" descr="/tmp/claude-0/-home-user-indo3247/e59b7615-fcbe-5298-a4bc-d30ac0cef441/scratchpad/work/v5g/images/insam_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6" y="2788920"/>
            <a:ext cx="2468880" cy="21031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30368" y="5029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금산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6510528" y="5029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CBDD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967728" y="5029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인삼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5230368" y="5760720"/>
            <a:ext cx="351129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594360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국제인삼축제와 인삼시장을 축으로 생산·유통·관광을 묶어 세계 인삼 거래 중심지가 되었습니다.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9272016" y="2514600"/>
            <a:ext cx="4059936" cy="507492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26" name="Image 2" descr="/tmp/claude-0/-home-user-indo3247/e59b7615-fcbe-5298-a4bc-d30ac0cef441/scratchpad/work/v5g/images/jangryu_h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4" y="2788920"/>
            <a:ext cx="2468880" cy="21031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46336" y="5029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10826496" y="5029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CBDD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11283696" y="5029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장류</a:t>
            </a:r>
            <a:endParaRPr lang="en-US" sz="2800" dirty="0"/>
          </a:p>
        </p:txBody>
      </p:sp>
      <p:sp>
        <p:nvSpPr>
          <p:cNvPr id="30" name="Shape 25"/>
          <p:cNvSpPr/>
          <p:nvPr/>
        </p:nvSpPr>
        <p:spPr>
          <a:xfrm>
            <a:off x="9546336" y="5715000"/>
            <a:ext cx="1517904" cy="365760"/>
          </a:xfrm>
          <a:prstGeom prst="roundRect">
            <a:avLst>
              <a:gd name="adj" fmla="val 17500"/>
            </a:avLst>
          </a:prstGeom>
          <a:solidFill>
            <a:srgbClr val="4A6B40"/>
          </a:solidFill>
          <a:ln/>
        </p:spPr>
      </p:sp>
      <p:sp>
        <p:nvSpPr>
          <p:cNvPr id="31" name="Text 26"/>
          <p:cNvSpPr/>
          <p:nvPr/>
        </p:nvSpPr>
        <p:spPr>
          <a:xfrm>
            <a:off x="9546336" y="57150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선례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9546336" y="6217920"/>
            <a:ext cx="351129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546336" y="6373368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고추장민속마을·장류 클러스터. 농식품부 K-미식벨트로 이어지는 전북의 성공 사례입니다.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13587984" y="2514600"/>
            <a:ext cx="4059936" cy="507492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35" name="Image 3" descr="/tmp/claude-0/-home-user-indo3247/e59b7615-fcbe-5298-a4bc-d30ac0cef441/scratchpad/work/v5g/images/buan_chicken_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3512" y="2788920"/>
            <a:ext cx="2468880" cy="21031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862304" y="50292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15142464" y="5029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15599664" y="5029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</a:t>
            </a:r>
            <a:endParaRPr lang="en-US" sz="2800" dirty="0"/>
          </a:p>
        </p:txBody>
      </p:sp>
      <p:sp>
        <p:nvSpPr>
          <p:cNvPr id="39" name="Shape 33"/>
          <p:cNvSpPr/>
          <p:nvPr/>
        </p:nvSpPr>
        <p:spPr>
          <a:xfrm>
            <a:off x="13862304" y="5760720"/>
            <a:ext cx="351129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3862304" y="594360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생산(참프레)·문화(계림)·관광(변산)이 이미 한 곳에. 남은 것은 이름을 붙이는 일뿐입니다.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2" name="Shape 36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3" name="Text 37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순창은 이미 해냈습니다. 같은 방식으로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다음 차례입니다.</a:t>
            </a:r>
            <a:endParaRPr lang="en-US" sz="2200" dirty="0"/>
          </a:p>
        </p:txBody>
      </p:sp>
      <p:sp>
        <p:nvSpPr>
          <p:cNvPr id="44" name="Text 38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K-미식벨트 · 각 지자체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3898880" y="-1645920"/>
            <a:ext cx="6400800" cy="7772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0" y="6035040"/>
            <a:ext cx="4572000" cy="5486400"/>
          </a:xfrm>
          <a:prstGeom prst="roundRect">
            <a:avLst>
              <a:gd name="adj" fmla="val 14000"/>
            </a:avLst>
          </a:prstGeom>
          <a:solidFill>
            <a:srgbClr val="E4EF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2834640" cy="2834640"/>
          </a:xfrm>
          <a:prstGeom prst="roundRect">
            <a:avLst>
              <a:gd name="adj" fmla="val 5161"/>
            </a:avLst>
          </a:prstGeom>
          <a:solidFill>
            <a:srgbClr val="3350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7520"/>
            <a:ext cx="658368" cy="65836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800" dirty="0"/>
          </a:p>
        </p:txBody>
      </p:sp>
      <p:sp>
        <p:nvSpPr>
          <p:cNvPr id="9" name="Shape 7"/>
          <p:cNvSpPr/>
          <p:nvPr/>
        </p:nvSpPr>
        <p:spPr>
          <a:xfrm>
            <a:off x="4160520" y="3401568"/>
            <a:ext cx="2926080" cy="0"/>
          </a:xfrm>
          <a:prstGeom prst="line">
            <a:avLst/>
          </a:prstGeom>
          <a:noFill/>
          <a:ln w="38100">
            <a:solidFill>
              <a:srgbClr val="5A9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66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닭, 그 이름의 역사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NAME WE LOST AND FOUND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· 상징의 회복 · K-Chicken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 계림 설화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건국신화에 등장하는 유일한 가축, 그것이 닭이었습니다.</a:t>
            </a:r>
            <a:endParaRPr lang="en-US" sz="1500" dirty="0"/>
          </a:p>
        </p:txBody>
      </p:sp>
      <p:pic>
        <p:nvPicPr>
          <p:cNvPr id="11" name="Image 0" descr="/tmp/claude-0/-home-user-indo3247/e59b7615-fcbe-5298-a4bc-d30ac0cef441/scratchpad/work/v5g/images/gyerim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51760"/>
            <a:ext cx="6766560" cy="4754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55280" y="2514600"/>
            <a:ext cx="9692640" cy="2103120"/>
          </a:xfrm>
          <a:prstGeom prst="roundRect">
            <a:avLst>
              <a:gd name="adj" fmla="val 5217"/>
            </a:avLst>
          </a:prstGeom>
          <a:solidFill>
            <a:srgbClr val="335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7955280" y="2697480"/>
            <a:ext cx="128016" cy="17373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0" y="278892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鷄  林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11521440" y="29077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신라 국호의 기원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412480" y="370332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김알지가 태어난 계림(鷄林)은 신라 국호의 기원입니다. 한국사에서 닭은 가축이기 전에, 국가의 기원 서사에 등장하는 유일한 동물입니다.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55280" y="4846320"/>
            <a:ext cx="3048000" cy="2560320"/>
          </a:xfrm>
          <a:prstGeom prst="roundRect">
            <a:avLst>
              <a:gd name="adj" fmla="val 3571"/>
            </a:avLst>
          </a:prstGeom>
          <a:solidFill>
            <a:srgbClr val="EEF4E7"/>
          </a:solidFill>
          <a:ln w="15875">
            <a:solidFill>
              <a:srgbClr val="5A9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5120640"/>
            <a:ext cx="2499360" cy="548640"/>
          </a:xfrm>
          <a:prstGeom prst="roundRect">
            <a:avLst>
              <a:gd name="adj" fmla="val 20000"/>
            </a:avLst>
          </a:prstGeom>
          <a:solidFill>
            <a:srgbClr val="4A6B40"/>
          </a:solidFill>
          <a:ln/>
        </p:spPr>
      </p:sp>
      <p:sp>
        <p:nvSpPr>
          <p:cNvPr id="19" name="Text 16"/>
          <p:cNvSpPr/>
          <p:nvPr/>
        </p:nvSpPr>
        <p:spPr>
          <a:xfrm>
            <a:off x="8631936" y="512064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193024" y="5897880"/>
            <a:ext cx="257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어둠을 여는 유일한 소리.</a:t>
            </a:r>
            <a:endParaRPr lang="en-US" sz="15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하루의 시작을 알리는 존재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1277600" y="4846320"/>
            <a:ext cx="30480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551920" y="5120640"/>
            <a:ext cx="2499360" cy="548640"/>
          </a:xfrm>
          <a:prstGeom prst="roundRect">
            <a:avLst>
              <a:gd name="adj" fmla="val 20000"/>
            </a:avLst>
          </a:prstGeom>
          <a:solidFill>
            <a:srgbClr val="4A6B40"/>
          </a:solidFill>
          <a:ln/>
        </p:spPr>
      </p:sp>
      <p:sp>
        <p:nvSpPr>
          <p:cNvPr id="23" name="Text 20"/>
          <p:cNvSpPr/>
          <p:nvPr/>
        </p:nvSpPr>
        <p:spPr>
          <a:xfrm>
            <a:off x="11954256" y="512064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벽사(辟邪)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1515344" y="5897880"/>
            <a:ext cx="257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액운을 쫓는 수호의 상징.</a:t>
            </a:r>
            <a:endParaRPr lang="en-US" sz="15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제사와 혼례 의례의 중심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4599920" y="4846320"/>
            <a:ext cx="30480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4874240" y="5120640"/>
            <a:ext cx="2499360" cy="548640"/>
          </a:xfrm>
          <a:prstGeom prst="roundRect">
            <a:avLst>
              <a:gd name="adj" fmla="val 20000"/>
            </a:avLst>
          </a:prstGeom>
          <a:solidFill>
            <a:srgbClr val="4A6B40"/>
          </a:solidFill>
          <a:ln/>
        </p:spPr>
      </p:sp>
      <p:sp>
        <p:nvSpPr>
          <p:cNvPr id="27" name="Text 24"/>
          <p:cNvSpPr/>
          <p:nvPr/>
        </p:nvSpPr>
        <p:spPr>
          <a:xfrm>
            <a:off x="15276576" y="512064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희망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4837664" y="5897880"/>
            <a:ext cx="2572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해의 시작을 여는 십이지.</a:t>
            </a:r>
            <a:endParaRPr lang="en-US" sz="15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새로움과 재생의 표상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30" name="Shape 27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1" name="Text 28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한국인에게 닭은 음식이기 전에, 나라의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이었습니다.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『삼국사기』· 『삼국유사』 김알지 탄생설화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 상징의 회복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20세기 초 조선은 「닭」으로 그려졌습니다. 그 이름을 되찾는 일에서 축제가 시작됩니다.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43153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78892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73936" y="282549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1900 ~ 1945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3429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024128" y="4197096"/>
            <a:ext cx="4663440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4517136"/>
            <a:ext cx="137160" cy="137160"/>
          </a:xfrm>
          <a:prstGeom prst="rect">
            <a:avLst/>
          </a:prstGeom>
          <a:solidFill>
            <a:srgbClr val="9AA48F"/>
          </a:solidFill>
          <a:ln/>
        </p:spPr>
      </p:sp>
      <p:sp>
        <p:nvSpPr>
          <p:cNvPr id="17" name="Text 15"/>
          <p:cNvSpPr/>
          <p:nvPr/>
        </p:nvSpPr>
        <p:spPr>
          <a:xfrm>
            <a:off x="1389888" y="4398264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시사만화 속 조선의 도상화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60704" y="5230368"/>
            <a:ext cx="137160" cy="137160"/>
          </a:xfrm>
          <a:prstGeom prst="rect">
            <a:avLst/>
          </a:prstGeom>
          <a:solidFill>
            <a:srgbClr val="9AA48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888" y="5111496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새장에 갇힌 닭 — 자립 불능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60704" y="5943600"/>
            <a:ext cx="137160" cy="137160"/>
          </a:xfrm>
          <a:prstGeom prst="rect">
            <a:avLst/>
          </a:prstGeom>
          <a:solidFill>
            <a:srgbClr val="9AA48F"/>
          </a:solidFill>
          <a:ln/>
        </p:spPr>
      </p:sp>
      <p:sp>
        <p:nvSpPr>
          <p:cNvPr id="21" name="Text 19"/>
          <p:cNvSpPr/>
          <p:nvPr/>
        </p:nvSpPr>
        <p:spPr>
          <a:xfrm>
            <a:off x="1389888" y="582472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싸우는 닭 — 무지와 내분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4503420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3" name="Shape 21"/>
          <p:cNvSpPr/>
          <p:nvPr/>
        </p:nvSpPr>
        <p:spPr>
          <a:xfrm>
            <a:off x="6102096" y="4506468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4" name="Shape 22"/>
          <p:cNvSpPr/>
          <p:nvPr/>
        </p:nvSpPr>
        <p:spPr>
          <a:xfrm>
            <a:off x="6077712" y="4509516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3328" y="4425696"/>
            <a:ext cx="237744" cy="20116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5664" y="2514600"/>
            <a:ext cx="5431536" cy="4160520"/>
          </a:xfrm>
          <a:prstGeom prst="roundRect">
            <a:avLst>
              <a:gd name="adj" fmla="val 2198"/>
            </a:avLst>
          </a:prstGeom>
          <a:solidFill>
            <a:srgbClr val="EEF4E7"/>
          </a:solidFill>
          <a:ln w="15875">
            <a:solidFill>
              <a:srgbClr val="5A9E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78892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89520" y="282549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구조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39712" y="3429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정치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6839712" y="4197096"/>
            <a:ext cx="4663440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8" y="4517136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2" name="Text 30"/>
          <p:cNvSpPr/>
          <p:nvPr/>
        </p:nvSpPr>
        <p:spPr>
          <a:xfrm>
            <a:off x="7205472" y="4398264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반복된 이미지가 인식을 규율한다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876288" y="523036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4" name="Text 32"/>
          <p:cNvSpPr/>
          <p:nvPr/>
        </p:nvSpPr>
        <p:spPr>
          <a:xfrm>
            <a:off x="7205472" y="5111496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침략을 시혜로 포장하는 서사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876288" y="594360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6" name="Text 34"/>
          <p:cNvSpPr/>
          <p:nvPr/>
        </p:nvSpPr>
        <p:spPr>
          <a:xfrm>
            <a:off x="7205472" y="582472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자기비하의 내면화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1942064" y="4503420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38" name="Shape 36"/>
          <p:cNvSpPr/>
          <p:nvPr/>
        </p:nvSpPr>
        <p:spPr>
          <a:xfrm>
            <a:off x="11917680" y="4506468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39" name="Shape 37"/>
          <p:cNvSpPr/>
          <p:nvPr/>
        </p:nvSpPr>
        <p:spPr>
          <a:xfrm>
            <a:off x="11893296" y="4509516"/>
            <a:ext cx="64008" cy="64008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68912" y="4425696"/>
            <a:ext cx="237744" cy="20116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271248" y="2514600"/>
            <a:ext cx="5431536" cy="4160520"/>
          </a:xfrm>
          <a:prstGeom prst="roundRect">
            <a:avLst>
              <a:gd name="adj" fmla="val 2198"/>
            </a:avLst>
          </a:prstGeom>
          <a:solidFill>
            <a:srgbClr val="33502E"/>
          </a:solidFill>
          <a:ln/>
        </p:spPr>
      </p:sp>
      <p:sp>
        <p:nvSpPr>
          <p:cNvPr id="42" name="Text 40"/>
          <p:cNvSpPr/>
          <p:nvPr/>
        </p:nvSpPr>
        <p:spPr>
          <a:xfrm>
            <a:off x="12655296" y="278892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13405104" y="282549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CFE3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655296" y="3429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회복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12655296" y="4197096"/>
            <a:ext cx="4663440" cy="0"/>
          </a:xfrm>
          <a:prstGeom prst="line">
            <a:avLst/>
          </a:prstGeom>
          <a:noFill/>
          <a:ln w="15875">
            <a:solidFill>
              <a:srgbClr val="4A6B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691872" y="4517136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7" name="Text 45"/>
          <p:cNvSpPr/>
          <p:nvPr/>
        </p:nvSpPr>
        <p:spPr>
          <a:xfrm>
            <a:off x="13021056" y="4398264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K-Chicken, 세계가 사랑하는 한식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2691872" y="5230368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9" name="Text 47"/>
          <p:cNvSpPr/>
          <p:nvPr/>
        </p:nvSpPr>
        <p:spPr>
          <a:xfrm>
            <a:off x="13021056" y="5111496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상징의 주체를 되찾는 일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12691872" y="5943600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1" name="Text 49"/>
          <p:cNvSpPr/>
          <p:nvPr/>
        </p:nvSpPr>
        <p:spPr>
          <a:xfrm>
            <a:off x="13021056" y="5824728"/>
            <a:ext cx="4517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부안이 그 선언의 장소가 된다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640080" y="6858000"/>
            <a:ext cx="17007840" cy="640080"/>
          </a:xfrm>
          <a:prstGeom prst="roundRect">
            <a:avLst>
              <a:gd name="adj" fmla="val 11429"/>
            </a:avLst>
          </a:prstGeom>
          <a:solidFill>
            <a:srgbClr val="EEF4E7"/>
          </a:solidFill>
          <a:ln/>
        </p:spPr>
      </p:sp>
      <p:sp>
        <p:nvSpPr>
          <p:cNvPr id="53" name="Text 51"/>
          <p:cNvSpPr/>
          <p:nvPr/>
        </p:nvSpPr>
        <p:spPr>
          <a:xfrm>
            <a:off x="1042416" y="6858000"/>
            <a:ext cx="1620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근거 · 한상일 · 한정선, 『일본, 만화로 제국을 그리다 — 조선병탄과 시선의 정치』, 일조각, 2006 (2008 대한민국학술원 우수학술도서 / 2010 일본어판)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6" name="Text 54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닭은 원래 새벽이었습니다.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그 이름을 되찾습니다.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 K-Chicken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치킨은 해외 한식 소비자가 가장 선호하는 메뉴입니다. 그 뿌리를 부안에 세웁니다.</a:t>
            </a:r>
            <a:endParaRPr lang="en-US" sz="1500" dirty="0"/>
          </a:p>
        </p:txBody>
      </p:sp>
      <p:pic>
        <p:nvPicPr>
          <p:cNvPr id="11" name="Image 0" descr="/tmp/claude-0/-home-user-indo3247/e59b7615-fcbe-5298-a4bc-d30ac0cef441/scratchpad/work/v5g/images/kchick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14600"/>
            <a:ext cx="11521440" cy="21945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563856" y="2514600"/>
            <a:ext cx="5084064" cy="1024128"/>
          </a:xfrm>
          <a:prstGeom prst="roundRect">
            <a:avLst>
              <a:gd name="adj" fmla="val 8929"/>
            </a:avLst>
          </a:prstGeom>
          <a:solidFill>
            <a:srgbClr val="33502E"/>
          </a:solidFill>
          <a:ln/>
        </p:spPr>
      </p:sp>
      <p:sp>
        <p:nvSpPr>
          <p:cNvPr id="13" name="Text 10"/>
          <p:cNvSpPr/>
          <p:nvPr/>
        </p:nvSpPr>
        <p:spPr>
          <a:xfrm>
            <a:off x="12893040" y="2514600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14575536" y="2514600"/>
            <a:ext cx="27980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한식 선호 메뉴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 14% (김치 9.5%)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2563856" y="3685032"/>
            <a:ext cx="5084064" cy="1024128"/>
          </a:xfrm>
          <a:prstGeom prst="roundRect">
            <a:avLst>
              <a:gd name="adj" fmla="val 8929"/>
            </a:avLst>
          </a:prstGeom>
          <a:solidFill>
            <a:srgbClr val="4A6B40"/>
          </a:solidFill>
          <a:ln/>
        </p:spPr>
      </p:sp>
      <p:sp>
        <p:nvSpPr>
          <p:cNvPr id="16" name="Text 13"/>
          <p:cNvSpPr/>
          <p:nvPr/>
        </p:nvSpPr>
        <p:spPr>
          <a:xfrm>
            <a:off x="12893040" y="3685032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4575536" y="3685032"/>
            <a:ext cx="27980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방한 외래관광객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 · 식도락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920240" y="5513832"/>
            <a:ext cx="14447520" cy="0"/>
          </a:xfrm>
          <a:prstGeom prst="line">
            <a:avLst/>
          </a:prstGeom>
          <a:noFill/>
          <a:ln w="25400">
            <a:solidFill>
              <a:srgbClr val="CBDDB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84832" y="5422392"/>
            <a:ext cx="182880" cy="182880"/>
          </a:xfrm>
          <a:prstGeom prst="ellipse">
            <a:avLst/>
          </a:prstGeom>
          <a:solidFill>
            <a:srgbClr val="5A9E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0200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삼국시대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916168"/>
            <a:ext cx="307238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09904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0080" y="66476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나라의 이름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31536" y="5422392"/>
            <a:ext cx="182880" cy="182880"/>
          </a:xfrm>
          <a:prstGeom prst="ellipse">
            <a:avLst/>
          </a:prstGeom>
          <a:solidFill>
            <a:srgbClr val="5A9E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86784" y="50200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 ~ 근대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986784" y="5916168"/>
            <a:ext cx="307238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86784" y="609904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삼계탕 · 백숙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986784" y="66476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민족의 보양식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778240" y="5422392"/>
            <a:ext cx="182880" cy="182880"/>
          </a:xfrm>
          <a:prstGeom prst="ellipse">
            <a:avLst/>
          </a:prstGeom>
          <a:solidFill>
            <a:srgbClr val="5A9E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33488" y="50200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1970 ~ 2000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333488" y="5916168"/>
            <a:ext cx="307238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33488" y="609904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치킨 문화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333488" y="66476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야식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2124944" y="5422392"/>
            <a:ext cx="182880" cy="182880"/>
          </a:xfrm>
          <a:prstGeom prst="ellipse">
            <a:avLst/>
          </a:prstGeom>
          <a:solidFill>
            <a:srgbClr val="5A9E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80192" y="50200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 ~ 현재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680192" y="5916168"/>
            <a:ext cx="3072384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680192" y="609904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K-Chicken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10680192" y="66476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세계의 미식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5416784" y="5367528"/>
            <a:ext cx="292608" cy="292608"/>
          </a:xfrm>
          <a:prstGeom prst="ellipse">
            <a:avLst/>
          </a:prstGeom>
          <a:solidFill>
            <a:srgbClr val="8CC63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4026896" y="502005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~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4026896" y="5916168"/>
            <a:ext cx="3072384" cy="1316736"/>
          </a:xfrm>
          <a:prstGeom prst="roundRect">
            <a:avLst>
              <a:gd name="adj" fmla="val 6944"/>
            </a:avLst>
          </a:prstGeom>
          <a:solidFill>
            <a:srgbClr val="33502E"/>
          </a:solidFill>
          <a:ln/>
        </p:spPr>
      </p:sp>
      <p:sp>
        <p:nvSpPr>
          <p:cNvPr id="42" name="Text 39"/>
          <p:cNvSpPr/>
          <p:nvPr/>
        </p:nvSpPr>
        <p:spPr>
          <a:xfrm>
            <a:off x="14026896" y="6099048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  안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14026896" y="664768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이름의 뿌리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640080" y="7635240"/>
            <a:ext cx="1700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농림축산식품부는 치킨을 「외국인이 가장 선호하는 한식 메뉴」로 규정하고 2026년 K-미식벨트의 주제로 선정했습니다.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6" name="Shape 43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7" name="Text 44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2,000년의 이름이 지금 세계로 갑니다. 그 출발점을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둡니다.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농림축산식품부(2026.3.19 / 6.29) · 해외 한식 소비자 조사 · 외래관광객 조사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3898880" y="-1645920"/>
            <a:ext cx="6400800" cy="7772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0" y="6035040"/>
            <a:ext cx="4572000" cy="5486400"/>
          </a:xfrm>
          <a:prstGeom prst="roundRect">
            <a:avLst>
              <a:gd name="adj" fmla="val 14000"/>
            </a:avLst>
          </a:prstGeom>
          <a:solidFill>
            <a:srgbClr val="E4EF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2834640" cy="2834640"/>
          </a:xfrm>
          <a:prstGeom prst="roundRect">
            <a:avLst>
              <a:gd name="adj" fmla="val 5161"/>
            </a:avLst>
          </a:prstGeom>
          <a:solidFill>
            <a:srgbClr val="3350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7520"/>
            <a:ext cx="658368" cy="65836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800" dirty="0"/>
          </a:p>
        </p:txBody>
      </p:sp>
      <p:sp>
        <p:nvSpPr>
          <p:cNvPr id="9" name="Shape 7"/>
          <p:cNvSpPr/>
          <p:nvPr/>
        </p:nvSpPr>
        <p:spPr>
          <a:xfrm>
            <a:off x="4160520" y="3401568"/>
            <a:ext cx="2926080" cy="0"/>
          </a:xfrm>
          <a:prstGeom prst="line">
            <a:avLst/>
          </a:prstGeom>
          <a:noFill/>
          <a:ln w="38100">
            <a:solidFill>
              <a:srgbClr val="5A9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66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PLAN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사계절 전략 · 사업 개요 · 공간 구성 · 시그니처 · 동물복지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  사계절 전략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축제를 만드는 것이 아니라, 비어 있는 계절을 채웁니다.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12" name="Image 0" descr="/tmp/claude-0/-home-user-indo3247/e59b7615-fcbe-5298-a4bc-d30ac0cef441/scratchpad/work/v5g/images/mas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0976" y="2825496"/>
            <a:ext cx="3108960" cy="234086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261104" y="2825496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4A6B40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825496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· 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261104" y="34107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부안마실축제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261104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12080" y="3995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제13회 (2026)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61104" y="4398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12080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 2일 ~ 5일 · 4일간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61104" y="4800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212080" y="4800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261104" y="5202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12080" y="5202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정원 · 체험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50976" y="5586984"/>
            <a:ext cx="7607808" cy="457200"/>
          </a:xfrm>
          <a:prstGeom prst="roundRect">
            <a:avLst>
              <a:gd name="adj" fmla="val 14000"/>
            </a:avLst>
          </a:prstGeom>
          <a:solidFill>
            <a:srgbClr val="F0F0F0"/>
          </a:solidFill>
          <a:ln/>
        </p:spPr>
      </p:sp>
      <p:sp>
        <p:nvSpPr>
          <p:cNvPr id="25" name="Text 22"/>
          <p:cNvSpPr/>
          <p:nvPr/>
        </p:nvSpPr>
        <p:spPr>
          <a:xfrm>
            <a:off x="950976" y="5586984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4A6B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개막 첫날 약 59,000명 방문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418320" y="251460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27" name="Image 1" descr="/tmp/claude-0/-home-user-indo3247/e59b7615-fcbe-5298-a4bc-d30ac0cef441/scratchpad/work/v5g/images/autum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29216" y="2825496"/>
            <a:ext cx="3108960" cy="2340864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13039344" y="2825496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33502E"/>
          </a:solidFill>
          <a:ln/>
        </p:spPr>
      </p:sp>
      <p:sp>
        <p:nvSpPr>
          <p:cNvPr id="29" name="Text 25"/>
          <p:cNvSpPr/>
          <p:nvPr/>
        </p:nvSpPr>
        <p:spPr>
          <a:xfrm>
            <a:off x="13441680" y="2825496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· 가을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3039344" y="341071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(신설)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13039344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3990320" y="3995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제1회 (2028 목표)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3039344" y="43982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13990320" y="4398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중 · 3일간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3039344" y="4800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3990320" y="4800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13039344" y="5202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13990320" y="5202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미식 · 문화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9729216" y="5586984"/>
            <a:ext cx="7607808" cy="457200"/>
          </a:xfrm>
          <a:prstGeom prst="roundRect">
            <a:avLst>
              <a:gd name="adj" fmla="val 14000"/>
            </a:avLst>
          </a:prstGeom>
          <a:solidFill>
            <a:srgbClr val="EEF4E7"/>
          </a:solidFill>
          <a:ln/>
        </p:spPr>
      </p:sp>
      <p:sp>
        <p:nvSpPr>
          <p:cNvPr id="40" name="Text 36"/>
          <p:cNvSpPr/>
          <p:nvPr/>
        </p:nvSpPr>
        <p:spPr>
          <a:xfrm>
            <a:off x="9729216" y="5586984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15만명 → 3년차 40만명</a:t>
            </a:r>
            <a:endParaRPr lang="en-US" sz="1700" dirty="0"/>
          </a:p>
        </p:txBody>
      </p:sp>
      <p:sp>
        <p:nvSpPr>
          <p:cNvPr id="41" name="Text 37"/>
          <p:cNvSpPr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축제가 공유하는 것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40080" y="6812280"/>
            <a:ext cx="5431536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9536" y="6976872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5A9E43"/>
          </a:solidFill>
          <a:ln/>
        </p:spPr>
      </p:sp>
      <p:sp>
        <p:nvSpPr>
          <p:cNvPr id="44" name="Text 40"/>
          <p:cNvSpPr/>
          <p:nvPr/>
        </p:nvSpPr>
        <p:spPr>
          <a:xfrm>
            <a:off x="859536" y="6976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공유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2377440" y="6812280"/>
            <a:ext cx="3511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 운영 노하우 승계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6455664" y="6812280"/>
            <a:ext cx="5431536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675120" y="6976872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5A9E43"/>
          </a:solidFill>
          <a:ln/>
        </p:spPr>
      </p:sp>
      <p:sp>
        <p:nvSpPr>
          <p:cNvPr id="48" name="Text 44"/>
          <p:cNvSpPr/>
          <p:nvPr/>
        </p:nvSpPr>
        <p:spPr>
          <a:xfrm>
            <a:off x="6675120" y="6976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공유</a:t>
            </a: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8193024" y="6812280"/>
            <a:ext cx="3511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부안해뜰마루 등 기존 축제장 인프라 활용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12271248" y="6812280"/>
            <a:ext cx="5431536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2490704" y="6976872"/>
            <a:ext cx="1371600" cy="420624"/>
          </a:xfrm>
          <a:prstGeom prst="roundRect">
            <a:avLst>
              <a:gd name="adj" fmla="val 15217"/>
            </a:avLst>
          </a:prstGeom>
          <a:solidFill>
            <a:srgbClr val="5A9E43"/>
          </a:solidFill>
          <a:ln/>
        </p:spPr>
      </p:sp>
      <p:sp>
        <p:nvSpPr>
          <p:cNvPr id="52" name="Text 48"/>
          <p:cNvSpPr/>
          <p:nvPr/>
        </p:nvSpPr>
        <p:spPr>
          <a:xfrm>
            <a:off x="12490704" y="6976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공유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14008608" y="6812280"/>
            <a:ext cx="3511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운영 인력 · 자원봉사 풀 연중 가동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55" name="Shape 51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6" name="Text 52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마실축제가 '봄의 부안'을 만들었다면, 닭축제는 '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가을의 부안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'을 만듭니다.</a:t>
            </a:r>
            <a:endParaRPr lang="en-US" sz="2200" dirty="0"/>
          </a:p>
        </p:txBody>
      </p:sp>
      <p:sp>
        <p:nvSpPr>
          <p:cNvPr id="57" name="Text 53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부안군 · 부안마실축제 공식 · 다음뉴스(2026.5.3)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  사업 개요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3일의 행사가 아니라, 365일 브랜드의 출발점입니다.</a:t>
            </a:r>
            <a:endParaRPr lang="en-US" sz="1500" dirty="0"/>
          </a:p>
        </p:txBody>
      </p:sp>
      <p:pic>
        <p:nvPicPr>
          <p:cNvPr id="11" name="Image 0" descr="/tmp/claude-0/-home-user-indo3247/e59b7615-fcbe-5298-a4bc-d30ac0cef441/scratchpad/work/v5g/images/ven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487168"/>
            <a:ext cx="17007840" cy="15179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4206240"/>
            <a:ext cx="17007840" cy="512064"/>
          </a:xfrm>
          <a:prstGeom prst="roundRect">
            <a:avLst/>
          </a:prstGeom>
          <a:solidFill>
            <a:srgbClr val="EEF4E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062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명칭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57984" y="420624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 (가칭)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21040" y="42062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564624" y="420624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4400" y="47183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157984" y="471830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매년 10월 중 3일간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321040" y="47183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64624" y="47183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" y="5230368"/>
            <a:ext cx="17007840" cy="512064"/>
          </a:xfrm>
          <a:prstGeom prst="roundRect">
            <a:avLst/>
          </a:prstGeom>
          <a:solidFill>
            <a:srgbClr val="EEF4E7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23036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157984" y="52303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변산반도 · 새만금 연계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321040" y="523036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564624" y="523036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농식품부 · 문체부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14400" y="574243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2157984" y="574243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산업연계형 문화관광축제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321040" y="574243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564624" y="574243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15만 → 3년차 40만명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40080" y="6254496"/>
            <a:ext cx="17007840" cy="512064"/>
          </a:xfrm>
          <a:prstGeom prst="roundRect">
            <a:avLst/>
          </a:prstGeom>
          <a:solidFill>
            <a:srgbClr val="EEF4E7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62544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개최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2157984" y="625449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제1회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8321040" y="62544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564624" y="625449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· 국비 · 기업협찬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640080" y="6903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방문객 목표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0080" y="7324344"/>
            <a:ext cx="5431536" cy="768096"/>
          </a:xfrm>
          <a:prstGeom prst="roundRect">
            <a:avLst>
              <a:gd name="adj" fmla="val 11905"/>
            </a:avLst>
          </a:prstGeom>
          <a:solidFill>
            <a:srgbClr val="5A9E43"/>
          </a:solidFill>
          <a:ln/>
        </p:spPr>
      </p:sp>
      <p:sp>
        <p:nvSpPr>
          <p:cNvPr id="37" name="Text 34"/>
          <p:cNvSpPr/>
          <p:nvPr/>
        </p:nvSpPr>
        <p:spPr>
          <a:xfrm>
            <a:off x="1005840" y="732434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2028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108960" y="732434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15만명</a:t>
            </a:r>
            <a:endParaRPr lang="en-US" sz="2800" dirty="0"/>
          </a:p>
        </p:txBody>
      </p:sp>
      <p:sp>
        <p:nvSpPr>
          <p:cNvPr id="39" name="Shape 36"/>
          <p:cNvSpPr/>
          <p:nvPr/>
        </p:nvSpPr>
        <p:spPr>
          <a:xfrm>
            <a:off x="6309360" y="7324344"/>
            <a:ext cx="5431536" cy="768096"/>
          </a:xfrm>
          <a:prstGeom prst="roundRect">
            <a:avLst>
              <a:gd name="adj" fmla="val 11905"/>
            </a:avLst>
          </a:prstGeom>
          <a:solidFill>
            <a:srgbClr val="4A6B40"/>
          </a:solidFill>
          <a:ln/>
        </p:spPr>
      </p:sp>
      <p:sp>
        <p:nvSpPr>
          <p:cNvPr id="40" name="Text 37"/>
          <p:cNvSpPr/>
          <p:nvPr/>
        </p:nvSpPr>
        <p:spPr>
          <a:xfrm>
            <a:off x="6675120" y="732434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2029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778240" y="732434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25만명</a:t>
            </a:r>
            <a:endParaRPr lang="en-US" sz="2800" dirty="0"/>
          </a:p>
        </p:txBody>
      </p:sp>
      <p:sp>
        <p:nvSpPr>
          <p:cNvPr id="42" name="Shape 39"/>
          <p:cNvSpPr/>
          <p:nvPr/>
        </p:nvSpPr>
        <p:spPr>
          <a:xfrm>
            <a:off x="11978640" y="7324344"/>
            <a:ext cx="5431536" cy="768096"/>
          </a:xfrm>
          <a:prstGeom prst="roundRect">
            <a:avLst>
              <a:gd name="adj" fmla="val 11905"/>
            </a:avLst>
          </a:prstGeom>
          <a:solidFill>
            <a:srgbClr val="33502E"/>
          </a:solidFill>
          <a:ln/>
        </p:spPr>
      </p:sp>
      <p:sp>
        <p:nvSpPr>
          <p:cNvPr id="43" name="Text 40"/>
          <p:cNvSpPr/>
          <p:nvPr/>
        </p:nvSpPr>
        <p:spPr>
          <a:xfrm>
            <a:off x="12344400" y="732434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2030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4447520" y="732434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40만명</a:t>
            </a:r>
            <a:endParaRPr lang="en-US" sz="2800" dirty="0"/>
          </a:p>
        </p:txBody>
      </p:sp>
      <p:sp>
        <p:nvSpPr>
          <p:cNvPr id="45" name="Shape 42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6" name="Shape 43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7" name="Text 44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첫해 15만은 지킬 수 있는 숫자입니다. 지킨 숫자만이 다음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부릅니다.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  공간 구성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뿌리에서 시작해 맛으로 이어지고 문화로 끝납니다.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4600"/>
            <a:ext cx="5431536" cy="1225296"/>
          </a:xfrm>
          <a:prstGeom prst="roundRect">
            <a:avLst>
              <a:gd name="adj" fmla="val 7463"/>
            </a:avLst>
          </a:prstGeom>
          <a:solidFill>
            <a:srgbClr val="335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337560"/>
            <a:ext cx="5431536" cy="402336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734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94176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spc="200" kern="0" dirty="0">
                <a:solidFill>
                  <a:srgbClr val="CFE3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081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뿌리존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060704" y="4187952"/>
            <a:ext cx="137160" cy="13716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888" y="4069080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견학 연계 셔틀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60704" y="4937760"/>
            <a:ext cx="137160" cy="13716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481888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 연계 패스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60704" y="5687568"/>
            <a:ext cx="137160" cy="13716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389888" y="5568696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인증 현장 체험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24128" y="680313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EF4E7"/>
          </a:solidFill>
          <a:ln w="12700">
            <a:solidFill>
              <a:srgbClr val="335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68031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i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왔나"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099048" y="4800600"/>
            <a:ext cx="256032" cy="256032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5664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55664" y="2514600"/>
            <a:ext cx="5431536" cy="1225296"/>
          </a:xfrm>
          <a:prstGeom prst="roundRect">
            <a:avLst>
              <a:gd name="adj" fmla="val 7463"/>
            </a:avLst>
          </a:prstGeom>
          <a:solidFill>
            <a:srgbClr val="5A9E4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3337560"/>
            <a:ext cx="5431536" cy="402336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9" name="Text 27"/>
          <p:cNvSpPr/>
          <p:nvPr/>
        </p:nvSpPr>
        <p:spPr>
          <a:xfrm>
            <a:off x="6839712" y="2734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509760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spc="200" kern="0" dirty="0">
                <a:solidFill>
                  <a:srgbClr val="CFE3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3081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미식존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6876288" y="4187952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3" name="Text 31"/>
          <p:cNvSpPr/>
          <p:nvPr/>
        </p:nvSpPr>
        <p:spPr>
          <a:xfrm>
            <a:off x="7205472" y="4069080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초청 부스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876288" y="493776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481888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876288" y="568756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7" name="Text 35"/>
          <p:cNvSpPr/>
          <p:nvPr/>
        </p:nvSpPr>
        <p:spPr>
          <a:xfrm>
            <a:off x="7205472" y="5568696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농특산물 직거래장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839712" y="680313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EF4E7"/>
          </a:solidFill>
          <a:ln w="12700">
            <a:solidFill>
              <a:srgbClr val="5A9E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68031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i="1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맛인가"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11914632" y="4800600"/>
            <a:ext cx="256032" cy="256032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271248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2271248" y="2514600"/>
            <a:ext cx="5431536" cy="1225296"/>
          </a:xfrm>
          <a:prstGeom prst="roundRect">
            <a:avLst>
              <a:gd name="adj" fmla="val 7463"/>
            </a:avLst>
          </a:prstGeom>
          <a:solidFill>
            <a:srgbClr val="4A6B40"/>
          </a:solidFill>
          <a:ln/>
        </p:spPr>
      </p:sp>
      <p:sp>
        <p:nvSpPr>
          <p:cNvPr id="43" name="Shape 41"/>
          <p:cNvSpPr/>
          <p:nvPr/>
        </p:nvSpPr>
        <p:spPr>
          <a:xfrm>
            <a:off x="12271248" y="3337560"/>
            <a:ext cx="5431536" cy="402336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44" name="Text 42"/>
          <p:cNvSpPr/>
          <p:nvPr/>
        </p:nvSpPr>
        <p:spPr>
          <a:xfrm>
            <a:off x="12655296" y="2734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5325344" y="27523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spc="200" kern="0" dirty="0">
                <a:solidFill>
                  <a:srgbClr val="CFE3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CULTURE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655296" y="3081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문화존</a:t>
            </a:r>
            <a:endParaRPr lang="en-US" sz="3000" dirty="0"/>
          </a:p>
        </p:txBody>
      </p:sp>
      <p:sp>
        <p:nvSpPr>
          <p:cNvPr id="47" name="Shape 45"/>
          <p:cNvSpPr/>
          <p:nvPr/>
        </p:nvSpPr>
        <p:spPr>
          <a:xfrm>
            <a:off x="12691872" y="4187952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48" name="Text 46"/>
          <p:cNvSpPr/>
          <p:nvPr/>
        </p:nvSpPr>
        <p:spPr>
          <a:xfrm>
            <a:off x="13021056" y="4069080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서사관 · 닭 문화 전시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12691872" y="4937760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50" name="Text 48"/>
          <p:cNvSpPr/>
          <p:nvPr/>
        </p:nvSpPr>
        <p:spPr>
          <a:xfrm>
            <a:off x="13021056" y="481888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문화공연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2691872" y="5687568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52" name="Text 50"/>
          <p:cNvSpPr/>
          <p:nvPr/>
        </p:nvSpPr>
        <p:spPr>
          <a:xfrm>
            <a:off x="13021056" y="5568696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해안 불꽃 피날레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12655296" y="680313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EF4E7"/>
          </a:solidFill>
          <a:ln w="12700">
            <a:solidFill>
              <a:srgbClr val="4A6B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655296" y="68031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i="1" dirty="0">
                <a:solidFill>
                  <a:srgbClr val="4A6B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소중한가"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56" name="Shape 54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먹고 끝나는 축제가 아니라,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 먹는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축제입니다.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  시그니처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 개의 프로그램보다, 사진 한 장으로 기억되는 세 개가 낫습니다.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12" name="Image 0" descr="/tmp/claude-0/-home-user-indo3247/e59b7615-fcbe-5298-a4bc-d30ac0cef441/scratchpad/work/v5g/images/sig_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2770632"/>
            <a:ext cx="4919472" cy="21945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05840" y="5184648"/>
            <a:ext cx="786384" cy="457200"/>
          </a:xfrm>
          <a:prstGeom prst="roundRect">
            <a:avLst>
              <a:gd name="adj" fmla="val 14000"/>
            </a:avLst>
          </a:prstGeom>
          <a:solidFill>
            <a:srgbClr val="3350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18464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920240" y="518464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 계명식 (鷄鳴式)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42416" y="60350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59161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첫날 일출 · 변산 해안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42416" y="64922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63733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계림 설화 재현 · 액운 물리기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42416" y="69494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68305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부안에서만 가능한 의식 콘텐츠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55664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23" name="Image 1" descr="/tmp/claude-0/-home-user-indo3247/e59b7615-fcbe-5298-a4bc-d30ac0cef441/scratchpad/work/v5g/images/sig_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1696" y="2770632"/>
            <a:ext cx="4919472" cy="219456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821424" y="5184648"/>
            <a:ext cx="786384" cy="457200"/>
          </a:xfrm>
          <a:prstGeom prst="roundRect">
            <a:avLst>
              <a:gd name="adj" fmla="val 14000"/>
            </a:avLst>
          </a:prstGeom>
          <a:solidFill>
            <a:srgbClr val="33502E"/>
          </a:solidFill>
          <a:ln/>
        </p:spPr>
      </p:sp>
      <p:sp>
        <p:nvSpPr>
          <p:cNvPr id="25" name="Text 21"/>
          <p:cNvSpPr/>
          <p:nvPr/>
        </p:nvSpPr>
        <p:spPr>
          <a:xfrm>
            <a:off x="6821424" y="518464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7735824" y="518464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닭요리 명인전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6858000" y="60350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8" name="Text 24"/>
          <p:cNvSpPr/>
          <p:nvPr/>
        </p:nvSpPr>
        <p:spPr>
          <a:xfrm>
            <a:off x="7187184" y="59161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30선 지역 대표 초청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858000" y="64922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0" name="Text 26"/>
          <p:cNvSpPr/>
          <p:nvPr/>
        </p:nvSpPr>
        <p:spPr>
          <a:xfrm>
            <a:off x="7187184" y="63733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춘천 · 안동 · 속초 · 수원 · 목포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858000" y="69494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2" name="Text 28"/>
          <p:cNvSpPr/>
          <p:nvPr/>
        </p:nvSpPr>
        <p:spPr>
          <a:xfrm>
            <a:off x="7187184" y="68305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관람객 투표 + 레시피 아카이빙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12271248" y="2514600"/>
            <a:ext cx="5431536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pic>
        <p:nvPicPr>
          <p:cNvPr id="34" name="Image 2" descr="/tmp/claude-0/-home-user-indo3247/e59b7615-fcbe-5298-a4bc-d30ac0cef441/scratchpad/work/v5g/images/sig_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527280" y="2770632"/>
            <a:ext cx="4919472" cy="219456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12637008" y="5184648"/>
            <a:ext cx="786384" cy="457200"/>
          </a:xfrm>
          <a:prstGeom prst="roundRect">
            <a:avLst>
              <a:gd name="adj" fmla="val 14000"/>
            </a:avLst>
          </a:prstGeom>
          <a:solidFill>
            <a:srgbClr val="33502E"/>
          </a:solidFill>
          <a:ln/>
        </p:spPr>
      </p:sp>
      <p:sp>
        <p:nvSpPr>
          <p:cNvPr id="36" name="Text 31"/>
          <p:cNvSpPr/>
          <p:nvPr/>
        </p:nvSpPr>
        <p:spPr>
          <a:xfrm>
            <a:off x="12637008" y="518464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37" name="Text 32"/>
          <p:cNvSpPr/>
          <p:nvPr/>
        </p:nvSpPr>
        <p:spPr>
          <a:xfrm>
            <a:off x="13551408" y="5184648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변산 불꽃 피날레</a:t>
            </a:r>
            <a:endParaRPr lang="en-US" sz="2100" dirty="0"/>
          </a:p>
        </p:txBody>
      </p:sp>
      <p:sp>
        <p:nvSpPr>
          <p:cNvPr id="38" name="Shape 33"/>
          <p:cNvSpPr/>
          <p:nvPr/>
        </p:nvSpPr>
        <p:spPr>
          <a:xfrm>
            <a:off x="12673584" y="60350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9" name="Text 34"/>
          <p:cNvSpPr/>
          <p:nvPr/>
        </p:nvSpPr>
        <p:spPr>
          <a:xfrm>
            <a:off x="13002768" y="59161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폐막일 해안 배경 불꽃쇼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12673584" y="64922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1" name="Text 36"/>
          <p:cNvSpPr/>
          <p:nvPr/>
        </p:nvSpPr>
        <p:spPr>
          <a:xfrm>
            <a:off x="13002768" y="63733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체류시간 연장 → 숙박 유도</a:t>
            </a:r>
            <a:endParaRPr lang="en-US" sz="1600" dirty="0"/>
          </a:p>
        </p:txBody>
      </p:sp>
      <p:sp>
        <p:nvSpPr>
          <p:cNvPr id="42" name="Shape 37"/>
          <p:cNvSpPr/>
          <p:nvPr/>
        </p:nvSpPr>
        <p:spPr>
          <a:xfrm>
            <a:off x="12673584" y="694944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3" name="Text 38"/>
          <p:cNvSpPr/>
          <p:nvPr/>
        </p:nvSpPr>
        <p:spPr>
          <a:xfrm>
            <a:off x="13002768" y="6830568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안전관리계획 의무 대상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5" name="Shape 40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6" name="Text 41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축제의 성패는 프로그램 수가 아니라,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기억되는 한 장면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갈립니다.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  동물복지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닭을 먹는 축제이기에, 더 정직해야 합니다. 피하지 않고 정면으로 다룹니다.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7007840" cy="1078992"/>
          </a:xfrm>
          <a:prstGeom prst="roundRect">
            <a:avLst>
              <a:gd name="adj" fmla="val 8475"/>
            </a:avLst>
          </a:prstGeom>
          <a:solidFill>
            <a:srgbClr val="FB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14600"/>
            <a:ext cx="17007840" cy="1078992"/>
          </a:xfrm>
          <a:prstGeom prst="roundRect">
            <a:avLst>
              <a:gd name="adj" fmla="val 8475"/>
            </a:avLst>
          </a:prstGeom>
          <a:ln w="222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651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문제 제기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2416" y="3017520"/>
            <a:ext cx="1620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"동물을 소비하는 축제가 생명존중을 말할 수 있는가"</a:t>
            </a:r>
            <a:endParaRPr lang="en-US" sz="2200" dirty="0"/>
          </a:p>
        </p:txBody>
      </p:sp>
      <p:pic>
        <p:nvPicPr>
          <p:cNvPr id="15" name="Image 0" descr="/tmp/claude-0/-home-user-indo3247/e59b7615-fcbe-5298-a4bc-d30ac0cef441/scratchpad/work/v5g/images/welf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794760"/>
            <a:ext cx="5486400" cy="36576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528816" y="3794760"/>
            <a:ext cx="11119104" cy="1115568"/>
          </a:xfrm>
          <a:prstGeom prst="roundRect">
            <a:avLst>
              <a:gd name="adj" fmla="val 8197"/>
            </a:avLst>
          </a:prstGeom>
          <a:solidFill>
            <a:srgbClr val="EEF4E7"/>
          </a:solidFill>
          <a:ln w="15875">
            <a:solidFill>
              <a:srgbClr val="5A9E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03136" y="4096512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33502E"/>
          </a:solidFill>
          <a:ln/>
        </p:spPr>
      </p:sp>
      <p:sp>
        <p:nvSpPr>
          <p:cNvPr id="18" name="Text 15"/>
          <p:cNvSpPr/>
          <p:nvPr/>
        </p:nvSpPr>
        <p:spPr>
          <a:xfrm>
            <a:off x="6803136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98080" y="3922776"/>
            <a:ext cx="983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인증된 사실로 답한다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498080" y="4306824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참프레는 2015년 국내 최초 동물복지 육용계 인증과 동물복지 도축장 지정을 받았습니다. 부안은 한국에서 동물복지 축산을 가장 먼저 시작한 곳입니다.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528816" y="5056632"/>
            <a:ext cx="11119104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03136" y="5358384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33502E"/>
          </a:solidFill>
          <a:ln/>
        </p:spPr>
      </p:sp>
      <p:sp>
        <p:nvSpPr>
          <p:cNvPr id="23" name="Text 20"/>
          <p:cNvSpPr/>
          <p:nvPr/>
        </p:nvSpPr>
        <p:spPr>
          <a:xfrm>
            <a:off x="6803136" y="5358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98080" y="5184648"/>
            <a:ext cx="983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감추지 않고 보여준다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498080" y="556869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사육 · 운송 · 도계 전 과정을 공개 견학합니다. 알고 먹는 것이 윤리의 출발점입니다.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528816" y="6318504"/>
            <a:ext cx="11119104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03136" y="6620256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33502E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6620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98080" y="6446520"/>
            <a:ext cx="983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세대에 가르친다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7498080" y="683056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어린이 생명존중 교육 프로그램을 축제 기간과 연중 상설로 운영합니다.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32" name="Shape 29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33" name="Text 30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부안은 동물복지를 마케팅이 아니라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증명합니다.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참프레 · 농림축산식품부 동물복지축산농장 인증제도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3898880" y="-1645920"/>
            <a:ext cx="6400800" cy="7772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0" y="6035040"/>
            <a:ext cx="4572000" cy="5486400"/>
          </a:xfrm>
          <a:prstGeom prst="roundRect">
            <a:avLst>
              <a:gd name="adj" fmla="val 14000"/>
            </a:avLst>
          </a:prstGeom>
          <a:solidFill>
            <a:srgbClr val="E4EF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2834640" cy="2834640"/>
          </a:xfrm>
          <a:prstGeom prst="roundRect">
            <a:avLst>
              <a:gd name="adj" fmla="val 5161"/>
            </a:avLst>
          </a:prstGeom>
          <a:solidFill>
            <a:srgbClr val="3350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7520"/>
            <a:ext cx="658368" cy="65836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800" dirty="0"/>
          </a:p>
        </p:txBody>
      </p:sp>
      <p:sp>
        <p:nvSpPr>
          <p:cNvPr id="9" name="Shape 7"/>
          <p:cNvSpPr/>
          <p:nvPr/>
        </p:nvSpPr>
        <p:spPr>
          <a:xfrm>
            <a:off x="4160520" y="3401568"/>
            <a:ext cx="2926080" cy="0"/>
          </a:xfrm>
          <a:prstGeom prst="line">
            <a:avLst/>
          </a:prstGeom>
          <a:noFill/>
          <a:ln w="38100">
            <a:solidFill>
              <a:srgbClr val="5A9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66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검증과 리스크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&amp;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분석 · 단계 목표 · 방역 리스크 대응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4.1  경쟁 분석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경쟁이 아니라 보완입니다. 누구도 「산업 기반 위의 가족형 축제」를 하고 있지 않습니다.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828800" cy="658368"/>
          </a:xfrm>
          <a:prstGeom prst="roundRect">
            <a:avLst/>
          </a:prstGeom>
          <a:solidFill>
            <a:srgbClr val="4A6B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468880" y="2514600"/>
            <a:ext cx="3200400" cy="658368"/>
          </a:xfrm>
          <a:prstGeom prst="roundRect">
            <a:avLst/>
          </a:prstGeom>
          <a:solidFill>
            <a:srgbClr val="4A6B4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514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 치맥페스티벌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0" y="2514600"/>
            <a:ext cx="2926080" cy="658368"/>
          </a:xfrm>
          <a:prstGeom prst="roundRect">
            <a:avLst/>
          </a:prstGeom>
          <a:solidFill>
            <a:srgbClr val="4A6B4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5146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95360" y="2514600"/>
            <a:ext cx="3200400" cy="658368"/>
          </a:xfrm>
          <a:prstGeom prst="roundRect">
            <a:avLst/>
          </a:prstGeom>
          <a:solidFill>
            <a:srgbClr val="335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514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닭축제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3172968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172968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68880" y="3172968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6896" y="317296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· 협회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0" y="3172968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97296" y="3172968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(하림)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595360" y="3172968"/>
            <a:ext cx="3200400" cy="768096"/>
          </a:xfrm>
          <a:prstGeom prst="rect">
            <a:avLst/>
          </a:prstGeom>
          <a:solidFill>
            <a:srgbClr val="EEF4E7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317296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+ 기업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3941064"/>
            <a:ext cx="182880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941064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68880" y="3941064"/>
            <a:ext cx="320040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394106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대형 축제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669280" y="3941064"/>
            <a:ext cx="292608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97296" y="3941064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견학 프로그램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595360" y="3941064"/>
            <a:ext cx="3200400" cy="768096"/>
          </a:xfrm>
          <a:prstGeom prst="rect">
            <a:avLst/>
          </a:prstGeom>
          <a:solidFill>
            <a:srgbClr val="EEF4E7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23376" y="3941064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축제 + 상설 연계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4709160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 단위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68880" y="4709160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470916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· 청년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669280" y="4709160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4709160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단체 · 학생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595360" y="4709160"/>
            <a:ext cx="3200400" cy="768096"/>
          </a:xfrm>
          <a:prstGeom prst="rect">
            <a:avLst/>
          </a:prstGeom>
          <a:solidFill>
            <a:srgbClr val="EEF4E7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470916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관광객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40080" y="5477256"/>
            <a:ext cx="182880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" y="5477256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축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468880" y="5477256"/>
            <a:ext cx="320040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96896" y="547725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 · 유흥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5669280" y="5477256"/>
            <a:ext cx="2926080" cy="768096"/>
          </a:xfrm>
          <a:prstGeom prst="rect">
            <a:avLst/>
          </a:prstGeom>
          <a:solidFill>
            <a:srgbClr val="F4F6F1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97296" y="5477256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교육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8595360" y="5477256"/>
            <a:ext cx="3200400" cy="768096"/>
          </a:xfrm>
          <a:prstGeom prst="rect">
            <a:avLst/>
          </a:prstGeom>
          <a:solidFill>
            <a:srgbClr val="EEF4E7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23376" y="5477256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+ 미식 + 관광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640080" y="6245352"/>
            <a:ext cx="18288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" y="6245352"/>
            <a:ext cx="1572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468880" y="6245352"/>
            <a:ext cx="32004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96896" y="62453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115만명 (2025)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5669280" y="6245352"/>
            <a:ext cx="29260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97296" y="6245352"/>
            <a:ext cx="2670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수천명 규모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8595360" y="6245352"/>
            <a:ext cx="3200400" cy="768096"/>
          </a:xfrm>
          <a:prstGeom prst="rect">
            <a:avLst/>
          </a:prstGeom>
          <a:solidFill>
            <a:srgbClr val="EEF4E7"/>
          </a:solidFill>
          <a:ln w="9525">
            <a:solidFill>
              <a:srgbClr val="CBDD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23376" y="6245352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15만 → 40만 (목표)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12198096" y="2514600"/>
            <a:ext cx="5449824" cy="4498848"/>
          </a:xfrm>
          <a:prstGeom prst="roundRect">
            <a:avLst>
              <a:gd name="adj" fmla="val 2033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563856" y="2752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포지셔닝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923008" y="3520440"/>
            <a:ext cx="0" cy="3108960"/>
          </a:xfrm>
          <a:prstGeom prst="line">
            <a:avLst/>
          </a:prstGeom>
          <a:noFill/>
          <a:ln w="19050">
            <a:solidFill>
              <a:srgbClr val="CBDDB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701016" y="5166360"/>
            <a:ext cx="4443984" cy="0"/>
          </a:xfrm>
          <a:prstGeom prst="line">
            <a:avLst/>
          </a:prstGeom>
          <a:noFill/>
          <a:ln w="19050">
            <a:solidFill>
              <a:srgbClr val="CBDDB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459968" y="33741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있음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3459968" y="6556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기반 없음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2326112" y="5001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6696944" y="5001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5307056" y="3867912"/>
            <a:ext cx="1325880" cy="603504"/>
          </a:xfrm>
          <a:prstGeom prst="ellipse">
            <a:avLst/>
          </a:prstGeom>
          <a:solidFill>
            <a:srgbClr val="33502E"/>
          </a:solidFill>
          <a:ln/>
        </p:spPr>
      </p:sp>
      <p:sp>
        <p:nvSpPr>
          <p:cNvPr id="68" name="Text 66"/>
          <p:cNvSpPr/>
          <p:nvPr/>
        </p:nvSpPr>
        <p:spPr>
          <a:xfrm>
            <a:off x="15307056" y="386791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3185648" y="4379976"/>
            <a:ext cx="1325880" cy="603504"/>
          </a:xfrm>
          <a:prstGeom prst="ellipse">
            <a:avLst/>
          </a:prstGeom>
          <a:solidFill>
            <a:srgbClr val="5A9E43"/>
          </a:solidFill>
          <a:ln/>
        </p:spPr>
      </p:sp>
      <p:sp>
        <p:nvSpPr>
          <p:cNvPr id="70" name="Text 68"/>
          <p:cNvSpPr/>
          <p:nvPr/>
        </p:nvSpPr>
        <p:spPr>
          <a:xfrm>
            <a:off x="13185648" y="437997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5425928" y="5952744"/>
            <a:ext cx="1325880" cy="603504"/>
          </a:xfrm>
          <a:prstGeom prst="ellipse">
            <a:avLst/>
          </a:prstGeom>
          <a:solidFill>
            <a:srgbClr val="9AA48F"/>
          </a:solidFill>
          <a:ln/>
        </p:spPr>
      </p:sp>
      <p:sp>
        <p:nvSpPr>
          <p:cNvPr id="72" name="Text 70"/>
          <p:cNvSpPr/>
          <p:nvPr/>
        </p:nvSpPr>
        <p:spPr>
          <a:xfrm>
            <a:off x="15425928" y="595274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74" name="Shape 72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75" name="Text 73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대구는 소비의 정점, 익산은 산업의 관문. 부안은 그 둘을 잇는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다리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매일신문(2026.7.6) · 하림 보도자료 · 대구치맥페스티벌 공식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  단계 목표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50만은 결과이지 약속이 아닙니다. 지킬 수 있는 숫자로 시작합니다.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" y="2514600"/>
          <a:ext cx="96926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10735056" y="2514600"/>
            <a:ext cx="6912864" cy="5074920"/>
          </a:xfrm>
          <a:prstGeom prst="roundRect">
            <a:avLst>
              <a:gd name="adj" fmla="val 1802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37392" y="2788920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산출 근거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137392" y="3337560"/>
            <a:ext cx="61081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0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평균 지출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661136" y="3337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35,000원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11137392" y="4434840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0" y="443484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· 15만명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661136" y="4434840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52.5억원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1137392" y="5148072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4F6F1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0" y="51480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2년차 · 25만명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661136" y="5148072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87.5억원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137392" y="5861304"/>
            <a:ext cx="610819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5A9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0" y="58613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3년차 · 40만명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661136" y="5861304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140.0억원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137392" y="6812280"/>
            <a:ext cx="6108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직접소비 기준 · 승수효과 별도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방문객 소비지출 조사 평균치 준용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28" name="Shape 25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29" name="Text 26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과장된 숫자는 첫해에 무너집니다.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지킨 숫자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만이 다음 예산을 부릅니다.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4.3  리스크 관리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축산 소재 축제의 최대 변수는 방역입니다. 숨기지 않고 먼저 말합니다.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17007840" cy="1371600"/>
          </a:xfrm>
          <a:prstGeom prst="roundRect">
            <a:avLst>
              <a:gd name="adj" fmla="val 6667"/>
            </a:avLst>
          </a:prstGeom>
          <a:solidFill>
            <a:srgbClr val="FB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468880"/>
            <a:ext cx="17007840" cy="1371600"/>
          </a:xfrm>
          <a:prstGeom prst="roundRect">
            <a:avLst>
              <a:gd name="adj" fmla="val 6667"/>
            </a:avLst>
          </a:prstGeom>
          <a:ln w="222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6151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~ 2026 동절기 고병원성 조류인플루엔자 발생 현황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2416" y="3035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53건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88336" y="30358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가금농장 · 전북 포함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37376" y="3035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63건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83296" y="30358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야생조류 · 전년 43건 대비 1.5배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32336" y="3035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478256" y="30358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철새 도래 시작기와 근접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대응 시나리오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5A9E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834640" y="4526280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EEF4E7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52628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없음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589520" y="4526280"/>
            <a:ext cx="10058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526280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프로그램 정상 운영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5495544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E8A4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49554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834640" y="5495544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EEF4E7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54955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전북권 발생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589520" y="5495544"/>
            <a:ext cx="10058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5495544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 접촉 프로그램 전면 대체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(병아리 관찰 → VR · 미디어 체험)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6464808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64648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834640" y="6464808"/>
            <a:ext cx="4572000" cy="841248"/>
          </a:xfrm>
          <a:prstGeom prst="roundRect">
            <a:avLst>
              <a:gd name="adj" fmla="val 8696"/>
            </a:avLst>
          </a:prstGeom>
          <a:solidFill>
            <a:srgbClr val="EEF4E7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64648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인근 발생 / 이동제한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589520" y="6464808"/>
            <a:ext cx="100584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6464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전환 또는 11월 연기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계약에 연기조항 삽입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7543800"/>
            <a:ext cx="17007840" cy="749808"/>
          </a:xfrm>
          <a:prstGeom prst="roundRect">
            <a:avLst>
              <a:gd name="adj" fmla="val 9756"/>
            </a:avLst>
          </a:prstGeom>
          <a:solidFill>
            <a:srgbClr val="EEF4E7"/>
          </a:solidFill>
          <a:ln/>
        </p:spPr>
      </p:sp>
      <p:sp>
        <p:nvSpPr>
          <p:cNvPr id="40" name="Text 38"/>
          <p:cNvSpPr/>
          <p:nvPr/>
        </p:nvSpPr>
        <p:spPr>
          <a:xfrm>
            <a:off x="1042416" y="75438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안전관리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66160" y="7543800"/>
            <a:ext cx="1367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「재난 및 안전관리 기본법」제66조의11 대상 (순간 최대 관람객 1천명 이상 · 불꽃 사용) · 안전관리계획 개최 3주 전 제출 의무 · 인파 밀집구간 실시간 모니터링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농림축산식품부 중수본(2026.3.9) · 기후에너지환경부(2026.5.29) · 재난 및 안전관리 기본법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Shape 2"/>
          <p:cNvSpPr/>
          <p:nvPr/>
        </p:nvSpPr>
        <p:spPr>
          <a:xfrm>
            <a:off x="13898880" y="-1645920"/>
            <a:ext cx="6400800" cy="7772400"/>
          </a:xfrm>
          <a:prstGeom prst="roundRect">
            <a:avLst>
              <a:gd name="adj" fmla="val 10000"/>
            </a:avLst>
          </a:prstGeom>
          <a:solidFill>
            <a:srgbClr val="E4EFD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0" y="6035040"/>
            <a:ext cx="4572000" cy="5486400"/>
          </a:xfrm>
          <a:prstGeom prst="roundRect">
            <a:avLst>
              <a:gd name="adj" fmla="val 14000"/>
            </a:avLst>
          </a:prstGeom>
          <a:solidFill>
            <a:srgbClr val="E4EFD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2834640" cy="2834640"/>
          </a:xfrm>
          <a:prstGeom prst="roundRect">
            <a:avLst>
              <a:gd name="adj" fmla="val 5161"/>
            </a:avLst>
          </a:prstGeom>
          <a:solidFill>
            <a:srgbClr val="33502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7520"/>
            <a:ext cx="658368" cy="65836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800" dirty="0"/>
          </a:p>
        </p:txBody>
      </p:sp>
      <p:sp>
        <p:nvSpPr>
          <p:cNvPr id="9" name="Shape 7"/>
          <p:cNvSpPr/>
          <p:nvPr/>
        </p:nvSpPr>
        <p:spPr>
          <a:xfrm>
            <a:off x="4160520" y="3401568"/>
            <a:ext cx="2926080" cy="0"/>
          </a:xfrm>
          <a:prstGeom prst="line">
            <a:avLst/>
          </a:prstGeom>
          <a:noFill/>
          <a:ln w="38100">
            <a:solidFill>
              <a:srgbClr val="5A9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66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46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재원과 추진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spc="300" kern="0" dirty="0">
                <a:solidFill>
                  <a:srgbClr val="5A9E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FUNDING &amp; EXECUTION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조달 · 예산 계획 · 추진 체계 · 추진 일정 · 기대효과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5.1  재원 조달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 국비를 기대하지 않고, 이미 확보된 재원을 설계합니다.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431536" cy="3931920"/>
          </a:xfrm>
          <a:prstGeom prst="roundRect">
            <a:avLst>
              <a:gd name="adj" fmla="val 2791"/>
            </a:avLst>
          </a:prstGeom>
          <a:solidFill>
            <a:srgbClr val="33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416" y="2788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53712" y="2788920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8CC63F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78892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" y="3319272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2416" y="3849624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348억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42416" y="4617720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5년 누적 배분액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42416" y="5038344"/>
            <a:ext cx="4626864" cy="0"/>
          </a:xfrm>
          <a:prstGeom prst="line">
            <a:avLst/>
          </a:prstGeom>
          <a:noFill/>
          <a:ln w="12700">
            <a:solidFill>
              <a:srgbClr val="4A6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520293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부안군은 인구감소지역 지정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560527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행안부 평가, 시설→인구유입 전환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2416" y="600760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전북도 소멸대응 사업 우선 반영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55664" y="2514600"/>
            <a:ext cx="5431536" cy="3931920"/>
          </a:xfrm>
          <a:prstGeom prst="roundRect">
            <a:avLst>
              <a:gd name="adj" fmla="val 2791"/>
            </a:avLst>
          </a:prstGeom>
          <a:solidFill>
            <a:srgbClr val="4A6B4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88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369296" y="2788920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9296" y="278892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6B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319272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국비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858000" y="3849624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4천만원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858000" y="4617720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시 축제당 국비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5038344"/>
            <a:ext cx="4626864" cy="0"/>
          </a:xfrm>
          <a:prstGeom prst="line">
            <a:avLst/>
          </a:prstGeom>
          <a:noFill/>
          <a:ln w="12700">
            <a:solidFill>
              <a:srgbClr val="4A6B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520293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2026~2027 전국 27개 선정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560527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한국관광공사 홍보 · 마케팅 지원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600760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예비 글로벌축제 승격 시 증액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271248" y="2514600"/>
            <a:ext cx="5431536" cy="3931920"/>
          </a:xfrm>
          <a:prstGeom prst="roundRect">
            <a:avLst>
              <a:gd name="adj" fmla="val 2791"/>
            </a:avLst>
          </a:prstGeom>
          <a:solidFill>
            <a:srgbClr val="4A6B40"/>
          </a:solidFill>
          <a:ln/>
        </p:spPr>
      </p:sp>
      <p:sp>
        <p:nvSpPr>
          <p:cNvPr id="34" name="Text 32"/>
          <p:cNvSpPr/>
          <p:nvPr/>
        </p:nvSpPr>
        <p:spPr>
          <a:xfrm>
            <a:off x="12673584" y="2788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6184880" y="2788920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6184880" y="278892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6B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73584" y="3319272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2673584" y="3849624"/>
            <a:ext cx="4626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12673584" y="4617720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· 프랜차이즈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2673584" y="5038344"/>
            <a:ext cx="4626864" cy="0"/>
          </a:xfrm>
          <a:prstGeom prst="line">
            <a:avLst/>
          </a:prstGeom>
          <a:noFill/>
          <a:ln w="12700">
            <a:solidFill>
              <a:srgbClr val="4A6B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73584" y="520293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참프레 (부안 소재 · 최우선)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673584" y="560527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하림 · BBQ · bhc · 교촌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673584" y="600760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ESG · 신제품 마케팅 수요 연계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" y="6647688"/>
            <a:ext cx="17007840" cy="804672"/>
          </a:xfrm>
          <a:prstGeom prst="roundRect">
            <a:avLst>
              <a:gd name="adj" fmla="val 11364"/>
            </a:avLst>
          </a:prstGeom>
          <a:solidFill>
            <a:srgbClr val="FBEAE8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6647688"/>
            <a:ext cx="17007840" cy="804672"/>
          </a:xfrm>
          <a:prstGeom prst="roundRect">
            <a:avLst>
              <a:gd name="adj" fmla="val 11364"/>
            </a:avLst>
          </a:prstGeom>
          <a:ln w="2222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2416" y="664768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오해 정정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017520" y="6647688"/>
            <a:ext cx="14228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문화관광축제로 선정돼도 국비는 축제당 4천만원입니다. 대구 치맥페스티벌조차 예비 글로벌축제 선정으로 2.5억원을 추가 지원받는 수준입니다.  →  "국비 50% 지원"은 존재하지 않는 재원입니다.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전북특별자치도(2026) · 문화체육관광부(2026.1) · 행정안전부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5.2  예산 계획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초년도 총사업비는 이미 확보된 기금으로 충당 가능한 규모로 설계했습니다.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4937760" cy="5074920"/>
          </a:xfrm>
          <a:prstGeom prst="roundRect">
            <a:avLst>
              <a:gd name="adj" fmla="val 2222"/>
            </a:avLst>
          </a:prstGeom>
          <a:solidFill>
            <a:srgbClr val="3350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초년도 총사업비 (개산)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0704" y="330098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18억원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060704" y="4325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~ 20억원 규모 · 2028년 제1회 기준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0704" y="4837176"/>
            <a:ext cx="4096512" cy="0"/>
          </a:xfrm>
          <a:prstGeom prst="line">
            <a:avLst/>
          </a:prstGeom>
          <a:noFill/>
          <a:ln w="15875">
            <a:solidFill>
              <a:srgbClr val="4A6B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5175504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17" name="Text 15"/>
          <p:cNvSpPr/>
          <p:nvPr/>
        </p:nvSpPr>
        <p:spPr>
          <a:xfrm>
            <a:off x="1408176" y="5056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연 배분 규모 내 충당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78992" y="5870448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19" name="Text 17"/>
          <p:cNvSpPr/>
          <p:nvPr/>
        </p:nvSpPr>
        <p:spPr>
          <a:xfrm>
            <a:off x="1408176" y="57515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대규모 국비 없이 실행 가능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78992" y="6565392"/>
            <a:ext cx="137160" cy="13716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21" name="Text 19"/>
          <p:cNvSpPr/>
          <p:nvPr/>
        </p:nvSpPr>
        <p:spPr>
          <a:xfrm>
            <a:off x="1408176" y="6446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회차별 성과 검증 후 단계적 확대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0" y="2514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배분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0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 · 콘텐츠 운영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6.3억 · 35%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353872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EEF4E7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353872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33502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023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무대 · 시설 · 설치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5520" y="4023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4.5억 · 25%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440740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EEF4E7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4407408"/>
            <a:ext cx="4245429" cy="237744"/>
          </a:xfrm>
          <a:prstGeom prst="roundRect">
            <a:avLst>
              <a:gd name="adj" fmla="val 19231"/>
            </a:avLst>
          </a:prstGeom>
          <a:solidFill>
            <a:srgbClr val="5A9E4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8920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· 마케팅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0" y="4892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3.2억 · 18%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527608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EEF4E7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0" y="5276088"/>
            <a:ext cx="3056709" cy="237744"/>
          </a:xfrm>
          <a:prstGeom prst="roundRect">
            <a:avLst>
              <a:gd name="adj" fmla="val 19231"/>
            </a:avLst>
          </a:prstGeom>
          <a:solidFill>
            <a:srgbClr val="5A9E43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57607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· 의료 · 보험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75520" y="5760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2.2억 · 12%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43600" y="614476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EEF4E7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6144768"/>
            <a:ext cx="2037806" cy="237744"/>
          </a:xfrm>
          <a:prstGeom prst="roundRect">
            <a:avLst>
              <a:gd name="adj" fmla="val 19231"/>
            </a:avLst>
          </a:prstGeom>
          <a:solidFill>
            <a:srgbClr val="5A9E43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6629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· 인건비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75520" y="66294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1.8억 · 10%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43600" y="7013448"/>
            <a:ext cx="5943600" cy="237744"/>
          </a:xfrm>
          <a:prstGeom prst="roundRect">
            <a:avLst>
              <a:gd name="adj" fmla="val 19231"/>
            </a:avLst>
          </a:prstGeom>
          <a:solidFill>
            <a:srgbClr val="EEF4E7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0" y="7013448"/>
            <a:ext cx="1698171" cy="237744"/>
          </a:xfrm>
          <a:prstGeom prst="roundRect">
            <a:avLst>
              <a:gd name="adj" fmla="val 19231"/>
            </a:avLst>
          </a:prstGeom>
          <a:solidFill>
            <a:srgbClr val="5A9E4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252960" y="251460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618720" y="2788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재원 매칭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2618720" y="333756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801600" y="3483864"/>
            <a:ext cx="786384" cy="329184"/>
          </a:xfrm>
          <a:prstGeom prst="roundRect">
            <a:avLst>
              <a:gd name="adj" fmla="val 19444"/>
            </a:avLst>
          </a:prstGeom>
          <a:solidFill>
            <a:srgbClr val="33502E"/>
          </a:solidFill>
          <a:ln/>
        </p:spPr>
      </p:sp>
      <p:sp>
        <p:nvSpPr>
          <p:cNvPr id="47" name="Text 45"/>
          <p:cNvSpPr/>
          <p:nvPr/>
        </p:nvSpPr>
        <p:spPr>
          <a:xfrm>
            <a:off x="12801600" y="34838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주력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3716000" y="3337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2618720" y="416052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801600" y="4306824"/>
            <a:ext cx="786384" cy="329184"/>
          </a:xfrm>
          <a:prstGeom prst="roundRect">
            <a:avLst>
              <a:gd name="adj" fmla="val 19444"/>
            </a:avLst>
          </a:prstGeom>
          <a:solidFill>
            <a:srgbClr val="5A9E43"/>
          </a:solidFill>
          <a:ln/>
        </p:spPr>
      </p:sp>
      <p:sp>
        <p:nvSpPr>
          <p:cNvPr id="51" name="Text 49"/>
          <p:cNvSpPr/>
          <p:nvPr/>
        </p:nvSpPr>
        <p:spPr>
          <a:xfrm>
            <a:off x="12801600" y="43068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716000" y="41605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전북도비 매칭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2618720" y="498348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801600" y="5129784"/>
            <a:ext cx="786384" cy="329184"/>
          </a:xfrm>
          <a:prstGeom prst="roundRect">
            <a:avLst>
              <a:gd name="adj" fmla="val 19444"/>
            </a:avLst>
          </a:prstGeom>
          <a:solidFill>
            <a:srgbClr val="4A6B40"/>
          </a:solidFill>
          <a:ln/>
        </p:spPr>
      </p:sp>
      <p:sp>
        <p:nvSpPr>
          <p:cNvPr id="55" name="Text 53"/>
          <p:cNvSpPr/>
          <p:nvPr/>
        </p:nvSpPr>
        <p:spPr>
          <a:xfrm>
            <a:off x="12801600" y="51297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3716000" y="49834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국비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2618720" y="580644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801600" y="5952744"/>
            <a:ext cx="786384" cy="329184"/>
          </a:xfrm>
          <a:prstGeom prst="roundRect">
            <a:avLst>
              <a:gd name="adj" fmla="val 19444"/>
            </a:avLst>
          </a:prstGeom>
          <a:solidFill>
            <a:srgbClr val="4A6B40"/>
          </a:solidFill>
          <a:ln/>
        </p:spPr>
      </p:sp>
      <p:sp>
        <p:nvSpPr>
          <p:cNvPr id="59" name="Text 57"/>
          <p:cNvSpPr/>
          <p:nvPr/>
        </p:nvSpPr>
        <p:spPr>
          <a:xfrm>
            <a:off x="12801600" y="59527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3716000" y="58064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(참프레 등)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2618720" y="662940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801600" y="6775704"/>
            <a:ext cx="786384" cy="329184"/>
          </a:xfrm>
          <a:prstGeom prst="roundRect">
            <a:avLst>
              <a:gd name="adj" fmla="val 19444"/>
            </a:avLst>
          </a:prstGeom>
          <a:solidFill>
            <a:srgbClr val="4A6B40"/>
          </a:solidFill>
          <a:ln/>
        </p:spPr>
      </p:sp>
      <p:sp>
        <p:nvSpPr>
          <p:cNvPr id="63" name="Text 61"/>
          <p:cNvSpPr/>
          <p:nvPr/>
        </p:nvSpPr>
        <p:spPr>
          <a:xfrm>
            <a:off x="12801600" y="67757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3716000" y="66294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자체수입 (입점료 · 수수료)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66" name="Shape 64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67" name="Text 65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총사업비의 대부분을 이미 확보된 기금으로 충당합니다. 신규 대규모 국비 없이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지자체 문화관광축제 표준 산정 준용 · 확정 예산은 실행계획 단계에서 확정(개산 기준)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5.3  추진 체계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민관이 함께, 각자 가장 잘하는 일을 맡습니다.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34056"/>
            <a:ext cx="128016" cy="1810512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70632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70832" y="2807208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335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2807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주최 · 총괄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3575304"/>
            <a:ext cx="4700016" cy="0"/>
          </a:xfrm>
          <a:prstGeom prst="line">
            <a:avLst/>
          </a:prstGeom>
          <a:noFill/>
          <a:ln w="15875">
            <a:solidFill>
              <a:srgbClr val="5A9E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384048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3721608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편성 · 인허가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24128" y="4169664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0" name="Text 18"/>
          <p:cNvSpPr/>
          <p:nvPr/>
        </p:nvSpPr>
        <p:spPr>
          <a:xfrm>
            <a:off x="1353312" y="405079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안전관리 · 부지 제공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024128" y="449884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312" y="437997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투자계획 반영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55664" y="2514600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25400">
            <a:solidFill>
              <a:srgbClr val="5A9E43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2734056"/>
            <a:ext cx="128016" cy="1810512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25" name="Text 23"/>
          <p:cNvSpPr/>
          <p:nvPr/>
        </p:nvSpPr>
        <p:spPr>
          <a:xfrm>
            <a:off x="6821424" y="2770632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부안군대표축제추진위원회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186416" y="2807208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3350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2807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 · 운영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21424" y="3575304"/>
            <a:ext cx="4700016" cy="0"/>
          </a:xfrm>
          <a:prstGeom prst="line">
            <a:avLst/>
          </a:prstGeom>
          <a:noFill/>
          <a:ln w="15875">
            <a:solidFill>
              <a:srgbClr val="5A9E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3840480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0" name="Text 28"/>
          <p:cNvSpPr/>
          <p:nvPr/>
        </p:nvSpPr>
        <p:spPr>
          <a:xfrm>
            <a:off x="7168896" y="3721608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 기획 · 현장 운영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839712" y="4169664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2" name="Text 30"/>
          <p:cNvSpPr/>
          <p:nvPr/>
        </p:nvSpPr>
        <p:spPr>
          <a:xfrm>
            <a:off x="7168896" y="405079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마실축제 운영 노하우 승계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839712" y="449884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4" name="Text 32"/>
          <p:cNvSpPr/>
          <p:nvPr/>
        </p:nvSpPr>
        <p:spPr>
          <a:xfrm>
            <a:off x="7168896" y="437997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자원봉사 · 인력 풀 가동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12271248" y="2514600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2271248" y="2734056"/>
            <a:ext cx="128016" cy="1810512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37" name="Text 35"/>
          <p:cNvSpPr/>
          <p:nvPr/>
        </p:nvSpPr>
        <p:spPr>
          <a:xfrm>
            <a:off x="12637008" y="2770632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전북특별자치도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6002000" y="2807208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4A6B40"/>
          </a:solidFill>
          <a:ln/>
        </p:spPr>
      </p:sp>
      <p:sp>
        <p:nvSpPr>
          <p:cNvPr id="39" name="Text 37"/>
          <p:cNvSpPr/>
          <p:nvPr/>
        </p:nvSpPr>
        <p:spPr>
          <a:xfrm>
            <a:off x="16002000" y="2807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· 연계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2637008" y="3575304"/>
            <a:ext cx="470001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655296" y="3840480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42" name="Text 40"/>
          <p:cNvSpPr/>
          <p:nvPr/>
        </p:nvSpPr>
        <p:spPr>
          <a:xfrm>
            <a:off x="12984480" y="3721608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도비 매칭 · 광역 홍보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12655296" y="4169664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44" name="Text 42"/>
          <p:cNvSpPr/>
          <p:nvPr/>
        </p:nvSpPr>
        <p:spPr>
          <a:xfrm>
            <a:off x="12984480" y="405079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거점 연계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12655296" y="4498848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46" name="Text 44"/>
          <p:cNvSpPr/>
          <p:nvPr/>
        </p:nvSpPr>
        <p:spPr>
          <a:xfrm>
            <a:off x="12984480" y="437997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익산 치킨로드 광역 코스화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40080" y="5038344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" y="5257800"/>
            <a:ext cx="128016" cy="1810512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529437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4370832" y="5330952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4A6B40"/>
          </a:solidFill>
          <a:ln/>
        </p:spPr>
      </p:sp>
      <p:sp>
        <p:nvSpPr>
          <p:cNvPr id="51" name="Text 49"/>
          <p:cNvSpPr/>
          <p:nvPr/>
        </p:nvSpPr>
        <p:spPr>
          <a:xfrm>
            <a:off x="4370832" y="5330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파트너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05840" y="6099048"/>
            <a:ext cx="470001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28" y="6364224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54" name="Text 52"/>
          <p:cNvSpPr/>
          <p:nvPr/>
        </p:nvSpPr>
        <p:spPr>
          <a:xfrm>
            <a:off x="1353312" y="624535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견학관 연계 · 셔틀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1024128" y="6693408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56" name="Text 54"/>
          <p:cNvSpPr/>
          <p:nvPr/>
        </p:nvSpPr>
        <p:spPr>
          <a:xfrm>
            <a:off x="1353312" y="657453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동물복지 · 시식 콘텐츠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1024128" y="7022592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58" name="Text 56"/>
          <p:cNvSpPr/>
          <p:nvPr/>
        </p:nvSpPr>
        <p:spPr>
          <a:xfrm>
            <a:off x="1353312" y="690372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· 마케팅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6455664" y="5038344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55664" y="5257800"/>
            <a:ext cx="128016" cy="1810512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61" name="Text 59"/>
          <p:cNvSpPr/>
          <p:nvPr/>
        </p:nvSpPr>
        <p:spPr>
          <a:xfrm>
            <a:off x="6821424" y="529437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농식품부 · 문체부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10186416" y="5330952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4A6B40"/>
          </a:solidFill>
          <a:ln/>
        </p:spPr>
      </p:sp>
      <p:sp>
        <p:nvSpPr>
          <p:cNvPr id="63" name="Text 61"/>
          <p:cNvSpPr/>
          <p:nvPr/>
        </p:nvSpPr>
        <p:spPr>
          <a:xfrm>
            <a:off x="10186416" y="5330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· 인증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821424" y="6099048"/>
            <a:ext cx="470001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39712" y="6364224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66" name="Text 64"/>
          <p:cNvSpPr/>
          <p:nvPr/>
        </p:nvSpPr>
        <p:spPr>
          <a:xfrm>
            <a:off x="7168896" y="624535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K-미식벨트 거점 등재</a:t>
            </a:r>
            <a:endParaRPr lang="en-US" sz="1450" dirty="0"/>
          </a:p>
        </p:txBody>
      </p:sp>
      <p:sp>
        <p:nvSpPr>
          <p:cNvPr id="67" name="Shape 65"/>
          <p:cNvSpPr/>
          <p:nvPr/>
        </p:nvSpPr>
        <p:spPr>
          <a:xfrm>
            <a:off x="6839712" y="6693408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68" name="Text 66"/>
          <p:cNvSpPr/>
          <p:nvPr/>
        </p:nvSpPr>
        <p:spPr>
          <a:xfrm>
            <a:off x="7168896" y="657453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문화관광축제 지정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6839712" y="7022592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70" name="Text 68"/>
          <p:cNvSpPr/>
          <p:nvPr/>
        </p:nvSpPr>
        <p:spPr>
          <a:xfrm>
            <a:off x="7168896" y="690372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국비 · 마케팅 지원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12271248" y="5038344"/>
            <a:ext cx="5431536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  <a:effectLst>
            <a:outerShdw sx="100000" sy="100000" kx="0" ky="0" algn="bl" rotWithShape="0" blurRad="114300" dist="38100" dir="5400000">
              <a:srgbClr val="33502E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2271248" y="5257800"/>
            <a:ext cx="128016" cy="1810512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73" name="Text 71"/>
          <p:cNvSpPr/>
          <p:nvPr/>
        </p:nvSpPr>
        <p:spPr>
          <a:xfrm>
            <a:off x="12637008" y="529437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· 상인 · 농가</a:t>
            </a:r>
            <a:endParaRPr lang="en-US" sz="1900" dirty="0"/>
          </a:p>
        </p:txBody>
      </p:sp>
      <p:sp>
        <p:nvSpPr>
          <p:cNvPr id="74" name="Shape 72"/>
          <p:cNvSpPr/>
          <p:nvPr/>
        </p:nvSpPr>
        <p:spPr>
          <a:xfrm>
            <a:off x="16002000" y="5330952"/>
            <a:ext cx="1371600" cy="402336"/>
          </a:xfrm>
          <a:prstGeom prst="roundRect">
            <a:avLst>
              <a:gd name="adj" fmla="val 15909"/>
            </a:avLst>
          </a:prstGeom>
          <a:solidFill>
            <a:srgbClr val="4A6B40"/>
          </a:solidFill>
          <a:ln/>
        </p:spPr>
      </p:sp>
      <p:sp>
        <p:nvSpPr>
          <p:cNvPr id="75" name="Text 73"/>
          <p:cNvSpPr/>
          <p:nvPr/>
        </p:nvSpPr>
        <p:spPr>
          <a:xfrm>
            <a:off x="16002000" y="5330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주체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2637008" y="6099048"/>
            <a:ext cx="4700016" cy="0"/>
          </a:xfrm>
          <a:prstGeom prst="line">
            <a:avLst/>
          </a:prstGeom>
          <a:noFill/>
          <a:ln w="15875">
            <a:solidFill>
              <a:srgbClr val="CBDDB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655296" y="6364224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78" name="Text 76"/>
          <p:cNvSpPr/>
          <p:nvPr/>
        </p:nvSpPr>
        <p:spPr>
          <a:xfrm>
            <a:off x="12984480" y="624535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부스 · 먹거리 참여</a:t>
            </a:r>
            <a:endParaRPr lang="en-US" sz="1450" dirty="0"/>
          </a:p>
        </p:txBody>
      </p:sp>
      <p:sp>
        <p:nvSpPr>
          <p:cNvPr id="79" name="Shape 77"/>
          <p:cNvSpPr/>
          <p:nvPr/>
        </p:nvSpPr>
        <p:spPr>
          <a:xfrm>
            <a:off x="12655296" y="6693408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80" name="Text 78"/>
          <p:cNvSpPr/>
          <p:nvPr/>
        </p:nvSpPr>
        <p:spPr>
          <a:xfrm>
            <a:off x="12984480" y="6574536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농특산물 직거래</a:t>
            </a:r>
            <a:endParaRPr lang="en-US" sz="1450" dirty="0"/>
          </a:p>
        </p:txBody>
      </p:sp>
      <p:sp>
        <p:nvSpPr>
          <p:cNvPr id="81" name="Shape 79"/>
          <p:cNvSpPr/>
          <p:nvPr/>
        </p:nvSpPr>
        <p:spPr>
          <a:xfrm>
            <a:off x="12655296" y="7022592"/>
            <a:ext cx="137160" cy="137160"/>
          </a:xfrm>
          <a:prstGeom prst="rect">
            <a:avLst/>
          </a:prstGeom>
          <a:solidFill>
            <a:srgbClr val="7FB25E"/>
          </a:solidFill>
          <a:ln/>
        </p:spPr>
      </p:sp>
      <p:sp>
        <p:nvSpPr>
          <p:cNvPr id="82" name="Text 80"/>
          <p:cNvSpPr/>
          <p:nvPr/>
        </p:nvSpPr>
        <p:spPr>
          <a:xfrm>
            <a:off x="12984480" y="690372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소득의 지역 환류</a:t>
            </a:r>
            <a:endParaRPr lang="en-US" sz="1450" dirty="0"/>
          </a:p>
        </p:txBody>
      </p:sp>
      <p:sp>
        <p:nvSpPr>
          <p:cNvPr id="83" name="Shape 81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84" name="Shape 82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85" name="Text 83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부안군이 이끌고, 참프레와 주민이 채우고, 도와 정부가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뒷받침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5.4  추진 일정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지방소멸대응기금 투자계획은 매년 6~7월 제출. 지금 시작해야 2028년에 열립니다.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4059936" cy="713232"/>
          </a:xfrm>
          <a:prstGeom prst="roundRect">
            <a:avLst>
              <a:gd name="adj" fmla="val 12821"/>
            </a:avLst>
          </a:prstGeom>
          <a:solidFill>
            <a:srgbClr val="5A9E4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하반기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4059936" cy="2194560"/>
          </a:xfrm>
          <a:prstGeom prst="roundRect">
            <a:avLst>
              <a:gd name="adj" fmla="val 416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94176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5" name="Text 13"/>
          <p:cNvSpPr/>
          <p:nvPr/>
        </p:nvSpPr>
        <p:spPr>
          <a:xfrm>
            <a:off x="1243584" y="3575304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기본계획 수립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370832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7" name="Text 15"/>
          <p:cNvSpPr/>
          <p:nvPr/>
        </p:nvSpPr>
        <p:spPr>
          <a:xfrm>
            <a:off x="1243584" y="425196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MOU 체결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04748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9" name="Text 17"/>
          <p:cNvSpPr/>
          <p:nvPr/>
        </p:nvSpPr>
        <p:spPr>
          <a:xfrm>
            <a:off x="1243584" y="4928616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추진위 확대 구성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2752344"/>
            <a:ext cx="237744" cy="237744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6048" y="2514600"/>
            <a:ext cx="4059936" cy="713232"/>
          </a:xfrm>
          <a:prstGeom prst="roundRect">
            <a:avLst>
              <a:gd name="adj" fmla="val 12821"/>
            </a:avLst>
          </a:prstGeom>
          <a:solidFill>
            <a:srgbClr val="5A9E43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2514600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상반기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956048" y="3355848"/>
            <a:ext cx="4059936" cy="2194560"/>
          </a:xfrm>
          <a:prstGeom prst="roundRect">
            <a:avLst>
              <a:gd name="adj" fmla="val 416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0368" y="3694176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5" name="Text 23"/>
          <p:cNvSpPr/>
          <p:nvPr/>
        </p:nvSpPr>
        <p:spPr>
          <a:xfrm>
            <a:off x="5559552" y="3575304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 검토 · 프로그램 설계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0368" y="4370832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7" name="Text 25"/>
          <p:cNvSpPr/>
          <p:nvPr/>
        </p:nvSpPr>
        <p:spPr>
          <a:xfrm>
            <a:off x="5559552" y="425196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거점 등재 신청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0368" y="5047488"/>
            <a:ext cx="137160" cy="137160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29" name="Text 27"/>
          <p:cNvSpPr/>
          <p:nvPr/>
        </p:nvSpPr>
        <p:spPr>
          <a:xfrm>
            <a:off x="5559552" y="4928616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6~7월 기금 투자계획(안) 제출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25128" y="2752344"/>
            <a:ext cx="237744" cy="237744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31" name="Shape 29"/>
          <p:cNvSpPr/>
          <p:nvPr/>
        </p:nvSpPr>
        <p:spPr>
          <a:xfrm>
            <a:off x="9272016" y="2514600"/>
            <a:ext cx="4059936" cy="713232"/>
          </a:xfrm>
          <a:prstGeom prst="roundRect">
            <a:avLst>
              <a:gd name="adj" fmla="val 12821"/>
            </a:avLst>
          </a:prstGeom>
          <a:solidFill>
            <a:srgbClr val="4A6B40"/>
          </a:solidFill>
          <a:ln/>
        </p:spPr>
      </p:sp>
      <p:sp>
        <p:nvSpPr>
          <p:cNvPr id="32" name="Text 30"/>
          <p:cNvSpPr/>
          <p:nvPr/>
        </p:nvSpPr>
        <p:spPr>
          <a:xfrm>
            <a:off x="9272016" y="2514600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하반기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272016" y="3355848"/>
            <a:ext cx="4059936" cy="2194560"/>
          </a:xfrm>
          <a:prstGeom prst="roundRect">
            <a:avLst>
              <a:gd name="adj" fmla="val 416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46336" y="3694176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3575304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대응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46336" y="4370832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0" y="425196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협찬 확정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546336" y="5047488"/>
            <a:ext cx="137160" cy="137160"/>
          </a:xfrm>
          <a:prstGeom prst="rect">
            <a:avLst/>
          </a:prstGeom>
          <a:solidFill>
            <a:srgbClr val="4A6B40"/>
          </a:solidFill>
          <a:ln/>
        </p:spPr>
      </p:sp>
      <p:sp>
        <p:nvSpPr>
          <p:cNvPr id="39" name="Text 37"/>
          <p:cNvSpPr/>
          <p:nvPr/>
        </p:nvSpPr>
        <p:spPr>
          <a:xfrm>
            <a:off x="9875520" y="4928616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12월 배분금액 확정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341096" y="2752344"/>
            <a:ext cx="237744" cy="237744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41" name="Shape 39"/>
          <p:cNvSpPr/>
          <p:nvPr/>
        </p:nvSpPr>
        <p:spPr>
          <a:xfrm>
            <a:off x="13587984" y="2514600"/>
            <a:ext cx="4059936" cy="713232"/>
          </a:xfrm>
          <a:prstGeom prst="roundRect">
            <a:avLst>
              <a:gd name="adj" fmla="val 12821"/>
            </a:avLst>
          </a:prstGeom>
          <a:solidFill>
            <a:srgbClr val="33502E"/>
          </a:solidFill>
          <a:ln/>
        </p:spPr>
      </p:sp>
      <p:sp>
        <p:nvSpPr>
          <p:cNvPr id="42" name="Text 40"/>
          <p:cNvSpPr/>
          <p:nvPr/>
        </p:nvSpPr>
        <p:spPr>
          <a:xfrm>
            <a:off x="13587984" y="2514600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3587984" y="3355848"/>
            <a:ext cx="4059936" cy="2194560"/>
          </a:xfrm>
          <a:prstGeom prst="roundRect">
            <a:avLst>
              <a:gd name="adj" fmla="val 4167"/>
            </a:avLst>
          </a:prstGeom>
          <a:solidFill>
            <a:srgbClr val="EEF4E7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862304" y="3694176"/>
            <a:ext cx="137160" cy="13716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45" name="Text 43"/>
          <p:cNvSpPr/>
          <p:nvPr/>
        </p:nvSpPr>
        <p:spPr>
          <a:xfrm>
            <a:off x="14191488" y="3575304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실행계획 · 안전관리계획 수립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3862304" y="4370832"/>
            <a:ext cx="137160" cy="137160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47" name="Text 45"/>
          <p:cNvSpPr/>
          <p:nvPr/>
        </p:nvSpPr>
        <p:spPr>
          <a:xfrm>
            <a:off x="14191488" y="425196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10월 제1회 부안 닭축제 개최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" y="5943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단계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080" y="6355080"/>
            <a:ext cx="17007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DB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6355080"/>
            <a:ext cx="17007840" cy="438912"/>
          </a:xfrm>
          <a:prstGeom prst="roundRect">
            <a:avLst>
              <a:gd name="adj" fmla="val 12500"/>
            </a:avLst>
          </a:prstGeom>
          <a:ln w="12700">
            <a:solidFill>
              <a:srgbClr val="CBDD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6355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2029 ~ 2030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931920" y="6355080"/>
            <a:ext cx="1335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~ 3회차 개최 / 문화관광축제 지정 신청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080" y="6867144"/>
            <a:ext cx="17007840" cy="438912"/>
          </a:xfrm>
          <a:prstGeom prst="roundRect">
            <a:avLst>
              <a:gd name="adj" fmla="val 12500"/>
            </a:avLst>
          </a:prstGeom>
          <a:solidFill>
            <a:srgbClr val="EEF4E7"/>
          </a:solidFill>
          <a:ln w="12700">
            <a:solidFill>
              <a:srgbClr val="CBDDB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6867144"/>
            <a:ext cx="17007840" cy="438912"/>
          </a:xfrm>
          <a:prstGeom prst="roundRect">
            <a:avLst>
              <a:gd name="adj" fmla="val 12500"/>
            </a:avLst>
          </a:prstGeom>
          <a:ln w="12700">
            <a:solidFill>
              <a:srgbClr val="CBDD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68671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2031 ~ 2033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931920" y="6867144"/>
            <a:ext cx="1335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상설 콘텐츠화 / K-치킨벨트 대표 거점 확립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080" y="7379208"/>
            <a:ext cx="17007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D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" y="7379208"/>
            <a:ext cx="17007840" cy="438912"/>
          </a:xfrm>
          <a:prstGeom prst="roundRect">
            <a:avLst>
              <a:gd name="adj" fmla="val 12500"/>
            </a:avLst>
          </a:prstGeom>
          <a:ln w="12700">
            <a:solidFill>
              <a:srgbClr val="CBDD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7379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2034 ~ 2035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931920" y="7379208"/>
            <a:ext cx="1335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국제화 단계 검토 / 해외 관광객 유치 본격화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62" name="Shape 60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63" name="Text 61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시작해야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열립니다.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운영 절차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 치킨벨트의 완성, 부안 닭축제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420624" cy="420624"/>
          </a:xfrm>
          <a:prstGeom prst="rect">
            <a:avLst/>
          </a:prstGeom>
          <a:solidFill>
            <a:srgbClr val="33502E"/>
          </a:solidFill>
          <a:ln/>
        </p:spPr>
      </p:sp>
      <p:sp>
        <p:nvSpPr>
          <p:cNvPr id="6" name="Text 4"/>
          <p:cNvSpPr/>
          <p:nvPr/>
        </p:nvSpPr>
        <p:spPr>
          <a:xfrm>
            <a:off x="1243584" y="640080"/>
            <a:ext cx="1188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5.5  기대효과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97864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17007840" cy="0"/>
          </a:xfrm>
          <a:prstGeom prst="line">
            <a:avLst/>
          </a:prstGeom>
          <a:noFill/>
          <a:ln w="15875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44168"/>
            <a:ext cx="2926080" cy="64008"/>
          </a:xfrm>
          <a:prstGeom prst="rect">
            <a:avLst/>
          </a:prstGeom>
          <a:solidFill>
            <a:srgbClr val="5A9E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 수가 아니라, 체류인구 증가가 목표입니다.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96926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CBDD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88920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행정안전부 기금 평가기준  ↔  부안 닭축제 KPI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42416" y="34290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EF4E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29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</a:t>
            </a:r>
            <a:endParaRPr lang="en-US" sz="17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정주 · 체류인구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17136" y="3831336"/>
            <a:ext cx="384048" cy="29260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3429000"/>
            <a:ext cx="4809744" cy="1097280"/>
          </a:xfrm>
          <a:prstGeom prst="roundRect">
            <a:avLst>
              <a:gd name="adj" fmla="val 8333"/>
            </a:avLst>
          </a:prstGeom>
          <a:solidFill>
            <a:srgbClr val="F4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358384" y="3429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체류인구 전년 대비 증가율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기간 생활인구 순증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2416" y="47548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EF4E7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754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· 일자리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17136" y="5157216"/>
            <a:ext cx="384048" cy="29260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4754880"/>
            <a:ext cx="4809744" cy="1097280"/>
          </a:xfrm>
          <a:prstGeom prst="roundRect">
            <a:avLst>
              <a:gd name="adj" fmla="val 8333"/>
            </a:avLst>
          </a:prstGeom>
          <a:solidFill>
            <a:srgbClr val="F4F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358384" y="4754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연계 신규 고용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협력 농가 소득 변화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2416" y="60807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EF4E7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6080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마을공동체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17136" y="6483096"/>
            <a:ext cx="384048" cy="292608"/>
          </a:xfrm>
          <a:prstGeom prst="rightArrow">
            <a:avLst/>
          </a:prstGeom>
          <a:solidFill>
            <a:srgbClr val="5A9E43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0" y="6080760"/>
            <a:ext cx="4809744" cy="1097280"/>
          </a:xfrm>
          <a:prstGeom prst="roundRect">
            <a:avLst>
              <a:gd name="adj" fmla="val 8333"/>
            </a:avLst>
          </a:prstGeom>
          <a:solidFill>
            <a:srgbClr val="F4F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358384" y="60807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 참여 부스 수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자원봉사 참여율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35056" y="2514600"/>
            <a:ext cx="6912864" cy="5074920"/>
          </a:xfrm>
          <a:prstGeom prst="roundRect">
            <a:avLst>
              <a:gd name="adj" fmla="val 2162"/>
            </a:avLst>
          </a:prstGeom>
          <a:solidFill>
            <a:srgbClr val="33502E"/>
          </a:solidFill>
          <a:ln/>
        </p:spPr>
      </p:sp>
      <p:sp>
        <p:nvSpPr>
          <p:cNvPr id="29" name="Text 27"/>
          <p:cNvSpPr/>
          <p:nvPr/>
        </p:nvSpPr>
        <p:spPr>
          <a:xfrm>
            <a:off x="11137392" y="2788920"/>
            <a:ext cx="6108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선순환 구조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1192256" y="3383280"/>
            <a:ext cx="5998464" cy="566928"/>
          </a:xfrm>
          <a:prstGeom prst="roundRect">
            <a:avLst>
              <a:gd name="adj" fmla="val 14516"/>
            </a:avLst>
          </a:prstGeom>
          <a:solidFill>
            <a:srgbClr val="5A9E43"/>
          </a:solidFill>
          <a:ln/>
        </p:spPr>
      </p:sp>
      <p:sp>
        <p:nvSpPr>
          <p:cNvPr id="31" name="Text 29"/>
          <p:cNvSpPr/>
          <p:nvPr/>
        </p:nvSpPr>
        <p:spPr>
          <a:xfrm>
            <a:off x="11192256" y="3383280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축제 개최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090904" y="3968496"/>
            <a:ext cx="201168" cy="146304"/>
          </a:xfrm>
          <a:prstGeom prst="downArrow">
            <a:avLst/>
          </a:prstGeom>
          <a:solidFill>
            <a:srgbClr val="4A6B4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192256" y="4169664"/>
            <a:ext cx="5998464" cy="566928"/>
          </a:xfrm>
          <a:prstGeom prst="roundRect">
            <a:avLst>
              <a:gd name="adj" fmla="val 14516"/>
            </a:avLst>
          </a:prstGeom>
          <a:solidFill>
            <a:srgbClr val="5A9E43"/>
          </a:solidFill>
          <a:ln/>
        </p:spPr>
      </p:sp>
      <p:sp>
        <p:nvSpPr>
          <p:cNvPr id="34" name="Text 32"/>
          <p:cNvSpPr/>
          <p:nvPr/>
        </p:nvSpPr>
        <p:spPr>
          <a:xfrm>
            <a:off x="11192256" y="4169664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체류인구 증가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090904" y="4754880"/>
            <a:ext cx="201168" cy="146304"/>
          </a:xfrm>
          <a:prstGeom prst="downArrow">
            <a:avLst/>
          </a:prstGeom>
          <a:solidFill>
            <a:srgbClr val="4A6B4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92256" y="4956048"/>
            <a:ext cx="5998464" cy="566928"/>
          </a:xfrm>
          <a:prstGeom prst="roundRect">
            <a:avLst>
              <a:gd name="adj" fmla="val 14516"/>
            </a:avLst>
          </a:prstGeom>
          <a:solidFill>
            <a:srgbClr val="5A9E43"/>
          </a:solidFill>
          <a:ln/>
        </p:spPr>
      </p:sp>
      <p:sp>
        <p:nvSpPr>
          <p:cNvPr id="37" name="Text 35"/>
          <p:cNvSpPr/>
          <p:nvPr/>
        </p:nvSpPr>
        <p:spPr>
          <a:xfrm>
            <a:off x="11192256" y="4956048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기금 평가 상승 → 배분액 증가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090904" y="5541264"/>
            <a:ext cx="201168" cy="146304"/>
          </a:xfrm>
          <a:prstGeom prst="downArrow">
            <a:avLst/>
          </a:prstGeom>
          <a:solidFill>
            <a:srgbClr val="4A6B4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92256" y="5742432"/>
            <a:ext cx="5998464" cy="566928"/>
          </a:xfrm>
          <a:prstGeom prst="roundRect">
            <a:avLst>
              <a:gd name="adj" fmla="val 14516"/>
            </a:avLst>
          </a:prstGeom>
          <a:solidFill>
            <a:srgbClr val="5A9E43"/>
          </a:solidFill>
          <a:ln/>
        </p:spPr>
      </p:sp>
      <p:sp>
        <p:nvSpPr>
          <p:cNvPr id="40" name="Text 38"/>
          <p:cNvSpPr/>
          <p:nvPr/>
        </p:nvSpPr>
        <p:spPr>
          <a:xfrm>
            <a:off x="11192256" y="5742432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재투자 · 상설 콘텐츠화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4090904" y="6327648"/>
            <a:ext cx="201168" cy="146304"/>
          </a:xfrm>
          <a:prstGeom prst="downArrow">
            <a:avLst/>
          </a:prstGeom>
          <a:solidFill>
            <a:srgbClr val="4A6B4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92256" y="6528816"/>
            <a:ext cx="5998464" cy="566928"/>
          </a:xfrm>
          <a:prstGeom prst="roundRect">
            <a:avLst>
              <a:gd name="adj" fmla="val 14516"/>
            </a:avLst>
          </a:prstGeom>
          <a:solidFill>
            <a:srgbClr val="8CC63F"/>
          </a:solidFill>
          <a:ln/>
        </p:spPr>
      </p:sp>
      <p:sp>
        <p:nvSpPr>
          <p:cNvPr id="43" name="Text 41"/>
          <p:cNvSpPr/>
          <p:nvPr/>
        </p:nvSpPr>
        <p:spPr>
          <a:xfrm>
            <a:off x="11192256" y="6528816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5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연중 체류인구 증가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" y="8613648"/>
            <a:ext cx="17007840" cy="868680"/>
          </a:xfrm>
          <a:prstGeom prst="roundRect">
            <a:avLst>
              <a:gd name="adj" fmla="val 10526"/>
            </a:avLst>
          </a:prstGeom>
          <a:solidFill>
            <a:srgbClr val="33502E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8778240"/>
            <a:ext cx="128016" cy="539496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46" name="Text 44"/>
          <p:cNvSpPr/>
          <p:nvPr/>
        </p:nvSpPr>
        <p:spPr>
          <a:xfrm>
            <a:off x="1188720" y="8613648"/>
            <a:ext cx="1591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행안부는 이제 시설이 아니라 사람으로 평가합니다. 축제는 가장 빠른 </a:t>
            </a:r>
            <a:pPr algn="ctr" indent="0" marL="0">
              <a:buNone/>
            </a:pPr>
            <a:r>
              <a:rPr lang="en-US" sz="2200" b="1" dirty="0">
                <a:solidFill>
                  <a:srgbClr val="EC7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사업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40080" y="9619488"/>
            <a:ext cx="1700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· 행정안전부 지방소멸대응기금 투자계획 평가 개편(2025.12)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35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82880"/>
          </a:xfrm>
          <a:prstGeom prst="rect">
            <a:avLst/>
          </a:prstGeom>
          <a:solidFill>
            <a:srgbClr val="8CC63F"/>
          </a:solidFill>
          <a:ln/>
        </p:spPr>
      </p:sp>
      <p:pic>
        <p:nvPicPr>
          <p:cNvPr id="3" name="Image 0" descr="/tmp/claude-0/-home-user-indo3247/e59b7615-fcbe-5298-a4bc-d30ac0cef441/scratchpad/work/v5g/images/closing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0" y="2011680"/>
            <a:ext cx="512064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081760" y="6035040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2A4326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solidFill>
            <a:srgbClr val="8CC63F"/>
          </a:solidFill>
          <a:ln/>
        </p:spPr>
      </p:sp>
      <p:sp>
        <p:nvSpPr>
          <p:cNvPr id="6" name="Text 3"/>
          <p:cNvSpPr/>
          <p:nvPr/>
        </p:nvSpPr>
        <p:spPr>
          <a:xfrm>
            <a:off x="1417320" y="22219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spc="400" kern="0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닭 하면 부안,</a:t>
            </a:r>
            <a:endParaRPr lang="en-US" sz="56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 하면 닭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5440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2,000년 전 이 땅에서 닭은 나라의 이름이었습니다.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세계는 그 닭을 K-Chicken이라 부릅니다.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4EF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이름의 출발점을 부안에 세우고자 합니다.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690372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4A6B4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068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747064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2028년도 기금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투자계획 반영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690372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4A6B40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7068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전북특별자치도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0" y="747064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차원 예산 매칭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K-치킨벨트 등재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06640" y="690372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4A6B4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7068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파트너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80960" y="747064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참프레 시설 연계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참여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86868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8CC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 10월, 부안에서 대한민국의 닭이 다시 새벽을 알립니다.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0080" y="9281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9DB9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부안군 · 전북특별자치도  |  2026. 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부안 닭축제 종합제안서</dc:title>
  <dc:subject>PptxGenJS Presentation</dc:subject>
  <dc:creator>부안군 · 전북특별자치도</dc:creator>
  <cp:lastModifiedBy>부안군 · 전북특별자치도</cp:lastModifiedBy>
  <cp:revision>1</cp:revision>
  <dcterms:created xsi:type="dcterms:W3CDTF">2026-07-26T09:52:28Z</dcterms:created>
  <dcterms:modified xsi:type="dcterms:W3CDTF">2026-07-26T09:52:28Z</dcterms:modified>
</cp:coreProperties>
</file>